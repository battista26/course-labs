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Lst>
  <p:sldSz cy="5143500" cx="9144000"/>
  <p:notesSz cx="6858000" cy="9144000"/>
  <p:embeddedFontLst>
    <p:embeddedFont>
      <p:font typeface="Roboto"/>
      <p:regular r:id="rId100"/>
      <p:bold r:id="rId101"/>
      <p:italic r:id="rId102"/>
      <p:boldItalic r:id="rId103"/>
    </p:embeddedFont>
    <p:embeddedFont>
      <p:font typeface="Gill Sans"/>
      <p:regular r:id="rId104"/>
      <p:bold r:id="rId10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A36748-AFAB-4286-B8D2-6B0E28DC9EB8}">
  <a:tblStyle styleId="{EFA36748-AFAB-4286-B8D2-6B0E28DC9EB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5" Type="http://schemas.openxmlformats.org/officeDocument/2006/relationships/font" Target="fonts/GillSans-bold.fntdata"/><Relationship Id="rId104" Type="http://schemas.openxmlformats.org/officeDocument/2006/relationships/font" Target="fonts/GillSans-regular.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Roboto-boldItalic.fntdata"/><Relationship Id="rId102" Type="http://schemas.openxmlformats.org/officeDocument/2006/relationships/font" Target="fonts/Roboto-italic.fntdata"/><Relationship Id="rId101" Type="http://schemas.openxmlformats.org/officeDocument/2006/relationships/font" Target="fonts/Roboto-bold.fntdata"/><Relationship Id="rId100" Type="http://schemas.openxmlformats.org/officeDocument/2006/relationships/font" Target="fonts/Roboto-regular.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196cd483c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196cd483c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196cd483c7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196cd483c7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196cd483c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196cd483c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132873fd6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132873fd6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132873fd62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132873fd62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132873fd62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132873fd62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132873fd62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132873fd62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132873fd62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132873fd62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132873fd62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132873fd62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132873fd62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132873fd62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196cd483c7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196cd483c7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196cd483c7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196cd483c7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196cd483c7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196cd483c7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7dfeeb72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7dfeeb72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7dfeeb726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7dfeeb726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7dfeeb7261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7dfeeb7261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7dfeeb7261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7dfeeb7261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7dfeeb7261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7dfeeb7261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1b68272729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1b68272729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1b68272729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1b68272729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1b68272729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1b68272729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1b68272729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1b68272729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1d625aecf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1d625aecf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7dfeeb7261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7dfeeb7261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7dfeeb7261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7dfeeb7261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169f08abfc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169f08abfc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169f08abfc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169f08abfc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169f08abfc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169f08abfc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7dfeeb7261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7dfeeb7261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bdf9ff40c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bdf9ff40c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169f08abfc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169f08abfc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169f08abfc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169f08abfc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169f08abfc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169f08abfc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169f08abfc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169f08abfc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169f08abfc_1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169f08abfc_1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169f08abfc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169f08abfc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169f08abfc_1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169f08abfc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169f08abfc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169f08abfc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169f08abfc_1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169f08abfc_1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7dfeeb7261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7dfeeb7261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7dfeeb7261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7dfeeb7261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169f08abfc_1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169f08abfc_1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6acd539138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6acd539138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6acd539138_0_39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b="0" i="0" lang="en" sz="1200" u="none" cap="none" strike="noStrike">
                <a:solidFill>
                  <a:srgbClr val="000000"/>
                </a:solidFill>
                <a:latin typeface="Times New Roman"/>
                <a:ea typeface="Times New Roman"/>
                <a:cs typeface="Times New Roman"/>
                <a:sym typeface="Times New Roman"/>
              </a:rPr>
              <a:t>figures are taken from docs.oracle.com </a:t>
            </a:r>
            <a:endParaRPr/>
          </a:p>
        </p:txBody>
      </p:sp>
      <p:sp>
        <p:nvSpPr>
          <p:cNvPr id="417" name="Google Shape;417;g26acd539138_0_3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18" name="Google Shape;418;g26acd539138_0_396:notes"/>
          <p:cNvSpPr/>
          <p:nvPr>
            <p:ph idx="2" type="sldImg"/>
          </p:nvPr>
        </p:nvSpPr>
        <p:spPr>
          <a:xfrm>
            <a:off x="381000" y="693738"/>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19" name="Google Shape;419;g26acd539138_0_396:notes"/>
          <p:cNvSpPr txBox="1"/>
          <p:nvPr/>
        </p:nvSpPr>
        <p:spPr>
          <a:xfrm>
            <a:off x="686360" y="4342535"/>
            <a:ext cx="5486700" cy="4114500"/>
          </a:xfrm>
          <a:prstGeom prst="rect">
            <a:avLst/>
          </a:prstGeom>
          <a:noFill/>
          <a:ln>
            <a:noFill/>
          </a:ln>
        </p:spPr>
        <p:txBody>
          <a:bodyPr anchorCtr="0" anchor="ctr" bIns="41025" lIns="82050" spcFirstLastPara="1" rIns="82050" wrap="square" tIns="410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g26acd539138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6acd539138_0_4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428" name="Google Shape;428;g26acd539138_0_406:notes"/>
          <p:cNvSpPr txBox="1"/>
          <p:nvPr/>
        </p:nvSpPr>
        <p:spPr>
          <a:xfrm>
            <a:off x="1" y="8686512"/>
            <a:ext cx="2973900" cy="4545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en" sz="1300">
                <a:solidFill>
                  <a:srgbClr val="000000"/>
                </a:solidFill>
                <a:latin typeface="Times New Roman"/>
                <a:ea typeface="Times New Roman"/>
                <a:cs typeface="Times New Roman"/>
                <a:sym typeface="Times New Roman"/>
              </a:rPr>
              <a:t>figures are taken from docs.oracle.com </a:t>
            </a:r>
            <a:endParaRPr/>
          </a:p>
        </p:txBody>
      </p:sp>
      <p:sp>
        <p:nvSpPr>
          <p:cNvPr id="429" name="Google Shape;429;g26acd539138_0_406:notes"/>
          <p:cNvSpPr txBox="1"/>
          <p:nvPr/>
        </p:nvSpPr>
        <p:spPr>
          <a:xfrm>
            <a:off x="3881438" y="8686512"/>
            <a:ext cx="2973900" cy="4545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lang="en" sz="1300">
                <a:solidFill>
                  <a:srgbClr val="000000"/>
                </a:solidFill>
                <a:latin typeface="Times New Roman"/>
                <a:ea typeface="Times New Roman"/>
                <a:cs typeface="Times New Roman"/>
                <a:sym typeface="Times New Roman"/>
              </a:rPr>
              <a:t>‹#›</a:t>
            </a:fld>
            <a:endParaRPr sz="1300">
              <a:solidFill>
                <a:srgbClr val="000000"/>
              </a:solidFill>
              <a:latin typeface="Times New Roman"/>
              <a:ea typeface="Times New Roman"/>
              <a:cs typeface="Times New Roman"/>
              <a:sym typeface="Times New Roman"/>
            </a:endParaRPr>
          </a:p>
        </p:txBody>
      </p:sp>
      <p:sp>
        <p:nvSpPr>
          <p:cNvPr id="430" name="Google Shape;430;g26acd539138_0_406:notes"/>
          <p:cNvSpPr/>
          <p:nvPr>
            <p:ph idx="2" type="sldImg"/>
          </p:nvPr>
        </p:nvSpPr>
        <p:spPr>
          <a:xfrm>
            <a:off x="381000" y="693738"/>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31" name="Google Shape;431;g26acd539138_0_406:notes"/>
          <p:cNvSpPr/>
          <p:nvPr/>
        </p:nvSpPr>
        <p:spPr>
          <a:xfrm>
            <a:off x="686360" y="4342535"/>
            <a:ext cx="5486700" cy="4114500"/>
          </a:xfrm>
          <a:prstGeom prst="rect">
            <a:avLst/>
          </a:prstGeom>
          <a:noFill/>
          <a:ln>
            <a:noFill/>
          </a:ln>
        </p:spPr>
        <p:txBody>
          <a:bodyPr anchorCtr="0" anchor="ctr" bIns="41025" lIns="82050" spcFirstLastPara="1" rIns="82050" wrap="square" tIns="410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g26acd539138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26acd539138_0_4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437" name="Google Shape;437;g26acd539138_0_414:notes"/>
          <p:cNvSpPr/>
          <p:nvPr>
            <p:ph idx="2" type="sldImg"/>
          </p:nvPr>
        </p:nvSpPr>
        <p:spPr>
          <a:xfrm>
            <a:off x="381000" y="693738"/>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38" name="Google Shape;438;g26acd539138_0_414:notes"/>
          <p:cNvSpPr txBox="1"/>
          <p:nvPr>
            <p:ph idx="1" type="body"/>
          </p:nvPr>
        </p:nvSpPr>
        <p:spPr>
          <a:xfrm>
            <a:off x="686360" y="4342535"/>
            <a:ext cx="5486700" cy="4114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6acd539138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g26acd539138_0_4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6acd539138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g26acd539138_0_4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6acd539138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g26acd539138_0_4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6acd539138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g26acd539138_0_4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6acd539138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g26acd539138_0_4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6acd539138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g26acd539138_0_4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6acd539138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g26acd539138_0_4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26acd539138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g26acd539138_0_4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6acd539138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26acd539138_0_4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6acd539138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g26acd539138_0_4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26acd539138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g26acd539138_0_4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6acd539138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g26acd539138_0_4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6acd539138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g26acd539138_0_5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26acd539138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g26acd539138_0_4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26acd539138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26acd539138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c07a7ce06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2c07a7ce06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c07a7ce06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2c07a7ce06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21b68272729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21b68272729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7dfeeb726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7dfeeb726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1196cd483c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1196cd483c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21278f1efe6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21278f1efe6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21b6827272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21b6827272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21b68272729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21b68272729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1b68272729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21b68272729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21b68272729_0_33:notes"/>
          <p:cNvSpPr txBox="1"/>
          <p:nvPr/>
        </p:nvSpPr>
        <p:spPr>
          <a:xfrm>
            <a:off x="3887110" y="8688158"/>
            <a:ext cx="2970600" cy="455700"/>
          </a:xfrm>
          <a:prstGeom prst="rect">
            <a:avLst/>
          </a:prstGeom>
          <a:noFill/>
          <a:ln>
            <a:noFill/>
          </a:ln>
        </p:spPr>
        <p:txBody>
          <a:bodyPr anchorCtr="0" anchor="b" bIns="45725" lIns="91775" spcFirstLastPara="1" rIns="91775" wrap="square" tIns="45725">
            <a:noAutofit/>
          </a:bodyPr>
          <a:lstStyle/>
          <a:p>
            <a:pPr indent="0" lvl="0" marL="0" marR="0" rtl="0" algn="r">
              <a:lnSpc>
                <a:spcPct val="100000"/>
              </a:lnSpc>
              <a:spcBef>
                <a:spcPts val="0"/>
              </a:spcBef>
              <a:spcAft>
                <a:spcPts val="0"/>
              </a:spcAft>
              <a:buNone/>
            </a:pPr>
            <a:fld id="{00000000-1234-1234-1234-123412341234}" type="slidenum">
              <a:rPr b="0" lang="en" sz="1200" strike="noStrike">
                <a:solidFill>
                  <a:srgbClr val="000000"/>
                </a:solidFill>
                <a:latin typeface="Times New Roman"/>
                <a:ea typeface="Times New Roman"/>
                <a:cs typeface="Times New Roman"/>
                <a:sym typeface="Times New Roman"/>
              </a:rPr>
              <a:t>‹#›</a:t>
            </a:fld>
            <a:endParaRPr b="0" sz="1200" strike="noStrike">
              <a:latin typeface="Times New Roman"/>
              <a:ea typeface="Times New Roman"/>
              <a:cs typeface="Times New Roman"/>
              <a:sym typeface="Times New Roman"/>
            </a:endParaRPr>
          </a:p>
        </p:txBody>
      </p:sp>
      <p:sp>
        <p:nvSpPr>
          <p:cNvPr id="613" name="Google Shape;613;g21b68272729_0_33:notes"/>
          <p:cNvSpPr/>
          <p:nvPr>
            <p:ph idx="2" type="sldImg"/>
          </p:nvPr>
        </p:nvSpPr>
        <p:spPr>
          <a:xfrm>
            <a:off x="341605" y="686951"/>
            <a:ext cx="61758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4" name="Google Shape;614;g21b68272729_0_33:notes"/>
          <p:cNvSpPr txBox="1"/>
          <p:nvPr>
            <p:ph idx="1" type="body"/>
          </p:nvPr>
        </p:nvSpPr>
        <p:spPr>
          <a:xfrm>
            <a:off x="914466" y="4344079"/>
            <a:ext cx="5029200" cy="4112700"/>
          </a:xfrm>
          <a:prstGeom prst="rect">
            <a:avLst/>
          </a:prstGeom>
          <a:noFill/>
          <a:ln>
            <a:noFill/>
          </a:ln>
        </p:spPr>
        <p:txBody>
          <a:bodyPr anchorCtr="0" anchor="ctr" bIns="45725" lIns="91775" spcFirstLastPara="1" rIns="91775" wrap="square" tIns="45725">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21b6827272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21b6827272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1196cd483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1196cd483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21a8ca5436b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21a8ca5436b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1a8ca5436b_4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21a8ca5436b_4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7dfeeb7261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7dfeeb726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7dfeeb726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7dfeeb726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7dfeeb7261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7dfeeb7261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7dfeeb7261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7dfeeb7261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7dfeeb7261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7dfeeb7261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7dfeeb7261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7dfeeb7261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7dfeeb7261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7dfeeb7261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28ee0c5bc5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28ee0c5bc5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28ee0c5bc5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28ee0c5bc5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7dfeeb7261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7dfeeb7261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21b68272729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21b68272729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7dfeeb7261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7dfeeb7261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6eeeb7b05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6eeeb7b05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7dfeeb7261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7dfeeb7261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6eeeb7b054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6eeeb7b05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6f1afaf5a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6f1afaf5a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6f1afaf5af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6f1afaf5af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21278f1efe6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21278f1efe6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code">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7"/>
          <p:cNvSpPr txBox="1"/>
          <p:nvPr>
            <p:ph idx="2" type="body"/>
          </p:nvPr>
        </p:nvSpPr>
        <p:spPr>
          <a:xfrm>
            <a:off x="372775" y="1208350"/>
            <a:ext cx="4222200" cy="3607500"/>
          </a:xfrm>
          <a:prstGeom prst="rect">
            <a:avLst/>
          </a:prstGeom>
          <a:effectLst>
            <a:outerShdw blurRad="57150" rotWithShape="0" algn="bl" dir="5400000" dist="19050">
              <a:srgbClr val="999999">
                <a:alpha val="50000"/>
              </a:srgbClr>
            </a:outerShdw>
          </a:effectLst>
        </p:spPr>
        <p:txBody>
          <a:bodyPr anchorCtr="0" anchor="t" bIns="91425" lIns="91425" spcFirstLastPara="1" rIns="91425" wrap="square" tIns="91425">
            <a:noAutofit/>
          </a:bodyPr>
          <a:lstStyle>
            <a:lvl1pPr indent="-304800" lvl="0" marL="4572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1pPr>
            <a:lvl2pPr indent="-304800" lvl="1" marL="9144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2pPr>
            <a:lvl3pPr indent="-304800" lvl="2" marL="1371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3pPr>
            <a:lvl4pPr indent="-304800" lvl="3" marL="18288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4pPr>
            <a:lvl5pPr indent="-304800" lvl="4" marL="22860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5pPr>
            <a:lvl6pPr indent="-304800" lvl="5" marL="27432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6pPr>
            <a:lvl7pPr indent="-304800" lvl="6" marL="32004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7pPr>
            <a:lvl8pPr indent="-304800" lvl="7" marL="3657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8pPr>
            <a:lvl9pPr indent="-304800" lvl="8" marL="4114800" rtl="0">
              <a:spcBef>
                <a:spcPts val="1600"/>
              </a:spcBef>
              <a:spcAft>
                <a:spcPts val="1600"/>
              </a:spcAft>
              <a:buClr>
                <a:srgbClr val="000000"/>
              </a:buClr>
              <a:buSzPts val="1200"/>
              <a:buFont typeface="Consolas"/>
              <a:buChar char="■"/>
              <a:defRPr sz="1200">
                <a:solidFill>
                  <a:srgbClr val="000000"/>
                </a:solidFill>
                <a:latin typeface="Consolas"/>
                <a:ea typeface="Consolas"/>
                <a:cs typeface="Consolas"/>
                <a:sym typeface="Consola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ble code">
  <p:cSld name="CUSTOM">
    <p:spTree>
      <p:nvGrpSpPr>
        <p:cNvPr id="33" name="Shape 33"/>
        <p:cNvGrpSpPr/>
        <p:nvPr/>
      </p:nvGrpSpPr>
      <p:grpSpPr>
        <a:xfrm>
          <a:off x="0" y="0"/>
          <a:ext cx="0" cy="0"/>
          <a:chOff x="0" y="0"/>
          <a:chExt cx="0" cy="0"/>
        </a:xfrm>
      </p:grpSpPr>
      <p:sp>
        <p:nvSpPr>
          <p:cNvPr id="34" name="Google Shape;34;p8"/>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5" name="Google Shape;35;p8"/>
          <p:cNvSpPr txBox="1"/>
          <p:nvPr>
            <p:ph idx="1" type="body"/>
          </p:nvPr>
        </p:nvSpPr>
        <p:spPr>
          <a:xfrm>
            <a:off x="372775" y="1208350"/>
            <a:ext cx="4222200" cy="3607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1pPr>
            <a:lvl2pPr indent="-304800" lvl="1" marL="9144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2pPr>
            <a:lvl3pPr indent="-304800" lvl="2" marL="1371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3pPr>
            <a:lvl4pPr indent="-304800" lvl="3" marL="18288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4pPr>
            <a:lvl5pPr indent="-304800" lvl="4" marL="22860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5pPr>
            <a:lvl6pPr indent="-304800" lvl="5" marL="27432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6pPr>
            <a:lvl7pPr indent="-304800" lvl="6" marL="32004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7pPr>
            <a:lvl8pPr indent="-304800" lvl="7" marL="3657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8pPr>
            <a:lvl9pPr indent="-304800" lvl="8" marL="4114800" rtl="0">
              <a:spcBef>
                <a:spcPts val="1600"/>
              </a:spcBef>
              <a:spcAft>
                <a:spcPts val="1600"/>
              </a:spcAft>
              <a:buClr>
                <a:srgbClr val="000000"/>
              </a:buClr>
              <a:buSzPts val="1200"/>
              <a:buFont typeface="Consolas"/>
              <a:buChar char="■"/>
              <a:defRPr sz="1200">
                <a:solidFill>
                  <a:srgbClr val="000000"/>
                </a:solidFill>
                <a:latin typeface="Consolas"/>
                <a:ea typeface="Consolas"/>
                <a:cs typeface="Consolas"/>
                <a:sym typeface="Consolas"/>
              </a:defRPr>
            </a:lvl9pPr>
          </a:lstStyle>
          <a:p/>
        </p:txBody>
      </p:sp>
      <p:sp>
        <p:nvSpPr>
          <p:cNvPr id="36" name="Google Shape;36;p8"/>
          <p:cNvSpPr txBox="1"/>
          <p:nvPr>
            <p:ph idx="2" type="body"/>
          </p:nvPr>
        </p:nvSpPr>
        <p:spPr>
          <a:xfrm>
            <a:off x="4868575" y="1208350"/>
            <a:ext cx="4222200" cy="3607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1pPr>
            <a:lvl2pPr indent="-304800" lvl="1" marL="9144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2pPr>
            <a:lvl3pPr indent="-304800" lvl="2" marL="1371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3pPr>
            <a:lvl4pPr indent="-304800" lvl="3" marL="18288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4pPr>
            <a:lvl5pPr indent="-304800" lvl="4" marL="22860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5pPr>
            <a:lvl6pPr indent="-304800" lvl="5" marL="27432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6pPr>
            <a:lvl7pPr indent="-304800" lvl="6" marL="32004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7pPr>
            <a:lvl8pPr indent="-304800" lvl="7" marL="3657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8pPr>
            <a:lvl9pPr indent="-304800" lvl="8" marL="4114800" rtl="0">
              <a:spcBef>
                <a:spcPts val="1600"/>
              </a:spcBef>
              <a:spcAft>
                <a:spcPts val="1600"/>
              </a:spcAft>
              <a:buClr>
                <a:srgbClr val="000000"/>
              </a:buClr>
              <a:buSzPts val="1200"/>
              <a:buFont typeface="Consolas"/>
              <a:buChar char="■"/>
              <a:defRPr sz="1200">
                <a:solidFill>
                  <a:srgbClr val="000000"/>
                </a:solidFill>
                <a:latin typeface="Consolas"/>
                <a:ea typeface="Consolas"/>
                <a:cs typeface="Consolas"/>
                <a:sym typeface="Consola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1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1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code 1">
  <p:cSld name="ONE_COLUMN_TEXT_2">
    <p:spTree>
      <p:nvGrpSpPr>
        <p:cNvPr id="55" name="Shape 55"/>
        <p:cNvGrpSpPr/>
        <p:nvPr/>
      </p:nvGrpSpPr>
      <p:grpSpPr>
        <a:xfrm>
          <a:off x="0" y="0"/>
          <a:ext cx="0" cy="0"/>
          <a:chOff x="0" y="0"/>
          <a:chExt cx="0" cy="0"/>
        </a:xfrm>
      </p:grpSpPr>
      <p:sp>
        <p:nvSpPr>
          <p:cNvPr id="56" name="Google Shape;56;p1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7" name="Google Shape;57;p14"/>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58" name="Google Shape;58;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txBox="1"/>
          <p:nvPr>
            <p:ph idx="2" type="body"/>
          </p:nvPr>
        </p:nvSpPr>
        <p:spPr>
          <a:xfrm>
            <a:off x="488125" y="1496425"/>
            <a:ext cx="3720600" cy="3166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1pPr>
            <a:lvl2pPr indent="-304800" lvl="1" marL="9144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2pPr>
            <a:lvl3pPr indent="-304800" lvl="2" marL="1371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3pPr>
            <a:lvl4pPr indent="-304800" lvl="3" marL="18288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4pPr>
            <a:lvl5pPr indent="-304800" lvl="4" marL="22860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5pPr>
            <a:lvl6pPr indent="-304800" lvl="5" marL="27432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6pPr>
            <a:lvl7pPr indent="-304800" lvl="6" marL="32004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7pPr>
            <a:lvl8pPr indent="-304800" lvl="7" marL="3657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8pPr>
            <a:lvl9pPr indent="-304800" lvl="8" marL="4114800" rtl="0">
              <a:spcBef>
                <a:spcPts val="1600"/>
              </a:spcBef>
              <a:spcAft>
                <a:spcPts val="1600"/>
              </a:spcAft>
              <a:buClr>
                <a:srgbClr val="000000"/>
              </a:buClr>
              <a:buSzPts val="1200"/>
              <a:buFont typeface="Consolas"/>
              <a:buChar char="■"/>
              <a:defRPr sz="1200">
                <a:solidFill>
                  <a:srgbClr val="000000"/>
                </a:solidFill>
                <a:latin typeface="Consolas"/>
                <a:ea typeface="Consolas"/>
                <a:cs typeface="Consolas"/>
                <a:sym typeface="Consola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code 2">
  <p:cSld name="ONE_COLUMN_TEXT_1">
    <p:spTree>
      <p:nvGrpSpPr>
        <p:cNvPr id="60" name="Shape 60"/>
        <p:cNvGrpSpPr/>
        <p:nvPr/>
      </p:nvGrpSpPr>
      <p:grpSpPr>
        <a:xfrm>
          <a:off x="0" y="0"/>
          <a:ext cx="0" cy="0"/>
          <a:chOff x="0" y="0"/>
          <a:chExt cx="0" cy="0"/>
        </a:xfrm>
      </p:grpSpPr>
      <p:sp>
        <p:nvSpPr>
          <p:cNvPr id="61" name="Google Shape;61;p1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2" name="Google Shape;62;p15"/>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3" name="Google Shape;63;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15"/>
          <p:cNvSpPr txBox="1"/>
          <p:nvPr>
            <p:ph idx="2" type="body"/>
          </p:nvPr>
        </p:nvSpPr>
        <p:spPr>
          <a:xfrm>
            <a:off x="488125" y="1496425"/>
            <a:ext cx="3720600" cy="3166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1pPr>
            <a:lvl2pPr indent="-304800" lvl="1" marL="9144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2pPr>
            <a:lvl3pPr indent="-304800" lvl="2" marL="1371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3pPr>
            <a:lvl4pPr indent="-304800" lvl="3" marL="18288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4pPr>
            <a:lvl5pPr indent="-304800" lvl="4" marL="22860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5pPr>
            <a:lvl6pPr indent="-304800" lvl="5" marL="27432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6pPr>
            <a:lvl7pPr indent="-304800" lvl="6" marL="32004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7pPr>
            <a:lvl8pPr indent="-304800" lvl="7" marL="3657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8pPr>
            <a:lvl9pPr indent="-304800" lvl="8" marL="4114800" rtl="0">
              <a:spcBef>
                <a:spcPts val="1600"/>
              </a:spcBef>
              <a:spcAft>
                <a:spcPts val="1600"/>
              </a:spcAft>
              <a:buClr>
                <a:srgbClr val="000000"/>
              </a:buClr>
              <a:buSzPts val="1200"/>
              <a:buFont typeface="Consolas"/>
              <a:buChar char="■"/>
              <a:defRPr sz="1200">
                <a:solidFill>
                  <a:srgbClr val="000000"/>
                </a:solidFill>
                <a:latin typeface="Consolas"/>
                <a:ea typeface="Consolas"/>
                <a:cs typeface="Consolas"/>
                <a:sym typeface="Consola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5" name="Shape 65"/>
        <p:cNvGrpSpPr/>
        <p:nvPr/>
      </p:nvGrpSpPr>
      <p:grpSpPr>
        <a:xfrm>
          <a:off x="0" y="0"/>
          <a:ext cx="0" cy="0"/>
          <a:chOff x="0" y="0"/>
          <a:chExt cx="0" cy="0"/>
        </a:xfrm>
      </p:grpSpPr>
      <p:sp>
        <p:nvSpPr>
          <p:cNvPr id="66" name="Google Shape;66;p16"/>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Clr>
                <a:schemeClr val="dk2"/>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6"/>
          <p:cNvSpPr txBox="1"/>
          <p:nvPr>
            <p:ph idx="10" type="dt"/>
          </p:nvPr>
        </p:nvSpPr>
        <p:spPr>
          <a:xfrm>
            <a:off x="6400800" y="4767263"/>
            <a:ext cx="2289000" cy="274200"/>
          </a:xfrm>
          <a:prstGeom prst="rect">
            <a:avLst/>
          </a:prstGeom>
          <a:noFill/>
          <a:ln>
            <a:noFill/>
          </a:ln>
        </p:spPr>
        <p:txBody>
          <a:bodyPr anchorCtr="0" anchor="t"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8" name="Google Shape;68;p16"/>
          <p:cNvSpPr txBox="1"/>
          <p:nvPr>
            <p:ph idx="11" type="ftr"/>
          </p:nvPr>
        </p:nvSpPr>
        <p:spPr>
          <a:xfrm>
            <a:off x="2898648" y="4767263"/>
            <a:ext cx="3505200" cy="274200"/>
          </a:xfrm>
          <a:prstGeom prst="rect">
            <a:avLst/>
          </a:prstGeom>
          <a:noFill/>
          <a:ln>
            <a:noFill/>
          </a:ln>
        </p:spPr>
        <p:txBody>
          <a:bodyPr anchorCtr="0" anchor="t"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9" name="Google Shape;69;p16"/>
          <p:cNvSpPr txBox="1"/>
          <p:nvPr>
            <p:ph idx="12" type="sldNum"/>
          </p:nvPr>
        </p:nvSpPr>
        <p:spPr>
          <a:xfrm>
            <a:off x="612648" y="4767263"/>
            <a:ext cx="1981200" cy="274200"/>
          </a:xfrm>
          <a:prstGeom prst="rect">
            <a:avLst/>
          </a:prstGeom>
          <a:noFill/>
          <a:ln>
            <a:noFill/>
          </a:ln>
        </p:spPr>
        <p:txBody>
          <a:bodyPr anchorCtr="0" anchor="t" bIns="45700" lIns="91425" spcFirstLastPara="1" rIns="91425" wrap="square" tIns="45700">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70" name="Google Shape;70;p16"/>
          <p:cNvSpPr txBox="1"/>
          <p:nvPr>
            <p:ph idx="1" type="body"/>
          </p:nvPr>
        </p:nvSpPr>
        <p:spPr>
          <a:xfrm>
            <a:off x="76200" y="571500"/>
            <a:ext cx="8915400" cy="4229100"/>
          </a:xfrm>
          <a:prstGeom prst="rect">
            <a:avLst/>
          </a:prstGeom>
          <a:noFill/>
          <a:ln>
            <a:noFill/>
          </a:ln>
        </p:spPr>
        <p:txBody>
          <a:bodyPr anchorCtr="0" anchor="t" bIns="45700" lIns="91425" spcFirstLastPara="1" rIns="91425" wrap="square" tIns="45700">
            <a:noAutofit/>
          </a:bodyPr>
          <a:lstStyle>
            <a:lvl1pPr indent="-315468" lvl="0" marL="457200" rtl="0" algn="l">
              <a:spcBef>
                <a:spcPts val="600"/>
              </a:spcBef>
              <a:spcAft>
                <a:spcPts val="0"/>
              </a:spcAft>
              <a:buSzPts val="1368"/>
              <a:buChar char="●"/>
              <a:defRPr/>
            </a:lvl1pPr>
            <a:lvl2pPr indent="-315468" lvl="1" marL="914400" rtl="0" algn="l">
              <a:spcBef>
                <a:spcPts val="1600"/>
              </a:spcBef>
              <a:spcAft>
                <a:spcPts val="0"/>
              </a:spcAft>
              <a:buSzPts val="1368"/>
              <a:buChar char="○"/>
              <a:defRPr/>
            </a:lvl2pPr>
            <a:lvl3pPr indent="-315467" lvl="2" marL="1371600" rtl="0" algn="l">
              <a:spcBef>
                <a:spcPts val="1600"/>
              </a:spcBef>
              <a:spcAft>
                <a:spcPts val="0"/>
              </a:spcAft>
              <a:buSzPts val="1368"/>
              <a:buChar char="■"/>
              <a:defRPr/>
            </a:lvl3pPr>
            <a:lvl4pPr indent="-308610" lvl="3" marL="1828800" rtl="0" algn="l">
              <a:spcBef>
                <a:spcPts val="1600"/>
              </a:spcBef>
              <a:spcAft>
                <a:spcPts val="0"/>
              </a:spcAft>
              <a:buSzPts val="1260"/>
              <a:buChar char="●"/>
              <a:defRPr/>
            </a:lvl4pPr>
            <a:lvl5pPr indent="-308610" lvl="4" marL="2286000" rtl="0" algn="l">
              <a:spcBef>
                <a:spcPts val="1600"/>
              </a:spcBef>
              <a:spcAft>
                <a:spcPts val="0"/>
              </a:spcAft>
              <a:buSzPts val="1260"/>
              <a:buChar char="○"/>
              <a:defRPr/>
            </a:lvl5pPr>
            <a:lvl6pPr indent="-314325" lvl="5" marL="2743200" rtl="0" algn="l">
              <a:spcBef>
                <a:spcPts val="1600"/>
              </a:spcBef>
              <a:spcAft>
                <a:spcPts val="0"/>
              </a:spcAft>
              <a:buSzPts val="1350"/>
              <a:buChar char="■"/>
              <a:defRPr/>
            </a:lvl6pPr>
            <a:lvl7pPr indent="-314325" lvl="6" marL="3200400" rtl="0" algn="l">
              <a:spcBef>
                <a:spcPts val="1600"/>
              </a:spcBef>
              <a:spcAft>
                <a:spcPts val="0"/>
              </a:spcAft>
              <a:buSzPts val="1350"/>
              <a:buChar char="●"/>
              <a:defRPr/>
            </a:lvl7pPr>
            <a:lvl8pPr indent="-314325" lvl="7" marL="3657600" rtl="0" algn="l">
              <a:spcBef>
                <a:spcPts val="1600"/>
              </a:spcBef>
              <a:spcAft>
                <a:spcPts val="0"/>
              </a:spcAft>
              <a:buSzPts val="1350"/>
              <a:buChar char="○"/>
              <a:defRPr/>
            </a:lvl8pPr>
            <a:lvl9pPr indent="-314325" lvl="8" marL="4114800" rtl="0" algn="l">
              <a:spcBef>
                <a:spcPts val="1600"/>
              </a:spcBef>
              <a:spcAft>
                <a:spcPts val="1600"/>
              </a:spcAft>
              <a:buSzPts val="135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17"/>
          <p:cNvSpPr txBox="1"/>
          <p:nvPr>
            <p:ph type="title"/>
          </p:nvPr>
        </p:nvSpPr>
        <p:spPr>
          <a:xfrm>
            <a:off x="457200" y="171450"/>
            <a:ext cx="8229600" cy="6858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Clr>
                <a:schemeClr val="dk2"/>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 name="Google Shape;73;p17"/>
          <p:cNvSpPr txBox="1"/>
          <p:nvPr>
            <p:ph idx="10" type="dt"/>
          </p:nvPr>
        </p:nvSpPr>
        <p:spPr>
          <a:xfrm>
            <a:off x="6400800" y="4767263"/>
            <a:ext cx="2289000" cy="274200"/>
          </a:xfrm>
          <a:prstGeom prst="rect">
            <a:avLst/>
          </a:prstGeom>
          <a:noFill/>
          <a:ln>
            <a:noFill/>
          </a:ln>
        </p:spPr>
        <p:txBody>
          <a:bodyPr anchorCtr="0" anchor="t"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4" name="Google Shape;74;p17"/>
          <p:cNvSpPr txBox="1"/>
          <p:nvPr>
            <p:ph idx="11" type="ftr"/>
          </p:nvPr>
        </p:nvSpPr>
        <p:spPr>
          <a:xfrm>
            <a:off x="2898648" y="4767263"/>
            <a:ext cx="3505200" cy="274200"/>
          </a:xfrm>
          <a:prstGeom prst="rect">
            <a:avLst/>
          </a:prstGeom>
          <a:noFill/>
          <a:ln>
            <a:noFill/>
          </a:ln>
        </p:spPr>
        <p:txBody>
          <a:bodyPr anchorCtr="0" anchor="t"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5" name="Google Shape;75;p17"/>
          <p:cNvSpPr txBox="1"/>
          <p:nvPr>
            <p:ph idx="12" type="sldNum"/>
          </p:nvPr>
        </p:nvSpPr>
        <p:spPr>
          <a:xfrm>
            <a:off x="612648" y="4767263"/>
            <a:ext cx="1981200" cy="274200"/>
          </a:xfrm>
          <a:prstGeom prst="rect">
            <a:avLst/>
          </a:prstGeom>
          <a:noFill/>
          <a:ln>
            <a:noFill/>
          </a:ln>
        </p:spPr>
        <p:txBody>
          <a:bodyPr anchorCtr="0" anchor="t" bIns="45700" lIns="91425" spcFirstLastPara="1" rIns="91425" wrap="square" tIns="45700">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76" name="Google Shape;76;p17"/>
          <p:cNvSpPr txBox="1"/>
          <p:nvPr>
            <p:ph idx="1" type="body"/>
          </p:nvPr>
        </p:nvSpPr>
        <p:spPr>
          <a:xfrm>
            <a:off x="457200" y="914400"/>
            <a:ext cx="4041600" cy="3703200"/>
          </a:xfrm>
          <a:prstGeom prst="rect">
            <a:avLst/>
          </a:prstGeom>
          <a:noFill/>
          <a:ln>
            <a:noFill/>
          </a:ln>
        </p:spPr>
        <p:txBody>
          <a:bodyPr anchorCtr="0" anchor="t" bIns="45700" lIns="91425" spcFirstLastPara="1" rIns="91425" wrap="square" tIns="45700">
            <a:noAutofit/>
          </a:bodyPr>
          <a:lstStyle>
            <a:lvl1pPr indent="-315468" lvl="0" marL="457200" rtl="0" algn="l">
              <a:spcBef>
                <a:spcPts val="600"/>
              </a:spcBef>
              <a:spcAft>
                <a:spcPts val="0"/>
              </a:spcAft>
              <a:buSzPts val="1368"/>
              <a:buChar char="●"/>
              <a:defRPr/>
            </a:lvl1pPr>
            <a:lvl2pPr indent="-315468" lvl="1" marL="914400" rtl="0" algn="l">
              <a:spcBef>
                <a:spcPts val="1600"/>
              </a:spcBef>
              <a:spcAft>
                <a:spcPts val="0"/>
              </a:spcAft>
              <a:buSzPts val="1368"/>
              <a:buChar char="○"/>
              <a:defRPr/>
            </a:lvl2pPr>
            <a:lvl3pPr indent="-315467" lvl="2" marL="1371600" rtl="0" algn="l">
              <a:spcBef>
                <a:spcPts val="1600"/>
              </a:spcBef>
              <a:spcAft>
                <a:spcPts val="0"/>
              </a:spcAft>
              <a:buSzPts val="1368"/>
              <a:buChar char="■"/>
              <a:defRPr/>
            </a:lvl3pPr>
            <a:lvl4pPr indent="-308610" lvl="3" marL="1828800" rtl="0" algn="l">
              <a:spcBef>
                <a:spcPts val="1600"/>
              </a:spcBef>
              <a:spcAft>
                <a:spcPts val="0"/>
              </a:spcAft>
              <a:buSzPts val="1260"/>
              <a:buChar char="●"/>
              <a:defRPr/>
            </a:lvl4pPr>
            <a:lvl5pPr indent="-308610" lvl="4" marL="2286000" rtl="0" algn="l">
              <a:spcBef>
                <a:spcPts val="1600"/>
              </a:spcBef>
              <a:spcAft>
                <a:spcPts val="0"/>
              </a:spcAft>
              <a:buSzPts val="1260"/>
              <a:buChar char="○"/>
              <a:defRPr/>
            </a:lvl5pPr>
            <a:lvl6pPr indent="-314325" lvl="5" marL="2743200" rtl="0" algn="l">
              <a:spcBef>
                <a:spcPts val="1600"/>
              </a:spcBef>
              <a:spcAft>
                <a:spcPts val="0"/>
              </a:spcAft>
              <a:buSzPts val="1350"/>
              <a:buChar char="■"/>
              <a:defRPr/>
            </a:lvl6pPr>
            <a:lvl7pPr indent="-314325" lvl="6" marL="3200400" rtl="0" algn="l">
              <a:spcBef>
                <a:spcPts val="1600"/>
              </a:spcBef>
              <a:spcAft>
                <a:spcPts val="0"/>
              </a:spcAft>
              <a:buSzPts val="1350"/>
              <a:buChar char="●"/>
              <a:defRPr/>
            </a:lvl7pPr>
            <a:lvl8pPr indent="-314325" lvl="7" marL="3657600" rtl="0" algn="l">
              <a:spcBef>
                <a:spcPts val="1600"/>
              </a:spcBef>
              <a:spcAft>
                <a:spcPts val="0"/>
              </a:spcAft>
              <a:buSzPts val="1350"/>
              <a:buChar char="○"/>
              <a:defRPr/>
            </a:lvl8pPr>
            <a:lvl9pPr indent="-314325" lvl="8" marL="4114800" rtl="0" algn="l">
              <a:spcBef>
                <a:spcPts val="1600"/>
              </a:spcBef>
              <a:spcAft>
                <a:spcPts val="1600"/>
              </a:spcAft>
              <a:buSzPts val="1350"/>
              <a:buChar char="■"/>
              <a:defRPr/>
            </a:lvl9pPr>
          </a:lstStyle>
          <a:p/>
        </p:txBody>
      </p:sp>
      <p:sp>
        <p:nvSpPr>
          <p:cNvPr id="77" name="Google Shape;77;p17"/>
          <p:cNvSpPr txBox="1"/>
          <p:nvPr>
            <p:ph idx="2" type="body"/>
          </p:nvPr>
        </p:nvSpPr>
        <p:spPr>
          <a:xfrm>
            <a:off x="4632198" y="912114"/>
            <a:ext cx="4041600" cy="3703200"/>
          </a:xfrm>
          <a:prstGeom prst="rect">
            <a:avLst/>
          </a:prstGeom>
          <a:noFill/>
          <a:ln>
            <a:noFill/>
          </a:ln>
        </p:spPr>
        <p:txBody>
          <a:bodyPr anchorCtr="0" anchor="t" bIns="45700" lIns="91425" spcFirstLastPara="1" rIns="91425" wrap="square" tIns="45700">
            <a:noAutofit/>
          </a:bodyPr>
          <a:lstStyle>
            <a:lvl1pPr indent="-315468" lvl="0" marL="457200" rtl="0" algn="l">
              <a:spcBef>
                <a:spcPts val="600"/>
              </a:spcBef>
              <a:spcAft>
                <a:spcPts val="0"/>
              </a:spcAft>
              <a:buSzPts val="1368"/>
              <a:buChar char="●"/>
              <a:defRPr/>
            </a:lvl1pPr>
            <a:lvl2pPr indent="-315468" lvl="1" marL="914400" rtl="0" algn="l">
              <a:spcBef>
                <a:spcPts val="1600"/>
              </a:spcBef>
              <a:spcAft>
                <a:spcPts val="0"/>
              </a:spcAft>
              <a:buSzPts val="1368"/>
              <a:buChar char="○"/>
              <a:defRPr/>
            </a:lvl2pPr>
            <a:lvl3pPr indent="-315467" lvl="2" marL="1371600" rtl="0" algn="l">
              <a:spcBef>
                <a:spcPts val="1600"/>
              </a:spcBef>
              <a:spcAft>
                <a:spcPts val="0"/>
              </a:spcAft>
              <a:buSzPts val="1368"/>
              <a:buChar char="■"/>
              <a:defRPr/>
            </a:lvl3pPr>
            <a:lvl4pPr indent="-308610" lvl="3" marL="1828800" rtl="0" algn="l">
              <a:spcBef>
                <a:spcPts val="1600"/>
              </a:spcBef>
              <a:spcAft>
                <a:spcPts val="0"/>
              </a:spcAft>
              <a:buSzPts val="1260"/>
              <a:buChar char="●"/>
              <a:defRPr/>
            </a:lvl4pPr>
            <a:lvl5pPr indent="-308610" lvl="4" marL="2286000" rtl="0" algn="l">
              <a:spcBef>
                <a:spcPts val="1600"/>
              </a:spcBef>
              <a:spcAft>
                <a:spcPts val="0"/>
              </a:spcAft>
              <a:buSzPts val="1260"/>
              <a:buChar char="○"/>
              <a:defRPr/>
            </a:lvl5pPr>
            <a:lvl6pPr indent="-314325" lvl="5" marL="2743200" rtl="0" algn="l">
              <a:spcBef>
                <a:spcPts val="1600"/>
              </a:spcBef>
              <a:spcAft>
                <a:spcPts val="0"/>
              </a:spcAft>
              <a:buSzPts val="1350"/>
              <a:buChar char="■"/>
              <a:defRPr/>
            </a:lvl6pPr>
            <a:lvl7pPr indent="-314325" lvl="6" marL="3200400" rtl="0" algn="l">
              <a:spcBef>
                <a:spcPts val="1600"/>
              </a:spcBef>
              <a:spcAft>
                <a:spcPts val="0"/>
              </a:spcAft>
              <a:buSzPts val="1350"/>
              <a:buChar char="●"/>
              <a:defRPr/>
            </a:lvl7pPr>
            <a:lvl8pPr indent="-314325" lvl="7" marL="3657600" rtl="0" algn="l">
              <a:spcBef>
                <a:spcPts val="1600"/>
              </a:spcBef>
              <a:spcAft>
                <a:spcPts val="0"/>
              </a:spcAft>
              <a:buSzPts val="1350"/>
              <a:buChar char="○"/>
              <a:defRPr/>
            </a:lvl8pPr>
            <a:lvl9pPr indent="-314325" lvl="8" marL="4114800" rtl="0" algn="l">
              <a:spcBef>
                <a:spcPts val="1600"/>
              </a:spcBef>
              <a:spcAft>
                <a:spcPts val="1600"/>
              </a:spcAft>
              <a:buSzPts val="135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hyperlink" Target="https://github.com/angrave/SystemProgramming/wiki" TargetMode="External"/><Relationship Id="rId4" Type="http://schemas.openxmlformats.org/officeDocument/2006/relationships/hyperlink" Target="https://gcc.gnu.org/onlinedocs/cpp/Index-of-Directives.html#Index-of-Directives" TargetMode="External"/><Relationship Id="rId5" Type="http://schemas.openxmlformats.org/officeDocument/2006/relationships/hyperlink" Target="http://www.catb.org/esr/structure-packing/" TargetMode="External"/><Relationship Id="rId6" Type="http://schemas.openxmlformats.org/officeDocument/2006/relationships/hyperlink" Target="https://darkdust.net/files/GDB%20Cheat%20Sheet.pdf" TargetMode="External"/><Relationship Id="rId7" Type="http://schemas.openxmlformats.org/officeDocument/2006/relationships/hyperlink" Target="https://ubuntu.com/tutorials/command-line-for-beginners#1-overview"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gcc.gnu.org/onlinedocs/cpp/Macros.html#Macro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hyperlink" Target="https://gcc.gnu.org/onlinedocs/cpp/Macros.html#Macro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hyperlink" Target="https://gcc.gnu.org/onlinedocs/cpp/Macros.html#Macro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hyperlink" Target="https://gcc.gnu.org/onlinedocs/cpp/Macros.html#Macro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hyperlink" Target="https://gcc.gnu.org/onlinedocs/cpp/Macros.html#Macro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hyperlink" Target="https://gcc.gnu.org/onlinedocs/cpp/Macros.html#Macro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hyperlink" Target="https://gcc.gnu.org/onlinedocs/cpp/Macros.html#Macro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hyperlink" Target="http://www.catb.org/esr/structure-packin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2.png"/><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 Id="rId3" Type="http://schemas.openxmlformats.org/officeDocument/2006/relationships/image" Target="../media/image1.png"/><Relationship Id="rId4"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image" Target="../media/image9.png"/><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 Id="rId3" Type="http://schemas.openxmlformats.org/officeDocument/2006/relationships/hyperlink" Target="https://en.wikipedia.org/wiki/DWORD" TargetMode="External"/><Relationship Id="rId4" Type="http://schemas.openxmlformats.org/officeDocument/2006/relationships/hyperlink" Target="https://en.wikipedia.org/wiki/BMP_file_format#cite_note-AlphaBitFields-5" TargetMode="External"/><Relationship Id="rId5" Type="http://schemas.openxmlformats.org/officeDocument/2006/relationships/hyperlink" Target="https://en.wikipedia.org/wiki/Color_depth"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 Id="rId3" Type="http://schemas.openxmlformats.org/officeDocument/2006/relationships/hyperlink" Target="https://en.wikipedia.org/wiki/File_format#Magic_number" TargetMode="External"/><Relationship Id="rId4" Type="http://schemas.openxmlformats.org/officeDocument/2006/relationships/hyperlink" Target="https://en.wikipedia.org/wiki/Hexadecimal"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 Id="rId3" Type="http://schemas.openxmlformats.org/officeDocument/2006/relationships/hyperlink" Target="https://en.wikipedia.org/wiki/BMP_file_format#cite_note-bmp-1"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 Id="rId3" Type="http://schemas.openxmlformats.org/officeDocument/2006/relationships/hyperlink" Target="https://en.wikipedia.org/wiki/BMP_file_format#Pixel_storage"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 Id="rId3" Type="http://schemas.openxmlformats.org/officeDocument/2006/relationships/hyperlink" Target="https://man7.org/linux/man-pages/man2/syscalls.2.html"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7.png"/><Relationship Id="rId4" Type="http://schemas.openxmlformats.org/officeDocument/2006/relationships/hyperlink" Target="https://www.guru99.com/system-call-operating-system.html#2"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hyperlink" Target="https://man7.org/linux/man-pages/man2/syscall.2.html"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hyperlink" Target="https://en.wikibooks.org/wiki/X86_Assembly/Interfacing_with_Linux"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hyperlink" Target="https://en.wikibooks.org/wiki/X86_Assembly/Interfacing_with_Linux"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 Id="rId3" Type="http://schemas.openxmlformats.org/officeDocument/2006/relationships/image" Target="../media/image3.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hyperlink" Target="https://linux-kernel-labs.github.io/refs/heads/master/lectures/syscalls.html" TargetMode="External"/><Relationship Id="rId4" Type="http://schemas.openxmlformats.org/officeDocument/2006/relationships/image" Target="../media/image10.png"/><Relationship Id="rId5" Type="http://schemas.openxmlformats.org/officeDocument/2006/relationships/image" Target="../media/image1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 Id="rId3" Type="http://schemas.openxmlformats.org/officeDocument/2006/relationships/hyperlink" Target="https://stackoverflow.com/questions/3149175/what-is-the-difference-between-trap-and-interrupt"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hyperlink" Target="https://valgrind.org/docs/manual/quick-start.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idx="1" type="subTitle"/>
          </p:nvPr>
        </p:nvSpPr>
        <p:spPr>
          <a:xfrm>
            <a:off x="178800" y="345450"/>
            <a:ext cx="4179900" cy="458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Content</a:t>
            </a:r>
            <a:endParaRPr b="1">
              <a:solidFill>
                <a:schemeClr val="dk1"/>
              </a:solidFill>
            </a:endParaRPr>
          </a:p>
          <a:p>
            <a:pPr indent="-361950" lvl="0" marL="457200" rtl="0" algn="l">
              <a:spcBef>
                <a:spcPts val="0"/>
              </a:spcBef>
              <a:spcAft>
                <a:spcPts val="0"/>
              </a:spcAft>
              <a:buClr>
                <a:schemeClr val="dk1"/>
              </a:buClr>
              <a:buSzPts val="2100"/>
              <a:buChar char="●"/>
            </a:pPr>
            <a:r>
              <a:rPr lang="en">
                <a:solidFill>
                  <a:schemeClr val="dk1"/>
                </a:solidFill>
              </a:rPr>
              <a:t>Review of C programming</a:t>
            </a:r>
            <a:endParaRPr>
              <a:solidFill>
                <a:schemeClr val="dk1"/>
              </a:solidFill>
            </a:endParaRPr>
          </a:p>
          <a:p>
            <a:pPr indent="-361950" lvl="1" marL="914400" rtl="0" algn="l">
              <a:spcBef>
                <a:spcPts val="0"/>
              </a:spcBef>
              <a:spcAft>
                <a:spcPts val="0"/>
              </a:spcAft>
              <a:buClr>
                <a:schemeClr val="dk1"/>
              </a:buClr>
              <a:buSzPts val="2100"/>
              <a:buChar char="○"/>
            </a:pPr>
            <a:r>
              <a:rPr lang="en">
                <a:solidFill>
                  <a:schemeClr val="dk1"/>
                </a:solidFill>
              </a:rPr>
              <a:t>Macros, </a:t>
            </a:r>
            <a:endParaRPr>
              <a:solidFill>
                <a:schemeClr val="dk1"/>
              </a:solidFill>
            </a:endParaRPr>
          </a:p>
          <a:p>
            <a:pPr indent="-361950" lvl="1" marL="914400" rtl="0" algn="l">
              <a:spcBef>
                <a:spcPts val="0"/>
              </a:spcBef>
              <a:spcAft>
                <a:spcPts val="0"/>
              </a:spcAft>
              <a:buClr>
                <a:schemeClr val="dk1"/>
              </a:buClr>
              <a:buSzPts val="2100"/>
              <a:buChar char="○"/>
            </a:pPr>
            <a:r>
              <a:rPr lang="en">
                <a:solidFill>
                  <a:schemeClr val="dk1"/>
                </a:solidFill>
              </a:rPr>
              <a:t>Pointers, function pointers </a:t>
            </a:r>
            <a:endParaRPr>
              <a:solidFill>
                <a:schemeClr val="dk1"/>
              </a:solidFill>
            </a:endParaRPr>
          </a:p>
          <a:p>
            <a:pPr indent="-361950" lvl="1" marL="914400" rtl="0" algn="l">
              <a:spcBef>
                <a:spcPts val="0"/>
              </a:spcBef>
              <a:spcAft>
                <a:spcPts val="0"/>
              </a:spcAft>
              <a:buClr>
                <a:schemeClr val="dk1"/>
              </a:buClr>
              <a:buSzPts val="2100"/>
              <a:buChar char="○"/>
            </a:pPr>
            <a:r>
              <a:rPr lang="en">
                <a:solidFill>
                  <a:schemeClr val="dk1"/>
                </a:solidFill>
              </a:rPr>
              <a:t>and some common bugs </a:t>
            </a:r>
            <a:endParaRPr>
              <a:solidFill>
                <a:schemeClr val="dk1"/>
              </a:solidFill>
            </a:endParaRPr>
          </a:p>
          <a:p>
            <a:pPr indent="-361950" lvl="0" marL="457200" rtl="0" algn="l">
              <a:spcBef>
                <a:spcPts val="0"/>
              </a:spcBef>
              <a:spcAft>
                <a:spcPts val="0"/>
              </a:spcAft>
              <a:buClr>
                <a:schemeClr val="dk1"/>
              </a:buClr>
              <a:buSzPts val="2100"/>
              <a:buChar char="●"/>
            </a:pPr>
            <a:r>
              <a:rPr lang="en">
                <a:solidFill>
                  <a:schemeClr val="dk1"/>
                </a:solidFill>
              </a:rPr>
              <a:t>C Memory Model</a:t>
            </a:r>
            <a:endParaRPr>
              <a:solidFill>
                <a:schemeClr val="dk1"/>
              </a:solidFill>
            </a:endParaRPr>
          </a:p>
          <a:p>
            <a:pPr indent="-361950" lvl="0" marL="457200" rtl="0" algn="l">
              <a:spcBef>
                <a:spcPts val="0"/>
              </a:spcBef>
              <a:spcAft>
                <a:spcPts val="0"/>
              </a:spcAft>
              <a:buClr>
                <a:schemeClr val="dk1"/>
              </a:buClr>
              <a:buSzPts val="2100"/>
              <a:buChar char="●"/>
            </a:pPr>
            <a:r>
              <a:rPr lang="en">
                <a:solidFill>
                  <a:schemeClr val="dk1"/>
                </a:solidFill>
              </a:rPr>
              <a:t>System calls</a:t>
            </a:r>
            <a:endParaRPr>
              <a:solidFill>
                <a:schemeClr val="dk1"/>
              </a:solidFill>
            </a:endParaRPr>
          </a:p>
          <a:p>
            <a:pPr indent="-361950" lvl="1" marL="914400" rtl="0" algn="l">
              <a:spcBef>
                <a:spcPts val="0"/>
              </a:spcBef>
              <a:spcAft>
                <a:spcPts val="0"/>
              </a:spcAft>
              <a:buClr>
                <a:schemeClr val="dk1"/>
              </a:buClr>
              <a:buSzPts val="2100"/>
              <a:buChar char="○"/>
            </a:pPr>
            <a:r>
              <a:rPr lang="en">
                <a:solidFill>
                  <a:schemeClr val="dk1"/>
                </a:solidFill>
              </a:rPr>
              <a:t>Kernel mode, user mode</a:t>
            </a:r>
            <a:endParaRPr>
              <a:solidFill>
                <a:schemeClr val="dk1"/>
              </a:solidFill>
            </a:endParaRPr>
          </a:p>
          <a:p>
            <a:pPr indent="-361950" lvl="1" marL="914400" rtl="0" algn="l">
              <a:spcBef>
                <a:spcPts val="0"/>
              </a:spcBef>
              <a:spcAft>
                <a:spcPts val="0"/>
              </a:spcAft>
              <a:buClr>
                <a:schemeClr val="dk1"/>
              </a:buClr>
              <a:buSzPts val="2100"/>
              <a:buChar char="○"/>
            </a:pPr>
            <a:r>
              <a:rPr lang="en">
                <a:solidFill>
                  <a:schemeClr val="dk1"/>
                </a:solidFill>
              </a:rPr>
              <a:t>Interrupts, exceptions</a:t>
            </a:r>
            <a:endParaRPr>
              <a:solidFill>
                <a:schemeClr val="dk1"/>
              </a:solidFill>
            </a:endParaRPr>
          </a:p>
          <a:p>
            <a:pPr indent="-361950" lvl="0" marL="457200" rtl="0" algn="l">
              <a:spcBef>
                <a:spcPts val="0"/>
              </a:spcBef>
              <a:spcAft>
                <a:spcPts val="0"/>
              </a:spcAft>
              <a:buClr>
                <a:schemeClr val="dk1"/>
              </a:buClr>
              <a:buSzPts val="2100"/>
              <a:buChar char="●"/>
            </a:pPr>
            <a:r>
              <a:rPr lang="en">
                <a:solidFill>
                  <a:schemeClr val="dk1"/>
                </a:solidFill>
              </a:rPr>
              <a:t>Error handling</a:t>
            </a:r>
            <a:endParaRPr>
              <a:solidFill>
                <a:schemeClr val="dk1"/>
              </a:solidFill>
            </a:endParaRPr>
          </a:p>
          <a:p>
            <a:pPr indent="-361950" lvl="0" marL="457200" rtl="0" algn="l">
              <a:spcBef>
                <a:spcPts val="0"/>
              </a:spcBef>
              <a:spcAft>
                <a:spcPts val="0"/>
              </a:spcAft>
              <a:buClr>
                <a:schemeClr val="dk1"/>
              </a:buClr>
              <a:buSzPts val="2100"/>
              <a:buChar char="●"/>
            </a:pPr>
            <a:r>
              <a:rPr lang="en">
                <a:solidFill>
                  <a:schemeClr val="dk1"/>
                </a:solidFill>
              </a:rPr>
              <a:t>Debugging: GDB</a:t>
            </a:r>
            <a:endParaRPr sz="400"/>
          </a:p>
        </p:txBody>
      </p:sp>
      <p:sp>
        <p:nvSpPr>
          <p:cNvPr id="83" name="Google Shape;83;p18"/>
          <p:cNvSpPr txBox="1"/>
          <p:nvPr>
            <p:ph idx="2" type="body"/>
          </p:nvPr>
        </p:nvSpPr>
        <p:spPr>
          <a:xfrm>
            <a:off x="4663425" y="76775"/>
            <a:ext cx="4407900" cy="4939500"/>
          </a:xfrm>
          <a:prstGeom prst="rect">
            <a:avLst/>
          </a:prstGeom>
        </p:spPr>
        <p:txBody>
          <a:bodyPr anchorCtr="0" anchor="ctr" bIns="91425" lIns="91425" spcFirstLastPara="1" rIns="91425" wrap="square" tIns="91425">
            <a:normAutofit/>
          </a:bodyPr>
          <a:lstStyle/>
          <a:p>
            <a:pPr indent="0" lvl="0" marL="0" rtl="0" algn="l">
              <a:lnSpc>
                <a:spcPct val="95000"/>
              </a:lnSpc>
              <a:spcBef>
                <a:spcPts val="0"/>
              </a:spcBef>
              <a:spcAft>
                <a:spcPts val="0"/>
              </a:spcAft>
              <a:buNone/>
            </a:pPr>
            <a:r>
              <a:rPr lang="en" sz="1600"/>
              <a:t>Based on</a:t>
            </a:r>
            <a:endParaRPr sz="1600"/>
          </a:p>
          <a:p>
            <a:pPr indent="0" lvl="0" marL="0" rtl="0" algn="l">
              <a:lnSpc>
                <a:spcPct val="95000"/>
              </a:lnSpc>
              <a:spcBef>
                <a:spcPts val="1200"/>
              </a:spcBef>
              <a:spcAft>
                <a:spcPts val="0"/>
              </a:spcAft>
              <a:buNone/>
            </a:pPr>
            <a:r>
              <a:rPr lang="en" sz="1600" u="sng">
                <a:solidFill>
                  <a:srgbClr val="0C4466"/>
                </a:solidFill>
                <a:hlinkClick r:id="rId3">
                  <a:extLst>
                    <a:ext uri="{A12FA001-AC4F-418D-AE19-62706E023703}">
                      <ahyp:hlinkClr val="tx"/>
                    </a:ext>
                  </a:extLst>
                </a:hlinkClick>
              </a:rPr>
              <a:t>https://github.com/angrave/SystemProgramming/wiki</a:t>
            </a:r>
            <a:endParaRPr sz="1600"/>
          </a:p>
          <a:p>
            <a:pPr indent="0" lvl="0" marL="0" rtl="0" algn="l">
              <a:lnSpc>
                <a:spcPct val="80000"/>
              </a:lnSpc>
              <a:spcBef>
                <a:spcPts val="1200"/>
              </a:spcBef>
              <a:spcAft>
                <a:spcPts val="0"/>
              </a:spcAft>
              <a:buNone/>
            </a:pPr>
            <a:r>
              <a:rPr lang="en" sz="1600"/>
              <a:t>Other resources:</a:t>
            </a:r>
            <a:endParaRPr sz="1600"/>
          </a:p>
          <a:p>
            <a:pPr indent="0" lvl="0" marL="0" rtl="0" algn="l">
              <a:lnSpc>
                <a:spcPct val="80000"/>
              </a:lnSpc>
              <a:spcBef>
                <a:spcPts val="0"/>
              </a:spcBef>
              <a:spcAft>
                <a:spcPts val="0"/>
              </a:spcAft>
              <a:buNone/>
            </a:pPr>
            <a:r>
              <a:rPr lang="en" sz="1600"/>
              <a:t>Macro directives</a:t>
            </a:r>
            <a:endParaRPr sz="1600"/>
          </a:p>
          <a:p>
            <a:pPr indent="-330200" lvl="0" marL="457200" rtl="0" algn="l">
              <a:lnSpc>
                <a:spcPct val="80000"/>
              </a:lnSpc>
              <a:spcBef>
                <a:spcPts val="0"/>
              </a:spcBef>
              <a:spcAft>
                <a:spcPts val="0"/>
              </a:spcAft>
              <a:buSzPts val="1600"/>
              <a:buChar char="●"/>
            </a:pPr>
            <a:r>
              <a:rPr lang="en" sz="1600" u="sng">
                <a:solidFill>
                  <a:schemeClr val="hlink"/>
                </a:solidFill>
                <a:hlinkClick r:id="rId4"/>
              </a:rPr>
              <a:t>https://gcc.gnu.org/onlinedocs/cpp/Index-of-Directives.html#Index-of-Directives</a:t>
            </a:r>
            <a:r>
              <a:rPr lang="en" sz="1600"/>
              <a:t> </a:t>
            </a:r>
            <a:endParaRPr sz="1600"/>
          </a:p>
          <a:p>
            <a:pPr indent="0" lvl="0" marL="0" rtl="0" algn="l">
              <a:lnSpc>
                <a:spcPct val="80000"/>
              </a:lnSpc>
              <a:spcBef>
                <a:spcPts val="0"/>
              </a:spcBef>
              <a:spcAft>
                <a:spcPts val="0"/>
              </a:spcAft>
              <a:buNone/>
            </a:pPr>
            <a:r>
              <a:rPr lang="en" sz="1600"/>
              <a:t>struct packing: </a:t>
            </a:r>
            <a:endParaRPr sz="1600"/>
          </a:p>
          <a:p>
            <a:pPr indent="-330200" lvl="0" marL="457200" rtl="0" algn="l">
              <a:lnSpc>
                <a:spcPct val="80000"/>
              </a:lnSpc>
              <a:spcBef>
                <a:spcPts val="0"/>
              </a:spcBef>
              <a:spcAft>
                <a:spcPts val="0"/>
              </a:spcAft>
              <a:buSzPts val="1600"/>
              <a:buChar char="●"/>
            </a:pPr>
            <a:r>
              <a:rPr lang="en" sz="1600" u="sng">
                <a:solidFill>
                  <a:schemeClr val="accent5"/>
                </a:solidFill>
                <a:hlinkClick r:id="rId5">
                  <a:extLst>
                    <a:ext uri="{A12FA001-AC4F-418D-AE19-62706E023703}">
                      <ahyp:hlinkClr val="tx"/>
                    </a:ext>
                  </a:extLst>
                </a:hlinkClick>
              </a:rPr>
              <a:t>http://www.catb.org/esr/structure-packing/</a:t>
            </a:r>
            <a:endParaRPr sz="1600"/>
          </a:p>
          <a:p>
            <a:pPr indent="0" lvl="0" marL="0" rtl="0" algn="l">
              <a:lnSpc>
                <a:spcPct val="80000"/>
              </a:lnSpc>
              <a:spcBef>
                <a:spcPts val="0"/>
              </a:spcBef>
              <a:spcAft>
                <a:spcPts val="0"/>
              </a:spcAft>
              <a:buNone/>
            </a:pPr>
            <a:r>
              <a:rPr lang="en" sz="1600"/>
              <a:t>GDB guide: </a:t>
            </a:r>
            <a:endParaRPr sz="1600"/>
          </a:p>
          <a:p>
            <a:pPr indent="-330200" lvl="0" marL="457200" rtl="0" algn="l">
              <a:lnSpc>
                <a:spcPct val="80000"/>
              </a:lnSpc>
              <a:spcBef>
                <a:spcPts val="0"/>
              </a:spcBef>
              <a:spcAft>
                <a:spcPts val="0"/>
              </a:spcAft>
              <a:buSzPts val="1600"/>
              <a:buChar char="●"/>
            </a:pPr>
            <a:r>
              <a:rPr lang="en" sz="1600" u="sng">
                <a:solidFill>
                  <a:schemeClr val="accent5"/>
                </a:solidFill>
                <a:hlinkClick r:id="rId6">
                  <a:extLst>
                    <a:ext uri="{A12FA001-AC4F-418D-AE19-62706E023703}">
                      <ahyp:hlinkClr val="tx"/>
                    </a:ext>
                  </a:extLst>
                </a:hlinkClick>
              </a:rPr>
              <a:t>https://darkdust.net/files/GDB%20Cheat%20Sheet.pdf</a:t>
            </a:r>
            <a:endParaRPr sz="1600"/>
          </a:p>
          <a:p>
            <a:pPr indent="0" lvl="0" marL="0" rtl="0" algn="l">
              <a:lnSpc>
                <a:spcPct val="80000"/>
              </a:lnSpc>
              <a:spcBef>
                <a:spcPts val="0"/>
              </a:spcBef>
              <a:spcAft>
                <a:spcPts val="0"/>
              </a:spcAft>
              <a:buNone/>
            </a:pPr>
            <a:r>
              <a:rPr lang="en" sz="1600"/>
              <a:t>Linux terminal intro-guide: </a:t>
            </a:r>
            <a:endParaRPr sz="1600"/>
          </a:p>
          <a:p>
            <a:pPr indent="-330200" lvl="0" marL="457200" rtl="0" algn="l">
              <a:lnSpc>
                <a:spcPct val="80000"/>
              </a:lnSpc>
              <a:spcBef>
                <a:spcPts val="0"/>
              </a:spcBef>
              <a:spcAft>
                <a:spcPts val="0"/>
              </a:spcAft>
              <a:buSzPts val="1600"/>
              <a:buChar char="●"/>
            </a:pPr>
            <a:r>
              <a:rPr lang="en" sz="1600" u="sng">
                <a:solidFill>
                  <a:schemeClr val="accent5"/>
                </a:solidFill>
                <a:hlinkClick r:id="rId7">
                  <a:extLst>
                    <a:ext uri="{A12FA001-AC4F-418D-AE19-62706E023703}">
                      <ahyp:hlinkClr val="tx"/>
                    </a:ext>
                  </a:extLst>
                </a:hlinkClick>
              </a:rPr>
              <a:t>https://ubuntu.com/tutorials/command-line-for-beginners#1-overview</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 to C</a:t>
            </a:r>
            <a:endParaRPr/>
          </a:p>
        </p:txBody>
      </p:sp>
      <p:sp>
        <p:nvSpPr>
          <p:cNvPr id="89" name="Google Shape;89;p19"/>
          <p:cNvSpPr txBox="1"/>
          <p:nvPr>
            <p:ph idx="1" type="body"/>
          </p:nvPr>
        </p:nvSpPr>
        <p:spPr>
          <a:xfrm>
            <a:off x="4375825" y="129650"/>
            <a:ext cx="4604400" cy="43053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solidFill>
                  <a:schemeClr val="dk1"/>
                </a:solidFill>
                <a:latin typeface="Consolas"/>
                <a:ea typeface="Consolas"/>
                <a:cs typeface="Consolas"/>
                <a:sym typeface="Consolas"/>
              </a:rPr>
              <a:t>$ gcc -E main.c &gt; main.i</a:t>
            </a:r>
            <a:endParaRPr b="1"/>
          </a:p>
          <a:p>
            <a:pPr indent="-304800" lvl="1" marL="914400" rtl="0" algn="l">
              <a:spcBef>
                <a:spcPts val="0"/>
              </a:spcBef>
              <a:spcAft>
                <a:spcPts val="0"/>
              </a:spcAft>
              <a:buSzPts val="1200"/>
              <a:buChar char="○"/>
            </a:pPr>
            <a:r>
              <a:rPr b="1" lang="en"/>
              <a:t>-E stops compiler after running preprocessor</a:t>
            </a:r>
            <a:endParaRPr b="1"/>
          </a:p>
          <a:p>
            <a:pPr indent="-304800" lvl="0" marL="457200" rtl="0" algn="l">
              <a:spcBef>
                <a:spcPts val="1600"/>
              </a:spcBef>
              <a:spcAft>
                <a:spcPts val="0"/>
              </a:spcAft>
              <a:buSzPts val="1200"/>
              <a:buChar char="●"/>
            </a:pPr>
            <a:r>
              <a:rPr lang="en">
                <a:solidFill>
                  <a:schemeClr val="dk1"/>
                </a:solidFill>
                <a:latin typeface="Consolas"/>
                <a:ea typeface="Consolas"/>
                <a:cs typeface="Consolas"/>
                <a:sym typeface="Consolas"/>
              </a:rPr>
              <a:t>$ gcc -S main.c </a:t>
            </a:r>
            <a:endParaRPr>
              <a:solidFill>
                <a:schemeClr val="dk1"/>
              </a:solidFill>
              <a:latin typeface="Consolas"/>
              <a:ea typeface="Consolas"/>
              <a:cs typeface="Consolas"/>
              <a:sym typeface="Consolas"/>
            </a:endParaRPr>
          </a:p>
          <a:p>
            <a:pPr indent="-304800" lvl="1" marL="914400" rtl="0" algn="l">
              <a:spcBef>
                <a:spcPts val="0"/>
              </a:spcBef>
              <a:spcAft>
                <a:spcPts val="0"/>
              </a:spcAft>
              <a:buSzPts val="1200"/>
              <a:buChar char="○"/>
            </a:pPr>
            <a:r>
              <a:rPr b="1" lang="en"/>
              <a:t>-S stops compiler after  assembly file generated</a:t>
            </a:r>
            <a:endParaRPr b="1"/>
          </a:p>
          <a:p>
            <a:pPr indent="-304800" lvl="1" marL="914400" rtl="0" algn="l">
              <a:spcBef>
                <a:spcPts val="1600"/>
              </a:spcBef>
              <a:spcAft>
                <a:spcPts val="0"/>
              </a:spcAft>
              <a:buSzPts val="1200"/>
              <a:buChar char="○"/>
            </a:pPr>
            <a:r>
              <a:rPr b="1" lang="en"/>
              <a:t>Assembler uses “.s” file to generate an object file</a:t>
            </a:r>
            <a:endParaRPr b="1"/>
          </a:p>
          <a:p>
            <a:pPr indent="-304800" lvl="0" marL="457200" rtl="0" algn="l">
              <a:spcBef>
                <a:spcPts val="1600"/>
              </a:spcBef>
              <a:spcAft>
                <a:spcPts val="0"/>
              </a:spcAft>
              <a:buSzPts val="1200"/>
              <a:buChar char="●"/>
            </a:pPr>
            <a:r>
              <a:rPr lang="en">
                <a:solidFill>
                  <a:schemeClr val="dk1"/>
                </a:solidFill>
                <a:latin typeface="Consolas"/>
                <a:ea typeface="Consolas"/>
                <a:cs typeface="Consolas"/>
                <a:sym typeface="Consolas"/>
              </a:rPr>
              <a:t>$ gcc -c main.c</a:t>
            </a:r>
            <a:endParaRPr>
              <a:solidFill>
                <a:schemeClr val="dk1"/>
              </a:solidFill>
              <a:latin typeface="Consolas"/>
              <a:ea typeface="Consolas"/>
              <a:cs typeface="Consolas"/>
              <a:sym typeface="Consolas"/>
            </a:endParaRPr>
          </a:p>
          <a:p>
            <a:pPr indent="-304800" lvl="1" marL="914400" rtl="0" algn="l">
              <a:lnSpc>
                <a:spcPct val="100000"/>
              </a:lnSpc>
              <a:spcBef>
                <a:spcPts val="0"/>
              </a:spcBef>
              <a:spcAft>
                <a:spcPts val="0"/>
              </a:spcAft>
              <a:buSzPts val="1200"/>
              <a:buChar char="○"/>
            </a:pPr>
            <a:r>
              <a:rPr b="1" lang="en"/>
              <a:t>Generates object file main.o</a:t>
            </a:r>
            <a:endParaRPr b="1"/>
          </a:p>
          <a:p>
            <a:pPr indent="-304800" lvl="1" marL="914400" rtl="0" algn="l">
              <a:lnSpc>
                <a:spcPct val="100000"/>
              </a:lnSpc>
              <a:spcBef>
                <a:spcPts val="1600"/>
              </a:spcBef>
              <a:spcAft>
                <a:spcPts val="0"/>
              </a:spcAft>
              <a:buSzPts val="1200"/>
              <a:buChar char="○"/>
            </a:pPr>
            <a:r>
              <a:rPr b="1" lang="en"/>
              <a:t>main.o has undefined symbols like printf we don’t know where it is placed</a:t>
            </a:r>
            <a:endParaRPr b="1"/>
          </a:p>
          <a:p>
            <a:pPr indent="-304800" lvl="1" marL="914400" rtl="0" algn="l">
              <a:lnSpc>
                <a:spcPct val="100000"/>
              </a:lnSpc>
              <a:spcBef>
                <a:spcPts val="1600"/>
              </a:spcBef>
              <a:spcAft>
                <a:spcPts val="0"/>
              </a:spcAft>
              <a:buSzPts val="1200"/>
              <a:buChar char="○"/>
            </a:pPr>
            <a:r>
              <a:rPr lang="en">
                <a:solidFill>
                  <a:schemeClr val="dk1"/>
                </a:solidFill>
                <a:latin typeface="Consolas"/>
                <a:ea typeface="Consolas"/>
                <a:cs typeface="Consolas"/>
                <a:sym typeface="Consolas"/>
              </a:rPr>
              <a:t>$ nm main.o</a:t>
            </a:r>
            <a:endParaRPr>
              <a:solidFill>
                <a:schemeClr val="dk1"/>
              </a:solidFill>
              <a:latin typeface="Consolas"/>
              <a:ea typeface="Consolas"/>
              <a:cs typeface="Consolas"/>
              <a:sym typeface="Consolas"/>
            </a:endParaRPr>
          </a:p>
          <a:p>
            <a:pPr indent="-304800" lvl="0" marL="457200" rtl="0" algn="l">
              <a:spcBef>
                <a:spcPts val="0"/>
              </a:spcBef>
              <a:spcAft>
                <a:spcPts val="0"/>
              </a:spcAft>
              <a:buSzPts val="1200"/>
              <a:buChar char="●"/>
            </a:pPr>
            <a:r>
              <a:rPr lang="en">
                <a:solidFill>
                  <a:schemeClr val="dk1"/>
                </a:solidFill>
                <a:latin typeface="Consolas"/>
                <a:ea typeface="Consolas"/>
                <a:cs typeface="Consolas"/>
                <a:sym typeface="Consolas"/>
              </a:rPr>
              <a:t>$ gcc -o main main.c</a:t>
            </a:r>
            <a:endParaRPr>
              <a:solidFill>
                <a:schemeClr val="dk1"/>
              </a:solidFill>
              <a:latin typeface="Consolas"/>
              <a:ea typeface="Consolas"/>
              <a:cs typeface="Consolas"/>
              <a:sym typeface="Consolas"/>
            </a:endParaRPr>
          </a:p>
          <a:p>
            <a:pPr indent="-304800" lvl="1" marL="914400" rtl="0" algn="l">
              <a:lnSpc>
                <a:spcPct val="100000"/>
              </a:lnSpc>
              <a:spcBef>
                <a:spcPts val="0"/>
              </a:spcBef>
              <a:spcAft>
                <a:spcPts val="0"/>
              </a:spcAft>
              <a:buSzPts val="1200"/>
              <a:buChar char="○"/>
            </a:pPr>
            <a:r>
              <a:rPr b="1" lang="en"/>
              <a:t>Generates executable main</a:t>
            </a:r>
            <a:endParaRPr b="1"/>
          </a:p>
          <a:p>
            <a:pPr indent="-304800" lvl="1" marL="914400" rtl="0" algn="l">
              <a:lnSpc>
                <a:spcPct val="100000"/>
              </a:lnSpc>
              <a:spcBef>
                <a:spcPts val="1600"/>
              </a:spcBef>
              <a:spcAft>
                <a:spcPts val="0"/>
              </a:spcAft>
              <a:buSzPts val="1200"/>
              <a:buChar char="○"/>
            </a:pPr>
            <a:r>
              <a:rPr b="1" lang="en"/>
              <a:t>printf does not have a value yet until the program is loaded</a:t>
            </a:r>
            <a:endParaRPr b="1"/>
          </a:p>
          <a:p>
            <a:pPr indent="-304800" lvl="1" marL="914400" rtl="0" algn="l">
              <a:lnSpc>
                <a:spcPct val="100000"/>
              </a:lnSpc>
              <a:spcBef>
                <a:spcPts val="1600"/>
              </a:spcBef>
              <a:spcAft>
                <a:spcPts val="0"/>
              </a:spcAft>
              <a:buSzPts val="1200"/>
              <a:buChar char="○"/>
            </a:pPr>
            <a:r>
              <a:rPr lang="en">
                <a:solidFill>
                  <a:schemeClr val="dk1"/>
                </a:solidFill>
                <a:latin typeface="Consolas"/>
                <a:ea typeface="Consolas"/>
                <a:cs typeface="Consolas"/>
                <a:sym typeface="Consolas"/>
              </a:rPr>
              <a:t>$ nm main.o</a:t>
            </a:r>
            <a:endParaRPr b="1"/>
          </a:p>
        </p:txBody>
      </p:sp>
      <p:sp>
        <p:nvSpPr>
          <p:cNvPr id="90" name="Google Shape;90;p19"/>
          <p:cNvSpPr txBox="1"/>
          <p:nvPr>
            <p:ph idx="2" type="body"/>
          </p:nvPr>
        </p:nvSpPr>
        <p:spPr>
          <a:xfrm>
            <a:off x="488125" y="1496425"/>
            <a:ext cx="37206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t>$ cat main.c</a:t>
            </a:r>
            <a:endParaRPr sz="1400"/>
          </a:p>
          <a:p>
            <a:pPr indent="0" lvl="0" marL="0" rtl="0" algn="l">
              <a:spcBef>
                <a:spcPts val="0"/>
              </a:spcBef>
              <a:spcAft>
                <a:spcPts val="0"/>
              </a:spcAft>
              <a:buClr>
                <a:schemeClr val="dk1"/>
              </a:buClr>
              <a:buSzPts val="1100"/>
              <a:buFont typeface="Arial"/>
              <a:buNone/>
            </a:pPr>
            <a:r>
              <a:rPr lang="en" sz="1400"/>
              <a:t>#include &lt;stdio.h&gt;</a:t>
            </a:r>
            <a:endParaRPr sz="1400"/>
          </a:p>
          <a:p>
            <a:pPr indent="0" lvl="0" marL="0" rtl="0" algn="l">
              <a:spcBef>
                <a:spcPts val="0"/>
              </a:spcBef>
              <a:spcAft>
                <a:spcPts val="0"/>
              </a:spcAft>
              <a:buClr>
                <a:schemeClr val="dk1"/>
              </a:buClr>
              <a:buSzPts val="1100"/>
              <a:buFont typeface="Arial"/>
              <a:buNone/>
            </a:pPr>
            <a:r>
              <a:rPr lang="en" sz="1400"/>
              <a:t>int main() {</a:t>
            </a:r>
            <a:endParaRPr sz="1400"/>
          </a:p>
          <a:p>
            <a:pPr indent="457200" lvl="0" marL="0" rtl="0" algn="l">
              <a:spcBef>
                <a:spcPts val="0"/>
              </a:spcBef>
              <a:spcAft>
                <a:spcPts val="0"/>
              </a:spcAft>
              <a:buClr>
                <a:schemeClr val="dk1"/>
              </a:buClr>
              <a:buSzPts val="1100"/>
              <a:buFont typeface="Arial"/>
              <a:buNone/>
            </a:pPr>
            <a:r>
              <a:rPr lang="en" sz="1400"/>
              <a:t>printf("Hello World!\n");</a:t>
            </a:r>
            <a:endParaRPr sz="1400"/>
          </a:p>
          <a:p>
            <a:pPr indent="457200" lvl="0" marL="0" rtl="0" algn="l">
              <a:spcBef>
                <a:spcPts val="0"/>
              </a:spcBef>
              <a:spcAft>
                <a:spcPts val="0"/>
              </a:spcAft>
              <a:buClr>
                <a:schemeClr val="dk1"/>
              </a:buClr>
              <a:buSzPts val="1100"/>
              <a:buFont typeface="Arial"/>
              <a:buNone/>
            </a:pPr>
            <a:r>
              <a:rPr lang="en" sz="1400"/>
              <a:t>return 0;</a:t>
            </a:r>
            <a:endParaRPr sz="1400"/>
          </a:p>
          <a:p>
            <a:pPr indent="0" lvl="0" marL="0" rtl="0" algn="l">
              <a:spcBef>
                <a:spcPts val="0"/>
              </a:spcBef>
              <a:spcAft>
                <a:spcPts val="0"/>
              </a:spcAft>
              <a:buClr>
                <a:schemeClr val="dk1"/>
              </a:buClr>
              <a:buSzPts val="1100"/>
              <a:buFont typeface="Arial"/>
              <a:buNone/>
            </a:pPr>
            <a:r>
              <a:rPr lang="en" sz="1400"/>
              <a:t>}</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 gcc main.c -o main</a:t>
            </a:r>
            <a:endParaRPr sz="1400"/>
          </a:p>
          <a:p>
            <a:pPr indent="0" lvl="0" marL="0" rtl="0" algn="l">
              <a:spcBef>
                <a:spcPts val="0"/>
              </a:spcBef>
              <a:spcAft>
                <a:spcPts val="0"/>
              </a:spcAft>
              <a:buClr>
                <a:schemeClr val="dk1"/>
              </a:buClr>
              <a:buSzPts val="1100"/>
              <a:buFont typeface="Arial"/>
              <a:buNone/>
            </a:pPr>
            <a:r>
              <a:rPr lang="en" sz="1400"/>
              <a:t>$ ./main</a:t>
            </a:r>
            <a:endParaRPr sz="1400"/>
          </a:p>
          <a:p>
            <a:pPr indent="0" lvl="0" marL="0" rtl="0" algn="l">
              <a:spcBef>
                <a:spcPts val="0"/>
              </a:spcBef>
              <a:spcAft>
                <a:spcPts val="0"/>
              </a:spcAft>
              <a:buClr>
                <a:schemeClr val="dk1"/>
              </a:buClr>
              <a:buSzPts val="1100"/>
              <a:buFont typeface="Arial"/>
              <a:buNone/>
            </a:pPr>
            <a:r>
              <a:rPr lang="en" sz="1400"/>
              <a:t>Hello World!</a:t>
            </a:r>
            <a:endParaRPr sz="1400"/>
          </a:p>
          <a:p>
            <a:pPr indent="0" lvl="0" marL="0" rtl="0" algn="l">
              <a:spcBef>
                <a:spcPts val="0"/>
              </a:spcBef>
              <a:spcAft>
                <a:spcPts val="0"/>
              </a:spcAft>
              <a:buClr>
                <a:schemeClr val="dk1"/>
              </a:buClr>
              <a:buSzPts val="1100"/>
              <a:buFont typeface="Arial"/>
              <a:buNone/>
            </a:pPr>
            <a:r>
              <a:rPr lang="en" sz="1400"/>
              <a:t>$</a:t>
            </a:r>
            <a:endParaRPr sz="1400"/>
          </a:p>
          <a:p>
            <a:pPr indent="0" lvl="0" marL="0" rtl="0" algn="l">
              <a:spcBef>
                <a:spcPts val="0"/>
              </a:spcBef>
              <a:spcAft>
                <a:spcPts val="0"/>
              </a:spcAft>
              <a:buNone/>
            </a:pPr>
            <a:r>
              <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Preprocessor</a:t>
            </a:r>
            <a:endParaRPr/>
          </a:p>
        </p:txBody>
      </p:sp>
      <p:sp>
        <p:nvSpPr>
          <p:cNvPr id="96" name="Google Shape;96;p20"/>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Preprocessing is a copy and paste operation that the compiler performs before actually compiling the program.</a:t>
            </a:r>
            <a:endParaRPr/>
          </a:p>
          <a:p>
            <a:pPr indent="0" lvl="0" marL="457200" rtl="0" algn="l">
              <a:spcBef>
                <a:spcPts val="0"/>
              </a:spcBef>
              <a:spcAft>
                <a:spcPts val="0"/>
              </a:spcAft>
              <a:buNone/>
            </a:pPr>
            <a:r>
              <a:t/>
            </a:r>
            <a:endParaRPr/>
          </a:p>
          <a:p>
            <a:pPr indent="-304800" lvl="0" marL="457200" rtl="0" algn="l">
              <a:spcBef>
                <a:spcPts val="0"/>
              </a:spcBef>
              <a:spcAft>
                <a:spcPts val="0"/>
              </a:spcAft>
              <a:buSzPts val="1200"/>
              <a:buChar char="●"/>
            </a:pPr>
            <a:r>
              <a:rPr lang="en"/>
              <a:t>trying to redefine the internals of the C language with a preprocessor may be impossible.</a:t>
            </a:r>
            <a:endParaRPr/>
          </a:p>
          <a:p>
            <a:pPr indent="-304800" lvl="0" marL="457200" rtl="0" algn="l">
              <a:spcBef>
                <a:spcPts val="0"/>
              </a:spcBef>
              <a:spcAft>
                <a:spcPts val="0"/>
              </a:spcAft>
              <a:buSzPts val="1200"/>
              <a:buChar char="●"/>
            </a:pPr>
            <a:r>
              <a:rPr lang="en"/>
              <a:t>they can’t be infinitely - there is a bounded depth where they need to stop.</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
        <p:nvSpPr>
          <p:cNvPr id="97" name="Google Shape;97;p20"/>
          <p:cNvSpPr txBox="1"/>
          <p:nvPr>
            <p:ph idx="2" type="body"/>
          </p:nvPr>
        </p:nvSpPr>
        <p:spPr>
          <a:xfrm>
            <a:off x="488125" y="1496425"/>
            <a:ext cx="37206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t>/* Before preprocessing */</a:t>
            </a:r>
            <a:endParaRPr sz="1700"/>
          </a:p>
          <a:p>
            <a:pPr indent="0" lvl="0" marL="0" rtl="0" algn="l">
              <a:spcBef>
                <a:spcPts val="0"/>
              </a:spcBef>
              <a:spcAft>
                <a:spcPts val="0"/>
              </a:spcAft>
              <a:buClr>
                <a:schemeClr val="dk1"/>
              </a:buClr>
              <a:buSzPts val="1100"/>
              <a:buFont typeface="Arial"/>
              <a:buNone/>
            </a:pPr>
            <a:r>
              <a:rPr lang="en" sz="1700"/>
              <a:t>#define MAX_LENGTH 10</a:t>
            </a:r>
            <a:endParaRPr sz="1700"/>
          </a:p>
          <a:p>
            <a:pPr indent="0" lvl="0" marL="0" rtl="0" algn="l">
              <a:spcBef>
                <a:spcPts val="0"/>
              </a:spcBef>
              <a:spcAft>
                <a:spcPts val="0"/>
              </a:spcAft>
              <a:buClr>
                <a:schemeClr val="dk1"/>
              </a:buClr>
              <a:buSzPts val="1100"/>
              <a:buFont typeface="Arial"/>
              <a:buNone/>
            </a:pPr>
            <a:r>
              <a:rPr lang="en" sz="1700"/>
              <a:t>char buffer[MAX_LENGTH]</a:t>
            </a:r>
            <a:endParaRPr sz="1700"/>
          </a:p>
          <a:p>
            <a:pPr indent="0" lvl="0" marL="0" rtl="0" algn="l">
              <a:spcBef>
                <a:spcPts val="0"/>
              </a:spcBef>
              <a:spcAft>
                <a:spcPts val="0"/>
              </a:spcAft>
              <a:buNone/>
            </a:pPr>
            <a:r>
              <a:t/>
            </a:r>
            <a:endParaRPr sz="1700"/>
          </a:p>
          <a:p>
            <a:pPr indent="0" lvl="0" marL="0" rtl="0" algn="l">
              <a:spcBef>
                <a:spcPts val="0"/>
              </a:spcBef>
              <a:spcAft>
                <a:spcPts val="0"/>
              </a:spcAft>
              <a:buClr>
                <a:schemeClr val="dk1"/>
              </a:buClr>
              <a:buSzPts val="1100"/>
              <a:buFont typeface="Arial"/>
              <a:buNone/>
            </a:pPr>
            <a:r>
              <a:rPr lang="en" sz="1700"/>
              <a:t>/* After preprocessing */</a:t>
            </a:r>
            <a:endParaRPr sz="1700"/>
          </a:p>
          <a:p>
            <a:pPr indent="0" lvl="0" marL="0" rtl="0" algn="l">
              <a:spcBef>
                <a:spcPts val="0"/>
              </a:spcBef>
              <a:spcAft>
                <a:spcPts val="0"/>
              </a:spcAft>
              <a:buClr>
                <a:schemeClr val="dk1"/>
              </a:buClr>
              <a:buSzPts val="1100"/>
              <a:buFont typeface="Arial"/>
              <a:buNone/>
            </a:pPr>
            <a:r>
              <a:rPr lang="en" sz="1700"/>
              <a:t>char buffer[10]</a:t>
            </a:r>
            <a:endParaRPr sz="1700"/>
          </a:p>
          <a:p>
            <a:pPr indent="0" lvl="0" marL="0" rtl="0" algn="l">
              <a:spcBef>
                <a:spcPts val="0"/>
              </a:spcBef>
              <a:spcAft>
                <a:spcPts val="0"/>
              </a:spcAft>
              <a:buNone/>
            </a:pPr>
            <a:r>
              <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555600"/>
            <a:ext cx="5316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a:t>
            </a:r>
            <a:r>
              <a:rPr lang="en"/>
              <a:t>s- object like macros</a:t>
            </a:r>
            <a:endParaRPr/>
          </a:p>
        </p:txBody>
      </p:sp>
      <p:sp>
        <p:nvSpPr>
          <p:cNvPr id="103" name="Google Shape;103;p21"/>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An </a:t>
            </a:r>
            <a:r>
              <a:rPr i="1" lang="en" sz="1100">
                <a:solidFill>
                  <a:schemeClr val="dk1"/>
                </a:solidFill>
              </a:rPr>
              <a:t>object-like macro</a:t>
            </a:r>
            <a:r>
              <a:rPr lang="en" sz="1100">
                <a:solidFill>
                  <a:schemeClr val="dk1"/>
                </a:solidFill>
              </a:rPr>
              <a:t> is a simple identifier which will be replaced by a code fragment. </a:t>
            </a:r>
            <a:endParaRPr/>
          </a:p>
        </p:txBody>
      </p:sp>
      <p:sp>
        <p:nvSpPr>
          <p:cNvPr id="104" name="Google Shape;104;p21"/>
          <p:cNvSpPr txBox="1"/>
          <p:nvPr>
            <p:ph idx="2" type="body"/>
          </p:nvPr>
        </p:nvSpPr>
        <p:spPr>
          <a:xfrm>
            <a:off x="488125" y="1496425"/>
            <a:ext cx="37206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NUMBERS 1, \</a:t>
            </a:r>
            <a:endParaRPr/>
          </a:p>
          <a:p>
            <a:pPr indent="0" lvl="0" marL="0" rtl="0" algn="l">
              <a:spcBef>
                <a:spcPts val="0"/>
              </a:spcBef>
              <a:spcAft>
                <a:spcPts val="0"/>
              </a:spcAft>
              <a:buNone/>
            </a:pPr>
            <a:r>
              <a:rPr lang="en"/>
              <a:t>                2, \</a:t>
            </a:r>
            <a:endParaRPr/>
          </a:p>
          <a:p>
            <a:pPr indent="0" lvl="0" marL="0" rtl="0" algn="l">
              <a:spcBef>
                <a:spcPts val="0"/>
              </a:spcBef>
              <a:spcAft>
                <a:spcPts val="0"/>
              </a:spcAft>
              <a:buNone/>
            </a:pPr>
            <a:r>
              <a:rPr lang="en"/>
              <a:t>                3</a:t>
            </a:r>
            <a:endParaRPr/>
          </a:p>
          <a:p>
            <a:pPr indent="0" lvl="0" marL="0" rtl="0" algn="l">
              <a:spcBef>
                <a:spcPts val="0"/>
              </a:spcBef>
              <a:spcAft>
                <a:spcPts val="0"/>
              </a:spcAft>
              <a:buNone/>
            </a:pPr>
            <a:r>
              <a:rPr lang="en"/>
              <a:t>int x[] = { NUMBERS };</a:t>
            </a:r>
            <a:endParaRPr/>
          </a:p>
          <a:p>
            <a:pPr indent="0" lvl="0" marL="0" rtl="0" algn="l">
              <a:spcBef>
                <a:spcPts val="0"/>
              </a:spcBef>
              <a:spcAft>
                <a:spcPts val="0"/>
              </a:spcAft>
              <a:buNone/>
            </a:pPr>
            <a:r>
              <a:rPr i="1" lang="en" sz="1100">
                <a:solidFill>
                  <a:srgbClr val="EE0000"/>
                </a:solidFill>
              </a:rPr>
              <a:t>/*after preprocessing</a:t>
            </a:r>
            <a:endParaRPr i="1" sz="1100">
              <a:solidFill>
                <a:srgbClr val="EE0000"/>
              </a:solidFill>
            </a:endParaRPr>
          </a:p>
          <a:p>
            <a:pPr indent="0" lvl="0" marL="0" rtl="0" algn="l">
              <a:spcBef>
                <a:spcPts val="0"/>
              </a:spcBef>
              <a:spcAft>
                <a:spcPts val="0"/>
              </a:spcAft>
              <a:buNone/>
            </a:pPr>
            <a:r>
              <a:rPr lang="en"/>
              <a:t>   </a:t>
            </a:r>
            <a:r>
              <a:rPr i="1" lang="en" sz="1100">
                <a:solidFill>
                  <a:srgbClr val="EE0000"/>
                </a:solidFill>
              </a:rPr>
              <a:t>→ int x[] = { 1, 2, 3 };</a:t>
            </a:r>
            <a:endParaRPr i="1" sz="1100">
              <a:solidFill>
                <a:srgbClr val="EE0000"/>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a:p>
            <a:pPr indent="0" lvl="0" marL="0" rtl="0" algn="l">
              <a:spcBef>
                <a:spcPts val="0"/>
              </a:spcBef>
              <a:spcAft>
                <a:spcPts val="0"/>
              </a:spcAft>
              <a:buNone/>
            </a:pPr>
            <a:r>
              <a:t/>
            </a:r>
            <a:endParaRPr i="1" sz="1100">
              <a:solidFill>
                <a:srgbClr val="EE0000"/>
              </a:solidFill>
            </a:endParaRPr>
          </a:p>
          <a:p>
            <a:pPr indent="0" lvl="0" marL="0" rtl="0" algn="l">
              <a:spcBef>
                <a:spcPts val="0"/>
              </a:spcBef>
              <a:spcAft>
                <a:spcPts val="0"/>
              </a:spcAft>
              <a:buNone/>
            </a:pPr>
            <a:r>
              <a:rPr i="1" lang="en" sz="1100">
                <a:solidFill>
                  <a:schemeClr val="dk1"/>
                </a:solidFill>
              </a:rPr>
              <a:t>#define TABLESIZE BUFSIZE</a:t>
            </a:r>
            <a:endParaRPr i="1" sz="1100">
              <a:solidFill>
                <a:schemeClr val="dk1"/>
              </a:solidFill>
            </a:endParaRPr>
          </a:p>
          <a:p>
            <a:pPr indent="0" lvl="0" marL="0" rtl="0" algn="l">
              <a:spcBef>
                <a:spcPts val="0"/>
              </a:spcBef>
              <a:spcAft>
                <a:spcPts val="0"/>
              </a:spcAft>
              <a:buNone/>
            </a:pPr>
            <a:r>
              <a:rPr i="1" lang="en" sz="1100">
                <a:solidFill>
                  <a:schemeClr val="dk1"/>
                </a:solidFill>
              </a:rPr>
              <a:t>#define BUFSIZE 1024</a:t>
            </a:r>
            <a:endParaRPr i="1" sz="1100">
              <a:solidFill>
                <a:schemeClr val="dk1"/>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a:p>
            <a:pPr indent="0" lvl="0" marL="0" rtl="0" algn="l">
              <a:spcBef>
                <a:spcPts val="0"/>
              </a:spcBef>
              <a:spcAft>
                <a:spcPts val="0"/>
              </a:spcAft>
              <a:buNone/>
            </a:pPr>
            <a:r>
              <a:rPr i="1" lang="en" sz="1100">
                <a:solidFill>
                  <a:srgbClr val="EE0000"/>
                </a:solidFill>
              </a:rPr>
              <a:t>TABLESIZE</a:t>
            </a:r>
            <a:endParaRPr i="1" sz="1100">
              <a:solidFill>
                <a:srgbClr val="EE0000"/>
              </a:solidFill>
            </a:endParaRPr>
          </a:p>
          <a:p>
            <a:pPr indent="0" lvl="0" marL="0" rtl="0" algn="l">
              <a:spcBef>
                <a:spcPts val="0"/>
              </a:spcBef>
              <a:spcAft>
                <a:spcPts val="0"/>
              </a:spcAft>
              <a:buNone/>
            </a:pPr>
            <a:r>
              <a:rPr i="1" lang="en" sz="1100">
                <a:solidFill>
                  <a:srgbClr val="EE0000"/>
                </a:solidFill>
              </a:rPr>
              <a:t>     → BUFSIZE</a:t>
            </a:r>
            <a:endParaRPr i="1" sz="1100">
              <a:solidFill>
                <a:srgbClr val="EE0000"/>
              </a:solidFill>
            </a:endParaRPr>
          </a:p>
          <a:p>
            <a:pPr indent="0" lvl="0" marL="0" rtl="0" algn="l">
              <a:spcBef>
                <a:spcPts val="0"/>
              </a:spcBef>
              <a:spcAft>
                <a:spcPts val="0"/>
              </a:spcAft>
              <a:buNone/>
            </a:pPr>
            <a:r>
              <a:rPr i="1" lang="en" sz="1100">
                <a:solidFill>
                  <a:srgbClr val="EE0000"/>
                </a:solidFill>
              </a:rPr>
              <a:t>     → 1024</a:t>
            </a:r>
            <a:endParaRPr i="1" sz="1100">
              <a:solidFill>
                <a:srgbClr val="EE0000"/>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p:txBody>
      </p:sp>
      <p:sp>
        <p:nvSpPr>
          <p:cNvPr id="105" name="Google Shape;105;p21"/>
          <p:cNvSpPr txBox="1"/>
          <p:nvPr/>
        </p:nvSpPr>
        <p:spPr>
          <a:xfrm>
            <a:off x="5120950" y="2898050"/>
            <a:ext cx="3000000" cy="93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100">
                <a:solidFill>
                  <a:schemeClr val="dk1"/>
                </a:solidFill>
                <a:latin typeface="Consolas"/>
                <a:ea typeface="Consolas"/>
                <a:cs typeface="Consolas"/>
                <a:sym typeface="Consolas"/>
              </a:rPr>
              <a:t>#define BUFSIZE 1020</a:t>
            </a:r>
            <a:endParaRPr i="1"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chemeClr val="dk1"/>
                </a:solidFill>
                <a:latin typeface="Consolas"/>
                <a:ea typeface="Consolas"/>
                <a:cs typeface="Consolas"/>
                <a:sym typeface="Consolas"/>
              </a:rPr>
              <a:t>#define TABLESIZE BUFSIZE</a:t>
            </a:r>
            <a:endParaRPr i="1"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chemeClr val="dk1"/>
                </a:solidFill>
                <a:latin typeface="Consolas"/>
                <a:ea typeface="Consolas"/>
                <a:cs typeface="Consolas"/>
                <a:sym typeface="Consolas"/>
              </a:rPr>
              <a:t>#undef BUFSIZE</a:t>
            </a:r>
            <a:endParaRPr i="1"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chemeClr val="dk1"/>
                </a:solidFill>
                <a:latin typeface="Consolas"/>
                <a:ea typeface="Consolas"/>
                <a:cs typeface="Consolas"/>
                <a:sym typeface="Consolas"/>
              </a:rPr>
              <a:t>#define BUFSIZE 37</a:t>
            </a:r>
            <a:endParaRPr i="1" sz="1100">
              <a:solidFill>
                <a:schemeClr val="dk1"/>
              </a:solidFill>
              <a:latin typeface="Consolas"/>
              <a:ea typeface="Consolas"/>
              <a:cs typeface="Consolas"/>
              <a:sym typeface="Consolas"/>
            </a:endParaRPr>
          </a:p>
        </p:txBody>
      </p:sp>
      <p:sp>
        <p:nvSpPr>
          <p:cNvPr id="106" name="Google Shape;106;p21"/>
          <p:cNvSpPr txBox="1"/>
          <p:nvPr/>
        </p:nvSpPr>
        <p:spPr>
          <a:xfrm>
            <a:off x="311700" y="4771600"/>
            <a:ext cx="792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https://gcc.gnu.org/onlinedocs/cpp/Macros.html#Macros</a:t>
            </a:r>
            <a:r>
              <a:rPr lang="en" sz="1000"/>
              <a:t> </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555600"/>
            <a:ext cx="5316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Macros- function like macros</a:t>
            </a:r>
            <a:endParaRPr/>
          </a:p>
        </p:txBody>
      </p:sp>
      <p:sp>
        <p:nvSpPr>
          <p:cNvPr id="112" name="Google Shape;112;p22"/>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A </a:t>
            </a:r>
            <a:r>
              <a:rPr i="1" lang="en" sz="1100">
                <a:solidFill>
                  <a:schemeClr val="dk1"/>
                </a:solidFill>
              </a:rPr>
              <a:t>function-like macros</a:t>
            </a:r>
            <a:r>
              <a:rPr b="1" lang="en" sz="1100">
                <a:solidFill>
                  <a:schemeClr val="dk1"/>
                </a:solidFill>
              </a:rPr>
              <a:t> looks like</a:t>
            </a:r>
            <a:r>
              <a:rPr lang="en" sz="1100">
                <a:solidFill>
                  <a:schemeClr val="dk1"/>
                </a:solidFill>
              </a:rPr>
              <a:t> a function call, but a macro.</a:t>
            </a:r>
            <a:endParaRPr/>
          </a:p>
        </p:txBody>
      </p:sp>
      <p:sp>
        <p:nvSpPr>
          <p:cNvPr id="113" name="Google Shape;113;p22"/>
          <p:cNvSpPr txBox="1"/>
          <p:nvPr>
            <p:ph idx="2" type="body"/>
          </p:nvPr>
        </p:nvSpPr>
        <p:spPr>
          <a:xfrm>
            <a:off x="488125" y="1496425"/>
            <a:ext cx="37206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lang_init()  c_init()</a:t>
            </a:r>
            <a:endParaRPr/>
          </a:p>
          <a:p>
            <a:pPr indent="0" lvl="0" marL="0" rtl="0" algn="l">
              <a:spcBef>
                <a:spcPts val="0"/>
              </a:spcBef>
              <a:spcAft>
                <a:spcPts val="0"/>
              </a:spcAft>
              <a:buNone/>
            </a:pPr>
            <a:r>
              <a:rPr lang="en"/>
              <a:t>lang_init()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i="1" lang="en" sz="1100">
                <a:solidFill>
                  <a:srgbClr val="EE0000"/>
                </a:solidFill>
              </a:rPr>
              <a:t>/*after preprocessing</a:t>
            </a:r>
            <a:endParaRPr i="1" sz="1100">
              <a:solidFill>
                <a:srgbClr val="EE0000"/>
              </a:solidFill>
            </a:endParaRPr>
          </a:p>
          <a:p>
            <a:pPr indent="0" lvl="0" marL="0" rtl="0" algn="l">
              <a:spcBef>
                <a:spcPts val="0"/>
              </a:spcBef>
              <a:spcAft>
                <a:spcPts val="0"/>
              </a:spcAft>
              <a:buNone/>
            </a:pPr>
            <a:r>
              <a:rPr lang="en"/>
              <a:t>   </a:t>
            </a:r>
            <a:r>
              <a:rPr i="1" lang="en" sz="1100">
                <a:solidFill>
                  <a:srgbClr val="EE0000"/>
                </a:solidFill>
              </a:rPr>
              <a:t>→ c_init()</a:t>
            </a:r>
            <a:endParaRPr i="1" sz="1100">
              <a:solidFill>
                <a:srgbClr val="EE0000"/>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a:p>
            <a:pPr indent="0" lvl="0" marL="0" rtl="0" algn="l">
              <a:spcBef>
                <a:spcPts val="0"/>
              </a:spcBef>
              <a:spcAft>
                <a:spcPts val="0"/>
              </a:spcAft>
              <a:buNone/>
            </a:pPr>
            <a:r>
              <a:t/>
            </a:r>
            <a:endParaRPr i="1" sz="1100">
              <a:solidFill>
                <a:srgbClr val="EE0000"/>
              </a:solidFill>
            </a:endParaRPr>
          </a:p>
          <a:p>
            <a:pPr indent="0" lvl="0" marL="0" rtl="0" algn="l">
              <a:spcBef>
                <a:spcPts val="0"/>
              </a:spcBef>
              <a:spcAft>
                <a:spcPts val="0"/>
              </a:spcAft>
              <a:buNone/>
            </a:pPr>
            <a:r>
              <a:rPr i="1" lang="en" sz="1100">
                <a:solidFill>
                  <a:schemeClr val="dk1"/>
                </a:solidFill>
              </a:rPr>
              <a:t>#define lang_init ()    c_init()</a:t>
            </a:r>
            <a:endParaRPr i="1" sz="1100">
              <a:solidFill>
                <a:schemeClr val="dk1"/>
              </a:solidFill>
            </a:endParaRPr>
          </a:p>
          <a:p>
            <a:pPr indent="0" lvl="0" marL="0" rtl="0" algn="l">
              <a:spcBef>
                <a:spcPts val="0"/>
              </a:spcBef>
              <a:spcAft>
                <a:spcPts val="0"/>
              </a:spcAft>
              <a:buNone/>
            </a:pPr>
            <a:r>
              <a:rPr i="1" lang="en" sz="1100">
                <a:solidFill>
                  <a:schemeClr val="dk1"/>
                </a:solidFill>
              </a:rPr>
              <a:t>lang_init()</a:t>
            </a:r>
            <a:endParaRPr i="1" sz="1100">
              <a:solidFill>
                <a:schemeClr val="dk1"/>
              </a:solidFill>
            </a:endParaRPr>
          </a:p>
          <a:p>
            <a:pPr indent="0" lvl="0" marL="0" rtl="0" algn="l">
              <a:spcBef>
                <a:spcPts val="0"/>
              </a:spcBef>
              <a:spcAft>
                <a:spcPts val="0"/>
              </a:spcAft>
              <a:buNone/>
            </a:pPr>
            <a:r>
              <a:t/>
            </a:r>
            <a:endParaRPr i="1" sz="1100">
              <a:solidFill>
                <a:schemeClr val="dk1"/>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a:p>
            <a:pPr indent="0" lvl="0" marL="0" rtl="0" algn="l">
              <a:spcBef>
                <a:spcPts val="0"/>
              </a:spcBef>
              <a:spcAft>
                <a:spcPts val="0"/>
              </a:spcAft>
              <a:buNone/>
            </a:pPr>
            <a:r>
              <a:rPr i="1" lang="en" sz="1100">
                <a:solidFill>
                  <a:srgbClr val="EE0000"/>
                </a:solidFill>
              </a:rPr>
              <a:t>→ () c_init()()</a:t>
            </a:r>
            <a:endParaRPr i="1" sz="1100">
              <a:solidFill>
                <a:srgbClr val="EE0000"/>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p:txBody>
      </p:sp>
      <p:sp>
        <p:nvSpPr>
          <p:cNvPr id="114" name="Google Shape;114;p22"/>
          <p:cNvSpPr txBox="1"/>
          <p:nvPr/>
        </p:nvSpPr>
        <p:spPr>
          <a:xfrm>
            <a:off x="311700" y="4771600"/>
            <a:ext cx="792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https://gcc.gnu.org/onlinedocs/cpp/Macros.html#Macros</a:t>
            </a:r>
            <a:r>
              <a:rPr lang="en" sz="1000"/>
              <a:t> </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276625" y="162650"/>
            <a:ext cx="4530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Macros with arguments</a:t>
            </a:r>
            <a:endParaRPr/>
          </a:p>
        </p:txBody>
      </p:sp>
      <p:sp>
        <p:nvSpPr>
          <p:cNvPr id="120" name="Google Shape;120;p23"/>
          <p:cNvSpPr txBox="1"/>
          <p:nvPr>
            <p:ph idx="2" type="body"/>
          </p:nvPr>
        </p:nvSpPr>
        <p:spPr>
          <a:xfrm>
            <a:off x="177925" y="1496425"/>
            <a:ext cx="63129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min(X, Y)  ((X) &lt; (Y) ? (X) : (Y))</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x = min(a, b); </a:t>
            </a:r>
            <a:r>
              <a:rPr lang="en">
                <a:solidFill>
                  <a:srgbClr val="EE0000"/>
                </a:solidFill>
              </a:rPr>
              <a:t>        </a:t>
            </a:r>
            <a:endParaRPr>
              <a:solidFill>
                <a:srgbClr val="EE0000"/>
              </a:solidFill>
            </a:endParaRPr>
          </a:p>
          <a:p>
            <a:pPr indent="0" lvl="0" marL="0" rtl="0" algn="l">
              <a:spcBef>
                <a:spcPts val="0"/>
              </a:spcBef>
              <a:spcAft>
                <a:spcPts val="0"/>
              </a:spcAft>
              <a:buNone/>
            </a:pPr>
            <a:r>
              <a:rPr lang="en">
                <a:solidFill>
                  <a:srgbClr val="EE0000"/>
                </a:solidFill>
              </a:rPr>
              <a:t>/* →  x = ((a) &lt; (b) ? (a) : (b));*/</a:t>
            </a:r>
            <a:endParaRPr>
              <a:solidFill>
                <a:srgbClr val="EE0000"/>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 = min(1, 2);     </a:t>
            </a:r>
            <a:r>
              <a:rPr lang="en">
                <a:solidFill>
                  <a:srgbClr val="EE0000"/>
                </a:solidFill>
              </a:rPr>
              <a:t>    </a:t>
            </a:r>
            <a:endParaRPr>
              <a:solidFill>
                <a:srgbClr val="EE0000"/>
              </a:solidFill>
            </a:endParaRPr>
          </a:p>
          <a:p>
            <a:pPr indent="0" lvl="0" marL="0" rtl="0" algn="l">
              <a:spcBef>
                <a:spcPts val="0"/>
              </a:spcBef>
              <a:spcAft>
                <a:spcPts val="0"/>
              </a:spcAft>
              <a:buNone/>
            </a:pPr>
            <a:r>
              <a:rPr lang="en">
                <a:solidFill>
                  <a:srgbClr val="EE0000"/>
                </a:solidFill>
              </a:rPr>
              <a:t>/* →  y = ((1) &lt; (2) ? (1) : (2)); */</a:t>
            </a:r>
            <a:endParaRPr>
              <a:solidFill>
                <a:srgbClr val="EE0000"/>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z = min(a + 28, </a:t>
            </a:r>
            <a:r>
              <a:rPr lang="en"/>
              <a:t>*</a:t>
            </a:r>
            <a:r>
              <a:rPr lang="en"/>
              <a:t>p);   </a:t>
            </a:r>
            <a:endParaRPr/>
          </a:p>
          <a:p>
            <a:pPr indent="0" lvl="0" marL="0" rtl="0" algn="l">
              <a:spcBef>
                <a:spcPts val="0"/>
              </a:spcBef>
              <a:spcAft>
                <a:spcPts val="0"/>
              </a:spcAft>
              <a:buClr>
                <a:schemeClr val="dk1"/>
              </a:buClr>
              <a:buSzPts val="1100"/>
              <a:buFont typeface="Arial"/>
              <a:buNone/>
            </a:pPr>
            <a:r>
              <a:rPr lang="en">
                <a:solidFill>
                  <a:srgbClr val="EE0000"/>
                </a:solidFill>
              </a:rPr>
              <a:t>/*</a:t>
            </a:r>
            <a:r>
              <a:rPr lang="en"/>
              <a:t> </a:t>
            </a:r>
            <a:r>
              <a:rPr lang="en">
                <a:solidFill>
                  <a:srgbClr val="EE0000"/>
                </a:solidFill>
              </a:rPr>
              <a:t>→  z = ((a + 28) &lt; (*p) ? (a + 28) : (</a:t>
            </a:r>
            <a:r>
              <a:rPr lang="en">
                <a:solidFill>
                  <a:srgbClr val="EE0000"/>
                </a:solidFill>
              </a:rPr>
              <a:t>*</a:t>
            </a:r>
            <a:r>
              <a:rPr lang="en">
                <a:solidFill>
                  <a:srgbClr val="EE0000"/>
                </a:solidFill>
              </a:rPr>
              <a:t>p)); </a:t>
            </a:r>
            <a:r>
              <a:rPr lang="en">
                <a:solidFill>
                  <a:srgbClr val="EE0000"/>
                </a:solidFill>
              </a:rPr>
              <a:t>*/</a:t>
            </a:r>
            <a:endParaRPr>
              <a:solidFill>
                <a:srgbClr val="EE0000"/>
              </a:solidFill>
            </a:endParaRPr>
          </a:p>
          <a:p>
            <a:pPr indent="0" lvl="0" marL="0" rtl="0" algn="l">
              <a:spcBef>
                <a:spcPts val="0"/>
              </a:spcBef>
              <a:spcAft>
                <a:spcPts val="0"/>
              </a:spcAft>
              <a:buNone/>
            </a:pPr>
            <a:r>
              <a:t/>
            </a:r>
            <a:endParaRPr/>
          </a:p>
        </p:txBody>
      </p:sp>
      <p:sp>
        <p:nvSpPr>
          <p:cNvPr id="121" name="Google Shape;121;p23"/>
          <p:cNvSpPr txBox="1"/>
          <p:nvPr>
            <p:ph idx="2" type="body"/>
          </p:nvPr>
        </p:nvSpPr>
        <p:spPr>
          <a:xfrm>
            <a:off x="6132900" y="1267825"/>
            <a:ext cx="2720100" cy="320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foo(x) x, "x"</a:t>
            </a:r>
            <a:endParaRPr/>
          </a:p>
          <a:p>
            <a:pPr indent="0" lvl="0" marL="0" rtl="0" algn="l">
              <a:spcBef>
                <a:spcPts val="0"/>
              </a:spcBef>
              <a:spcAft>
                <a:spcPts val="0"/>
              </a:spcAft>
              <a:buNone/>
            </a:pPr>
            <a:r>
              <a:rPr lang="en"/>
              <a:t>foo(bar)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EE0000"/>
                </a:solidFill>
              </a:rPr>
              <a:t>/*</a:t>
            </a:r>
            <a:endParaRPr>
              <a:solidFill>
                <a:srgbClr val="EE0000"/>
              </a:solidFill>
            </a:endParaRPr>
          </a:p>
          <a:p>
            <a:pPr indent="0" lvl="0" marL="0" rtl="0" algn="l">
              <a:spcBef>
                <a:spcPts val="0"/>
              </a:spcBef>
              <a:spcAft>
                <a:spcPts val="0"/>
              </a:spcAft>
              <a:buNone/>
            </a:pPr>
            <a:r>
              <a:rPr lang="en">
                <a:solidFill>
                  <a:srgbClr val="EE0000"/>
                </a:solidFill>
              </a:rPr>
              <a:t>→ bar, "x" </a:t>
            </a:r>
            <a:endParaRPr>
              <a:solidFill>
                <a:srgbClr val="EE0000"/>
              </a:solidFill>
            </a:endParaRPr>
          </a:p>
          <a:p>
            <a:pPr indent="0" lvl="0" marL="0" rtl="0" algn="l">
              <a:spcBef>
                <a:spcPts val="0"/>
              </a:spcBef>
              <a:spcAft>
                <a:spcPts val="0"/>
              </a:spcAft>
              <a:buClr>
                <a:schemeClr val="dk1"/>
              </a:buClr>
              <a:buSzPts val="1100"/>
              <a:buFont typeface="Arial"/>
              <a:buNone/>
            </a:pPr>
            <a:r>
              <a:rPr lang="en">
                <a:solidFill>
                  <a:srgbClr val="EE0000"/>
                </a:solidFill>
              </a:rPr>
              <a:t>*/</a:t>
            </a:r>
            <a:endParaRPr>
              <a:solidFill>
                <a:srgbClr val="EE0000"/>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sp>
        <p:nvSpPr>
          <p:cNvPr id="122" name="Google Shape;122;p23"/>
          <p:cNvSpPr txBox="1"/>
          <p:nvPr/>
        </p:nvSpPr>
        <p:spPr>
          <a:xfrm>
            <a:off x="311700" y="4771600"/>
            <a:ext cx="792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https://gcc.gnu.org/onlinedocs/cpp/Macros.html#Macros</a:t>
            </a:r>
            <a:r>
              <a:rPr lang="en" sz="1000"/>
              <a:t> </a:t>
            </a:r>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555600"/>
            <a:ext cx="5316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 pitfalls-misnesting</a:t>
            </a:r>
            <a:endParaRPr/>
          </a:p>
        </p:txBody>
      </p:sp>
      <p:sp>
        <p:nvSpPr>
          <p:cNvPr id="128" name="Google Shape;128;p24"/>
          <p:cNvSpPr txBox="1"/>
          <p:nvPr>
            <p:ph idx="2" type="body"/>
          </p:nvPr>
        </p:nvSpPr>
        <p:spPr>
          <a:xfrm>
            <a:off x="488125" y="1496425"/>
            <a:ext cx="37206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twice(x) (2*(x))</a:t>
            </a:r>
            <a:endParaRPr/>
          </a:p>
          <a:p>
            <a:pPr indent="0" lvl="0" marL="0" rtl="0" algn="l">
              <a:spcBef>
                <a:spcPts val="0"/>
              </a:spcBef>
              <a:spcAft>
                <a:spcPts val="0"/>
              </a:spcAft>
              <a:buNone/>
            </a:pPr>
            <a:r>
              <a:rPr lang="en"/>
              <a:t>#define call_with_1(x) x(1)</a:t>
            </a:r>
            <a:endParaRPr/>
          </a:p>
          <a:p>
            <a:pPr indent="0" lvl="0" marL="0" rtl="0" algn="l">
              <a:spcBef>
                <a:spcPts val="0"/>
              </a:spcBef>
              <a:spcAft>
                <a:spcPts val="0"/>
              </a:spcAft>
              <a:buNone/>
            </a:pPr>
            <a:r>
              <a:rPr lang="en"/>
              <a:t>call_with_1 (twice)</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sz="1100">
                <a:solidFill>
                  <a:srgbClr val="EE0000"/>
                </a:solidFill>
              </a:rPr>
              <a:t>/*after preprocessing</a:t>
            </a:r>
            <a:endParaRPr i="1" sz="1100">
              <a:solidFill>
                <a:srgbClr val="EE0000"/>
              </a:solidFill>
            </a:endParaRPr>
          </a:p>
          <a:p>
            <a:pPr indent="0" lvl="0" marL="0" rtl="0" algn="l">
              <a:spcBef>
                <a:spcPts val="0"/>
              </a:spcBef>
              <a:spcAft>
                <a:spcPts val="0"/>
              </a:spcAft>
              <a:buNone/>
            </a:pPr>
            <a:r>
              <a:rPr lang="en"/>
              <a:t>   </a:t>
            </a:r>
            <a:r>
              <a:rPr i="1" lang="en" sz="1100">
                <a:solidFill>
                  <a:srgbClr val="EE0000"/>
                </a:solidFill>
              </a:rPr>
              <a:t> → twice(1)</a:t>
            </a:r>
            <a:endParaRPr i="1" sz="1100">
              <a:solidFill>
                <a:srgbClr val="EE0000"/>
              </a:solidFill>
            </a:endParaRPr>
          </a:p>
          <a:p>
            <a:pPr indent="0" lvl="0" marL="0" rtl="0" algn="l">
              <a:spcBef>
                <a:spcPts val="0"/>
              </a:spcBef>
              <a:spcAft>
                <a:spcPts val="0"/>
              </a:spcAft>
              <a:buNone/>
            </a:pPr>
            <a:r>
              <a:rPr i="1" lang="en" sz="1100">
                <a:solidFill>
                  <a:srgbClr val="EE0000"/>
                </a:solidFill>
              </a:rPr>
              <a:t>     → (2*(1))</a:t>
            </a:r>
            <a:endParaRPr i="1" sz="1100">
              <a:solidFill>
                <a:srgbClr val="EE0000"/>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a:p>
            <a:pPr indent="0" lvl="0" marL="0" rtl="0" algn="l">
              <a:spcBef>
                <a:spcPts val="0"/>
              </a:spcBef>
              <a:spcAft>
                <a:spcPts val="0"/>
              </a:spcAft>
              <a:buNone/>
            </a:pPr>
            <a:r>
              <a:t/>
            </a:r>
            <a:endParaRPr i="1" sz="1100">
              <a:solidFill>
                <a:srgbClr val="EE0000"/>
              </a:solidFill>
            </a:endParaRPr>
          </a:p>
        </p:txBody>
      </p:sp>
      <p:sp>
        <p:nvSpPr>
          <p:cNvPr id="129" name="Google Shape;129;p24"/>
          <p:cNvSpPr txBox="1"/>
          <p:nvPr/>
        </p:nvSpPr>
        <p:spPr>
          <a:xfrm>
            <a:off x="311700" y="4771600"/>
            <a:ext cx="792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https://gcc.gnu.org/onlinedocs/cpp/Macros.html#Macros</a:t>
            </a:r>
            <a:r>
              <a:rPr lang="en" sz="1000"/>
              <a:t> </a:t>
            </a:r>
            <a:endParaRPr sz="1000"/>
          </a:p>
        </p:txBody>
      </p:sp>
      <p:sp>
        <p:nvSpPr>
          <p:cNvPr id="130" name="Google Shape;130;p24"/>
          <p:cNvSpPr txBox="1"/>
          <p:nvPr/>
        </p:nvSpPr>
        <p:spPr>
          <a:xfrm>
            <a:off x="4676425" y="1546200"/>
            <a:ext cx="3673500" cy="191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//the use of unbalanced open parentheses in a macro body is just confusing, and should be avoided.</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chemeClr val="dk1"/>
                </a:solidFill>
                <a:latin typeface="Consolas"/>
                <a:ea typeface="Consolas"/>
                <a:cs typeface="Consolas"/>
                <a:sym typeface="Consolas"/>
              </a:rPr>
              <a:t>#define strange(file) fprintf (file, "%s %d",</a:t>
            </a:r>
            <a:endParaRPr i="1"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chemeClr val="dk1"/>
                </a:solidFill>
                <a:latin typeface="Consolas"/>
                <a:ea typeface="Consolas"/>
                <a:cs typeface="Consolas"/>
                <a:sym typeface="Consolas"/>
              </a:rPr>
              <a:t>…</a:t>
            </a:r>
            <a:endParaRPr i="1"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chemeClr val="dk1"/>
                </a:solidFill>
                <a:latin typeface="Consolas"/>
                <a:ea typeface="Consolas"/>
                <a:cs typeface="Consolas"/>
                <a:sym typeface="Consolas"/>
              </a:rPr>
              <a:t>strange(stderr) p, 35)</a:t>
            </a:r>
            <a:endParaRPr i="1"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i="1"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 fprintf (stderr, "%s %d", p, 35)</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a:t>
            </a:r>
            <a:endParaRPr i="1" sz="1100">
              <a:solidFill>
                <a:srgbClr val="EE0000"/>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182450" y="273675"/>
            <a:ext cx="5445300" cy="103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 pitfalls-</a:t>
            </a:r>
            <a:r>
              <a:rPr lang="en"/>
              <a:t>Operator Precedence Problems</a:t>
            </a:r>
            <a:endParaRPr/>
          </a:p>
        </p:txBody>
      </p:sp>
      <p:sp>
        <p:nvSpPr>
          <p:cNvPr id="136" name="Google Shape;136;p25"/>
          <p:cNvSpPr txBox="1"/>
          <p:nvPr>
            <p:ph idx="2" type="body"/>
          </p:nvPr>
        </p:nvSpPr>
        <p:spPr>
          <a:xfrm>
            <a:off x="147350" y="1496425"/>
            <a:ext cx="44247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ceil_div(x, y) (x + y - 1) / 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 ceil_div (b &amp; c, sizeof (int));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sz="1100">
                <a:solidFill>
                  <a:srgbClr val="EE0000"/>
                </a:solidFill>
              </a:rPr>
              <a:t>/*after preprocessing</a:t>
            </a:r>
            <a:endParaRPr i="1" sz="1100">
              <a:solidFill>
                <a:srgbClr val="EE0000"/>
              </a:solidFill>
            </a:endParaRPr>
          </a:p>
          <a:p>
            <a:pPr indent="0" lvl="0" marL="0" rtl="0" algn="l">
              <a:spcBef>
                <a:spcPts val="0"/>
              </a:spcBef>
              <a:spcAft>
                <a:spcPts val="0"/>
              </a:spcAft>
              <a:buNone/>
            </a:pPr>
            <a:r>
              <a:rPr lang="en"/>
              <a:t>   </a:t>
            </a:r>
            <a:r>
              <a:rPr i="1" lang="en" sz="1100">
                <a:solidFill>
                  <a:srgbClr val="EE0000"/>
                </a:solidFill>
              </a:rPr>
              <a:t> </a:t>
            </a:r>
            <a:r>
              <a:rPr i="1" lang="en" sz="1100">
                <a:solidFill>
                  <a:srgbClr val="EE0000"/>
                </a:solidFill>
              </a:rPr>
              <a:t>→ a = (b &amp; c + sizeof (int) - 1) / sizeof (int);</a:t>
            </a:r>
            <a:endParaRPr i="1" sz="1100">
              <a:solidFill>
                <a:srgbClr val="EE0000"/>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a:p>
            <a:pPr indent="0" lvl="0" marL="0" rtl="0" algn="l">
              <a:spcBef>
                <a:spcPts val="0"/>
              </a:spcBef>
              <a:spcAft>
                <a:spcPts val="0"/>
              </a:spcAft>
              <a:buNone/>
            </a:pPr>
            <a:r>
              <a:t/>
            </a:r>
            <a:endParaRPr i="1" sz="1100">
              <a:solidFill>
                <a:srgbClr val="EE0000"/>
              </a:solidFill>
            </a:endParaRPr>
          </a:p>
          <a:p>
            <a:pPr indent="0" lvl="0" marL="0" rtl="0" algn="l">
              <a:spcBef>
                <a:spcPts val="0"/>
              </a:spcBef>
              <a:spcAft>
                <a:spcPts val="0"/>
              </a:spcAft>
              <a:buNone/>
            </a:pPr>
            <a:r>
              <a:rPr i="1" lang="en" sz="1100">
                <a:solidFill>
                  <a:srgbClr val="EE0000"/>
                </a:solidFill>
              </a:rPr>
              <a:t>Solution:</a:t>
            </a:r>
            <a:r>
              <a:rPr i="1" lang="en" sz="1100">
                <a:solidFill>
                  <a:srgbClr val="EE0000"/>
                </a:solidFill>
              </a:rPr>
              <a:t> each occurrence of a macro argument name should have parentheses around it.</a:t>
            </a:r>
            <a:endParaRPr i="1" sz="1100">
              <a:solidFill>
                <a:srgbClr val="EE0000"/>
              </a:solidFill>
            </a:endParaRPr>
          </a:p>
        </p:txBody>
      </p:sp>
      <p:sp>
        <p:nvSpPr>
          <p:cNvPr id="137" name="Google Shape;137;p25"/>
          <p:cNvSpPr txBox="1"/>
          <p:nvPr/>
        </p:nvSpPr>
        <p:spPr>
          <a:xfrm>
            <a:off x="311700" y="4771600"/>
            <a:ext cx="792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https://gcc.gnu.org/onlinedocs/cpp/Macros.html#Macros</a:t>
            </a:r>
            <a:r>
              <a:rPr lang="en" sz="1000"/>
              <a:t> </a:t>
            </a:r>
            <a:endParaRPr sz="1000"/>
          </a:p>
        </p:txBody>
      </p:sp>
      <p:sp>
        <p:nvSpPr>
          <p:cNvPr id="138" name="Google Shape;138;p25"/>
          <p:cNvSpPr txBox="1"/>
          <p:nvPr/>
        </p:nvSpPr>
        <p:spPr>
          <a:xfrm>
            <a:off x="4550125" y="1241400"/>
            <a:ext cx="4551000" cy="308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/*What is the problem here?*/</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#define min(a,b) a &lt; b ? a : b</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main() {</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x = 4;</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rPr lang="en">
                <a:solidFill>
                  <a:schemeClr val="dk1"/>
                </a:solidFill>
                <a:latin typeface="Consolas"/>
                <a:ea typeface="Consolas"/>
                <a:cs typeface="Consolas"/>
                <a:sym typeface="Consolas"/>
              </a:rPr>
              <a:t>if(min(x++, 5)) printf("%d is six", x);</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r = 10 + min(99, 100);</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rPr lang="en">
                <a:solidFill>
                  <a:schemeClr val="dk1"/>
                </a:solidFill>
                <a:latin typeface="Consolas"/>
                <a:ea typeface="Consolas"/>
                <a:cs typeface="Consolas"/>
                <a:sym typeface="Consolas"/>
              </a:rPr>
              <a:t>printf("r is %d", r);</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rPr lang="en">
                <a:solidFill>
                  <a:schemeClr val="dk1"/>
                </a:solidFill>
                <a:latin typeface="Consolas"/>
                <a:ea typeface="Consolas"/>
                <a:cs typeface="Consolas"/>
                <a:sym typeface="Consolas"/>
              </a:rPr>
              <a:t>return 0;</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i="1" sz="1100">
              <a:solidFill>
                <a:srgbClr val="EE0000"/>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Effect filter="fade" transition="in">
                                      <p:cBhvr>
                                        <p:cTn dur="1000"/>
                                        <p:tgtEl>
                                          <p:spTgt spid="1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animEffect filter="fade" transition="in">
                                      <p:cBhvr>
                                        <p:cTn dur="1000"/>
                                        <p:tgtEl>
                                          <p:spTgt spid="1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animEffect filter="fade" transition="in">
                                      <p:cBhvr>
                                        <p:cTn dur="1000"/>
                                        <p:tgtEl>
                                          <p:spTgt spid="1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animEffect filter="fade" transition="in">
                                      <p:cBhvr>
                                        <p:cTn dur="1000"/>
                                        <p:tgtEl>
                                          <p:spTgt spid="1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animEffect filter="fade" transition="in">
                                      <p:cBhvr>
                                        <p:cTn dur="1000"/>
                                        <p:tgtEl>
                                          <p:spTgt spid="1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animEffect filter="fade" transition="in">
                                      <p:cBhvr>
                                        <p:cTn dur="1000"/>
                                        <p:tgtEl>
                                          <p:spTgt spid="1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animEffect filter="fade" transition="in">
                                      <p:cBhvr>
                                        <p:cTn dur="1000"/>
                                        <p:tgtEl>
                                          <p:spTgt spid="13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7" st="7"/>
                                            </p:txEl>
                                          </p:spTgt>
                                        </p:tgtEl>
                                        <p:attrNameLst>
                                          <p:attrName>style.visibility</p:attrName>
                                        </p:attrNameLst>
                                      </p:cBhvr>
                                      <p:to>
                                        <p:strVal val="visible"/>
                                      </p:to>
                                    </p:set>
                                    <p:animEffect filter="fade" transition="in">
                                      <p:cBhvr>
                                        <p:cTn dur="1000"/>
                                        <p:tgtEl>
                                          <p:spTgt spid="13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8" st="8"/>
                                            </p:txEl>
                                          </p:spTgt>
                                        </p:tgtEl>
                                        <p:attrNameLst>
                                          <p:attrName>style.visibility</p:attrName>
                                        </p:attrNameLst>
                                      </p:cBhvr>
                                      <p:to>
                                        <p:strVal val="visible"/>
                                      </p:to>
                                    </p:set>
                                    <p:animEffect filter="fade" transition="in">
                                      <p:cBhvr>
                                        <p:cTn dur="1000"/>
                                        <p:tgtEl>
                                          <p:spTgt spid="13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9" st="9"/>
                                            </p:txEl>
                                          </p:spTgt>
                                        </p:tgtEl>
                                        <p:attrNameLst>
                                          <p:attrName>style.visibility</p:attrName>
                                        </p:attrNameLst>
                                      </p:cBhvr>
                                      <p:to>
                                        <p:strVal val="visible"/>
                                      </p:to>
                                    </p:set>
                                    <p:animEffect filter="fade" transition="in">
                                      <p:cBhvr>
                                        <p:cTn dur="1000"/>
                                        <p:tgtEl>
                                          <p:spTgt spid="13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10" st="10"/>
                                            </p:txEl>
                                          </p:spTgt>
                                        </p:tgtEl>
                                        <p:attrNameLst>
                                          <p:attrName>style.visibility</p:attrName>
                                        </p:attrNameLst>
                                      </p:cBhvr>
                                      <p:to>
                                        <p:strVal val="visible"/>
                                      </p:to>
                                    </p:set>
                                    <p:animEffect filter="fade" transition="in">
                                      <p:cBhvr>
                                        <p:cTn dur="1000"/>
                                        <p:tgtEl>
                                          <p:spTgt spid="13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182450" y="273675"/>
            <a:ext cx="5445300" cy="103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 pitfalls-duplication side effects</a:t>
            </a:r>
            <a:endParaRPr/>
          </a:p>
        </p:txBody>
      </p:sp>
      <p:sp>
        <p:nvSpPr>
          <p:cNvPr id="144" name="Google Shape;144;p26"/>
          <p:cNvSpPr txBox="1"/>
          <p:nvPr/>
        </p:nvSpPr>
        <p:spPr>
          <a:xfrm>
            <a:off x="311700" y="4771600"/>
            <a:ext cx="792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https://gcc.gnu.org/onlinedocs/cpp/Macros.html#Macros</a:t>
            </a:r>
            <a:r>
              <a:rPr lang="en" sz="1000"/>
              <a:t> </a:t>
            </a:r>
            <a:endParaRPr sz="1000"/>
          </a:p>
        </p:txBody>
      </p:sp>
      <p:sp>
        <p:nvSpPr>
          <p:cNvPr id="145" name="Google Shape;145;p26"/>
          <p:cNvSpPr txBox="1"/>
          <p:nvPr/>
        </p:nvSpPr>
        <p:spPr>
          <a:xfrm>
            <a:off x="1334575" y="1241400"/>
            <a:ext cx="7309200" cy="288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/*What is the problem here?*/</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#define min(X, Y)  ((X) &lt; (Y) ? (X) : (Y))</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main() {</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a:t>
            </a:r>
            <a:r>
              <a:rPr lang="en">
                <a:solidFill>
                  <a:schemeClr val="dk1"/>
                </a:solidFill>
                <a:latin typeface="Consolas"/>
                <a:ea typeface="Consolas"/>
                <a:cs typeface="Consolas"/>
                <a:sym typeface="Consolas"/>
              </a:rPr>
              <a:t>next = min (x + y, foo (z));</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/*after preprocessing</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latin typeface="Consolas"/>
                <a:ea typeface="Consolas"/>
                <a:cs typeface="Consolas"/>
                <a:sym typeface="Consolas"/>
              </a:rPr>
              <a:t>   </a:t>
            </a:r>
            <a:r>
              <a:rPr i="1" lang="en" sz="1100">
                <a:solidFill>
                  <a:srgbClr val="EE0000"/>
                </a:solidFill>
                <a:latin typeface="Consolas"/>
                <a:ea typeface="Consolas"/>
                <a:cs typeface="Consolas"/>
                <a:sym typeface="Consolas"/>
              </a:rPr>
              <a:t> → next = ((x + y) &lt; (foo (z)) ? (x + y) : (foo (z)));</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the expression foo (z) has been substituted twice into the macro expansion. </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rPr lang="en">
                <a:solidFill>
                  <a:schemeClr val="dk1"/>
                </a:solidFill>
                <a:latin typeface="Consolas"/>
                <a:ea typeface="Consolas"/>
                <a:cs typeface="Consolas"/>
                <a:sym typeface="Consolas"/>
              </a:rPr>
              <a:t>return 0;</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i="1" sz="1100">
              <a:solidFill>
                <a:srgbClr val="EE0000"/>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title"/>
          </p:nvPr>
        </p:nvSpPr>
        <p:spPr>
          <a:xfrm>
            <a:off x="182450" y="273675"/>
            <a:ext cx="5445300" cy="103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 pitfalls-swallowing semicolon</a:t>
            </a:r>
            <a:endParaRPr/>
          </a:p>
        </p:txBody>
      </p:sp>
      <p:sp>
        <p:nvSpPr>
          <p:cNvPr id="151" name="Google Shape;151;p27"/>
          <p:cNvSpPr txBox="1"/>
          <p:nvPr>
            <p:ph idx="2" type="body"/>
          </p:nvPr>
        </p:nvSpPr>
        <p:spPr>
          <a:xfrm>
            <a:off x="147350" y="1496425"/>
            <a:ext cx="44247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SKIP_SPACES(p, limit)  \</a:t>
            </a:r>
            <a:endParaRPr/>
          </a:p>
          <a:p>
            <a:pPr indent="0" lvl="0" marL="0" rtl="0" algn="l">
              <a:spcBef>
                <a:spcPts val="0"/>
              </a:spcBef>
              <a:spcAft>
                <a:spcPts val="0"/>
              </a:spcAft>
              <a:buNone/>
            </a:pPr>
            <a:r>
              <a:rPr lang="en"/>
              <a:t>{ char *lim = (limit);         \</a:t>
            </a:r>
            <a:endParaRPr/>
          </a:p>
          <a:p>
            <a:pPr indent="0" lvl="0" marL="0" rtl="0" algn="l">
              <a:spcBef>
                <a:spcPts val="0"/>
              </a:spcBef>
              <a:spcAft>
                <a:spcPts val="0"/>
              </a:spcAft>
              <a:buNone/>
            </a:pPr>
            <a:r>
              <a:rPr lang="en"/>
              <a:t>  while (p &lt; lim) {            \</a:t>
            </a:r>
            <a:endParaRPr/>
          </a:p>
          <a:p>
            <a:pPr indent="0" lvl="0" marL="0" rtl="0" algn="l">
              <a:spcBef>
                <a:spcPts val="0"/>
              </a:spcBef>
              <a:spcAft>
                <a:spcPts val="0"/>
              </a:spcAft>
              <a:buNone/>
            </a:pPr>
            <a:r>
              <a:rPr lang="en"/>
              <a:t>    if (*p++ != ' ') {         \</a:t>
            </a:r>
            <a:endParaRPr/>
          </a:p>
          <a:p>
            <a:pPr indent="0" lvl="0" marL="0" rtl="0" algn="l">
              <a:spcBef>
                <a:spcPts val="0"/>
              </a:spcBef>
              <a:spcAft>
                <a:spcPts val="0"/>
              </a:spcAft>
              <a:buNone/>
            </a:pPr>
            <a:r>
              <a:rPr lang="en"/>
              <a:t>      p--; break;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SKIP_SPACES (p, lim);</a:t>
            </a:r>
            <a:r>
              <a:rPr lang="en"/>
              <a:t>    </a:t>
            </a:r>
            <a:endParaRPr/>
          </a:p>
          <a:p>
            <a:pPr indent="0" lvl="0" marL="0" rtl="0" algn="l">
              <a:spcBef>
                <a:spcPts val="0"/>
              </a:spcBef>
              <a:spcAft>
                <a:spcPts val="0"/>
              </a:spcAft>
              <a:buNone/>
            </a:pPr>
            <a:r>
              <a:rPr lang="en">
                <a:solidFill>
                  <a:srgbClr val="EE0000"/>
                </a:solidFill>
              </a:rPr>
              <a:t>/* “;” causes problems before else */</a:t>
            </a:r>
            <a:endParaRPr>
              <a:solidFill>
                <a:srgbClr val="EE0000"/>
              </a:solidFill>
            </a:endParaRPr>
          </a:p>
          <a:p>
            <a:pPr indent="0" lvl="0" marL="0" rtl="0" algn="l">
              <a:spcBef>
                <a:spcPts val="0"/>
              </a:spcBef>
              <a:spcAft>
                <a:spcPts val="0"/>
              </a:spcAft>
              <a:buNone/>
            </a:pPr>
            <a:r>
              <a:t/>
            </a:r>
            <a:endParaRPr i="1" sz="1100">
              <a:solidFill>
                <a:srgbClr val="EE0000"/>
              </a:solidFill>
            </a:endParaRPr>
          </a:p>
          <a:p>
            <a:pPr indent="0" lvl="0" marL="0" rtl="0" algn="l">
              <a:spcBef>
                <a:spcPts val="0"/>
              </a:spcBef>
              <a:spcAft>
                <a:spcPts val="0"/>
              </a:spcAft>
              <a:buNone/>
            </a:pPr>
            <a:r>
              <a:rPr i="1" lang="en" sz="1100">
                <a:solidFill>
                  <a:srgbClr val="EE0000"/>
                </a:solidFill>
              </a:rPr>
              <a:t>if (*p != 0)</a:t>
            </a:r>
            <a:endParaRPr i="1" sz="1100">
              <a:solidFill>
                <a:srgbClr val="EE0000"/>
              </a:solidFill>
            </a:endParaRPr>
          </a:p>
          <a:p>
            <a:pPr indent="0" lvl="0" marL="0" rtl="0" algn="l">
              <a:spcBef>
                <a:spcPts val="0"/>
              </a:spcBef>
              <a:spcAft>
                <a:spcPts val="0"/>
              </a:spcAft>
              <a:buNone/>
            </a:pPr>
            <a:r>
              <a:rPr i="1" lang="en" sz="1100">
                <a:solidFill>
                  <a:srgbClr val="EE0000"/>
                </a:solidFill>
              </a:rPr>
              <a:t>  SKIP_SPACES (p, lim);</a:t>
            </a:r>
            <a:endParaRPr i="1" sz="1100">
              <a:solidFill>
                <a:srgbClr val="EE0000"/>
              </a:solidFill>
            </a:endParaRPr>
          </a:p>
          <a:p>
            <a:pPr indent="0" lvl="0" marL="0" rtl="0" algn="l">
              <a:spcBef>
                <a:spcPts val="0"/>
              </a:spcBef>
              <a:spcAft>
                <a:spcPts val="0"/>
              </a:spcAft>
              <a:buNone/>
            </a:pPr>
            <a:r>
              <a:rPr i="1" lang="en" sz="1100">
                <a:solidFill>
                  <a:srgbClr val="EE0000"/>
                </a:solidFill>
              </a:rPr>
              <a:t>else …</a:t>
            </a:r>
            <a:endParaRPr i="1" sz="1100">
              <a:solidFill>
                <a:srgbClr val="EE0000"/>
              </a:solidFill>
            </a:endParaRPr>
          </a:p>
          <a:p>
            <a:pPr indent="0" lvl="0" marL="0" rtl="0" algn="l">
              <a:spcBef>
                <a:spcPts val="0"/>
              </a:spcBef>
              <a:spcAft>
                <a:spcPts val="0"/>
              </a:spcAft>
              <a:buNone/>
            </a:pPr>
            <a:r>
              <a:t/>
            </a:r>
            <a:endParaRPr i="1" sz="1100">
              <a:solidFill>
                <a:srgbClr val="EE0000"/>
              </a:solidFill>
            </a:endParaRPr>
          </a:p>
        </p:txBody>
      </p:sp>
      <p:sp>
        <p:nvSpPr>
          <p:cNvPr id="152" name="Google Shape;152;p27"/>
          <p:cNvSpPr txBox="1"/>
          <p:nvPr/>
        </p:nvSpPr>
        <p:spPr>
          <a:xfrm>
            <a:off x="311700" y="4771600"/>
            <a:ext cx="792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https://gcc.gnu.org/onlinedocs/cpp/Macros.html#Macros</a:t>
            </a:r>
            <a:r>
              <a:rPr lang="en" sz="1000"/>
              <a:t> </a:t>
            </a:r>
            <a:endParaRPr sz="1000"/>
          </a:p>
        </p:txBody>
      </p:sp>
      <p:sp>
        <p:nvSpPr>
          <p:cNvPr id="153" name="Google Shape;153;p27"/>
          <p:cNvSpPr txBox="1"/>
          <p:nvPr/>
        </p:nvSpPr>
        <p:spPr>
          <a:xfrm>
            <a:off x="4550125" y="1241400"/>
            <a:ext cx="4551000" cy="357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/*solution*/</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#define SKIP_SPACES(p, limit)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do { char *lim = (limit);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while (p &lt; lim) {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if (*p++ != ' ') {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p--; break; }}}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while (0)</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SKIP_SPACES (p, lim);</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/*after preprocessing</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latin typeface="Consolas"/>
                <a:ea typeface="Consolas"/>
                <a:cs typeface="Consolas"/>
                <a:sym typeface="Consolas"/>
              </a:rPr>
              <a:t>   </a:t>
            </a:r>
            <a:r>
              <a:rPr i="1" lang="en" sz="1100">
                <a:solidFill>
                  <a:srgbClr val="EE0000"/>
                </a:solidFill>
                <a:latin typeface="Consolas"/>
                <a:ea typeface="Consolas"/>
                <a:cs typeface="Consolas"/>
                <a:sym typeface="Consolas"/>
              </a:rPr>
              <a:t> expands into</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do {…} while (0);</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i="1" sz="1100">
              <a:solidFill>
                <a:srgbClr val="EE0000"/>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animEffect filter="fade" transition="in">
                                      <p:cBhvr>
                                        <p:cTn dur="1000"/>
                                        <p:tgtEl>
                                          <p:spTgt spid="1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animEffect filter="fade" transition="in">
                                      <p:cBhvr>
                                        <p:cTn dur="1000"/>
                                        <p:tgtEl>
                                          <p:spTgt spid="1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animEffect filter="fade" transition="in">
                                      <p:cBhvr>
                                        <p:cTn dur="1000"/>
                                        <p:tgtEl>
                                          <p:spTgt spid="1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animEffect filter="fade" transition="in">
                                      <p:cBhvr>
                                        <p:cTn dur="1000"/>
                                        <p:tgtEl>
                                          <p:spTgt spid="1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animEffect filter="fade" transition="in">
                                      <p:cBhvr>
                                        <p:cTn dur="1000"/>
                                        <p:tgtEl>
                                          <p:spTgt spid="1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animEffect filter="fade" transition="in">
                                      <p:cBhvr>
                                        <p:cTn dur="1000"/>
                                        <p:tgtEl>
                                          <p:spTgt spid="1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6" st="6"/>
                                            </p:txEl>
                                          </p:spTgt>
                                        </p:tgtEl>
                                        <p:attrNameLst>
                                          <p:attrName>style.visibility</p:attrName>
                                        </p:attrNameLst>
                                      </p:cBhvr>
                                      <p:to>
                                        <p:strVal val="visible"/>
                                      </p:to>
                                    </p:set>
                                    <p:animEffect filter="fade" transition="in">
                                      <p:cBhvr>
                                        <p:cTn dur="1000"/>
                                        <p:tgtEl>
                                          <p:spTgt spid="1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7" st="7"/>
                                            </p:txEl>
                                          </p:spTgt>
                                        </p:tgtEl>
                                        <p:attrNameLst>
                                          <p:attrName>style.visibility</p:attrName>
                                        </p:attrNameLst>
                                      </p:cBhvr>
                                      <p:to>
                                        <p:strVal val="visible"/>
                                      </p:to>
                                    </p:set>
                                    <p:animEffect filter="fade" transition="in">
                                      <p:cBhvr>
                                        <p:cTn dur="1000"/>
                                        <p:tgtEl>
                                          <p:spTgt spid="15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8" st="8"/>
                                            </p:txEl>
                                          </p:spTgt>
                                        </p:tgtEl>
                                        <p:attrNameLst>
                                          <p:attrName>style.visibility</p:attrName>
                                        </p:attrNameLst>
                                      </p:cBhvr>
                                      <p:to>
                                        <p:strVal val="visible"/>
                                      </p:to>
                                    </p:set>
                                    <p:animEffect filter="fade" transition="in">
                                      <p:cBhvr>
                                        <p:cTn dur="1000"/>
                                        <p:tgtEl>
                                          <p:spTgt spid="15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9" st="9"/>
                                            </p:txEl>
                                          </p:spTgt>
                                        </p:tgtEl>
                                        <p:attrNameLst>
                                          <p:attrName>style.visibility</p:attrName>
                                        </p:attrNameLst>
                                      </p:cBhvr>
                                      <p:to>
                                        <p:strVal val="visible"/>
                                      </p:to>
                                    </p:set>
                                    <p:animEffect filter="fade" transition="in">
                                      <p:cBhvr>
                                        <p:cTn dur="1000"/>
                                        <p:tgtEl>
                                          <p:spTgt spid="15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0" st="10"/>
                                            </p:txEl>
                                          </p:spTgt>
                                        </p:tgtEl>
                                        <p:attrNameLst>
                                          <p:attrName>style.visibility</p:attrName>
                                        </p:attrNameLst>
                                      </p:cBhvr>
                                      <p:to>
                                        <p:strVal val="visible"/>
                                      </p:to>
                                    </p:set>
                                    <p:animEffect filter="fade" transition="in">
                                      <p:cBhvr>
                                        <p:cTn dur="1000"/>
                                        <p:tgtEl>
                                          <p:spTgt spid="15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1" st="11"/>
                                            </p:txEl>
                                          </p:spTgt>
                                        </p:tgtEl>
                                        <p:attrNameLst>
                                          <p:attrName>style.visibility</p:attrName>
                                        </p:attrNameLst>
                                      </p:cBhvr>
                                      <p:to>
                                        <p:strVal val="visible"/>
                                      </p:to>
                                    </p:set>
                                    <p:animEffect filter="fade" transition="in">
                                      <p:cBhvr>
                                        <p:cTn dur="1000"/>
                                        <p:tgtEl>
                                          <p:spTgt spid="15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2" st="12"/>
                                            </p:txEl>
                                          </p:spTgt>
                                        </p:tgtEl>
                                        <p:attrNameLst>
                                          <p:attrName>style.visibility</p:attrName>
                                        </p:attrNameLst>
                                      </p:cBhvr>
                                      <p:to>
                                        <p:strVal val="visible"/>
                                      </p:to>
                                    </p:set>
                                    <p:animEffect filter="fade" transition="in">
                                      <p:cBhvr>
                                        <p:cTn dur="1000"/>
                                        <p:tgtEl>
                                          <p:spTgt spid="15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3" st="13"/>
                                            </p:txEl>
                                          </p:spTgt>
                                        </p:tgtEl>
                                        <p:attrNameLst>
                                          <p:attrName>style.visibility</p:attrName>
                                        </p:attrNameLst>
                                      </p:cBhvr>
                                      <p:to>
                                        <p:strVal val="visible"/>
                                      </p:to>
                                    </p:set>
                                    <p:animEffect filter="fade" transition="in">
                                      <p:cBhvr>
                                        <p:cTn dur="1000"/>
                                        <p:tgtEl>
                                          <p:spTgt spid="15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 conditionals</a:t>
            </a:r>
            <a:endParaRPr/>
          </a:p>
        </p:txBody>
      </p:sp>
      <p:sp>
        <p:nvSpPr>
          <p:cNvPr id="159" name="Google Shape;159;p28"/>
          <p:cNvSpPr txBox="1"/>
          <p:nvPr>
            <p:ph idx="2" type="body"/>
          </p:nvPr>
        </p:nvSpPr>
        <p:spPr>
          <a:xfrm>
            <a:off x="1525225" y="1341050"/>
            <a:ext cx="6345300" cy="325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t>int main() {</a:t>
            </a:r>
            <a:endParaRPr sz="1300"/>
          </a:p>
          <a:p>
            <a:pPr indent="457200" lvl="0" marL="0" rtl="0" algn="l">
              <a:spcBef>
                <a:spcPts val="0"/>
              </a:spcBef>
              <a:spcAft>
                <a:spcPts val="0"/>
              </a:spcAft>
              <a:buClr>
                <a:schemeClr val="dk1"/>
              </a:buClr>
              <a:buSzPts val="1100"/>
              <a:buFont typeface="Arial"/>
              <a:buNone/>
            </a:pPr>
            <a:r>
              <a:rPr lang="en" sz="1300"/>
              <a:t>#ifdef __GNUC__</a:t>
            </a:r>
            <a:endParaRPr sz="1300"/>
          </a:p>
          <a:p>
            <a:pPr indent="457200" lvl="0" marL="0" rtl="0" algn="l">
              <a:spcBef>
                <a:spcPts val="0"/>
              </a:spcBef>
              <a:spcAft>
                <a:spcPts val="0"/>
              </a:spcAft>
              <a:buClr>
                <a:schemeClr val="dk1"/>
              </a:buClr>
              <a:buSzPts val="1100"/>
              <a:buFont typeface="Arial"/>
              <a:buNone/>
            </a:pPr>
            <a:r>
              <a:rPr lang="en" sz="1300"/>
              <a:t>return 1;</a:t>
            </a:r>
            <a:endParaRPr sz="1300"/>
          </a:p>
          <a:p>
            <a:pPr indent="457200" lvl="0" marL="0" rtl="0" algn="l">
              <a:spcBef>
                <a:spcPts val="0"/>
              </a:spcBef>
              <a:spcAft>
                <a:spcPts val="0"/>
              </a:spcAft>
              <a:buClr>
                <a:schemeClr val="dk1"/>
              </a:buClr>
              <a:buSzPts val="1100"/>
              <a:buFont typeface="Arial"/>
              <a:buNone/>
            </a:pPr>
            <a:r>
              <a:rPr lang="en" sz="1300"/>
              <a:t>#else</a:t>
            </a:r>
            <a:endParaRPr sz="1300"/>
          </a:p>
          <a:p>
            <a:pPr indent="457200" lvl="0" marL="0" rtl="0" algn="l">
              <a:spcBef>
                <a:spcPts val="0"/>
              </a:spcBef>
              <a:spcAft>
                <a:spcPts val="0"/>
              </a:spcAft>
              <a:buClr>
                <a:schemeClr val="dk1"/>
              </a:buClr>
              <a:buSzPts val="1100"/>
              <a:buFont typeface="Arial"/>
              <a:buNone/>
            </a:pPr>
            <a:r>
              <a:rPr lang="en" sz="1300"/>
              <a:t>return 0;</a:t>
            </a:r>
            <a:endParaRPr sz="1300"/>
          </a:p>
          <a:p>
            <a:pPr indent="457200" lvl="0" marL="0" rtl="0" algn="l">
              <a:spcBef>
                <a:spcPts val="0"/>
              </a:spcBef>
              <a:spcAft>
                <a:spcPts val="0"/>
              </a:spcAft>
              <a:buClr>
                <a:schemeClr val="dk1"/>
              </a:buClr>
              <a:buSzPts val="1100"/>
              <a:buFont typeface="Arial"/>
              <a:buNone/>
            </a:pPr>
            <a:r>
              <a:rPr lang="en" sz="1300"/>
              <a:t>#endif</a:t>
            </a:r>
            <a:endParaRPr sz="1300"/>
          </a:p>
          <a:p>
            <a:pPr indent="0" lvl="0" marL="0" rtl="0" algn="l">
              <a:spcBef>
                <a:spcPts val="0"/>
              </a:spcBef>
              <a:spcAft>
                <a:spcPts val="0"/>
              </a:spcAft>
              <a:buClr>
                <a:schemeClr val="dk1"/>
              </a:buClr>
              <a:buSzPts val="1100"/>
              <a:buFont typeface="Arial"/>
              <a:buNone/>
            </a:pPr>
            <a:r>
              <a:rPr lang="en" sz="1300"/>
              <a:t>}</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 sz="1300"/>
              <a:t>$ gcc -E main.c &gt;main.i</a:t>
            </a:r>
            <a:endParaRPr sz="1300"/>
          </a:p>
          <a:p>
            <a:pPr indent="0" lvl="0" marL="0" rtl="0" algn="l">
              <a:spcBef>
                <a:spcPts val="0"/>
              </a:spcBef>
              <a:spcAft>
                <a:spcPts val="0"/>
              </a:spcAft>
              <a:buClr>
                <a:schemeClr val="dk1"/>
              </a:buClr>
              <a:buSzPts val="1100"/>
              <a:buFont typeface="Arial"/>
              <a:buNone/>
            </a:pPr>
            <a:r>
              <a:rPr lang="en" sz="1300"/>
              <a:t>…</a:t>
            </a:r>
            <a:endParaRPr sz="1300"/>
          </a:p>
          <a:p>
            <a:pPr indent="0" lvl="0" marL="0" rtl="0" algn="l">
              <a:spcBef>
                <a:spcPts val="0"/>
              </a:spcBef>
              <a:spcAft>
                <a:spcPts val="0"/>
              </a:spcAft>
              <a:buClr>
                <a:schemeClr val="dk1"/>
              </a:buClr>
              <a:buSzPts val="1100"/>
              <a:buFont typeface="Arial"/>
              <a:buNone/>
            </a:pPr>
            <a:r>
              <a:rPr lang="en" sz="1300"/>
              <a:t>int main() {</a:t>
            </a:r>
            <a:endParaRPr sz="1300"/>
          </a:p>
          <a:p>
            <a:pPr indent="0" lvl="0" marL="0" rtl="0" algn="l">
              <a:spcBef>
                <a:spcPts val="0"/>
              </a:spcBef>
              <a:spcAft>
                <a:spcPts val="0"/>
              </a:spcAft>
              <a:buClr>
                <a:schemeClr val="dk1"/>
              </a:buClr>
              <a:buSzPts val="1100"/>
              <a:buFont typeface="Arial"/>
              <a:buNone/>
            </a:pPr>
            <a:r>
              <a:rPr lang="en" sz="1300"/>
              <a:t> return 1;</a:t>
            </a:r>
            <a:endParaRPr sz="1300"/>
          </a:p>
          <a:p>
            <a:pPr indent="0" lvl="0" marL="0" rtl="0" algn="l">
              <a:spcBef>
                <a:spcPts val="0"/>
              </a:spcBef>
              <a:spcAft>
                <a:spcPts val="0"/>
              </a:spcAft>
              <a:buClr>
                <a:schemeClr val="dk1"/>
              </a:buClr>
              <a:buSzPts val="1100"/>
              <a:buFont typeface="Arial"/>
              <a:buNone/>
            </a:pPr>
            <a:r>
              <a:rPr lang="en" sz="1300"/>
              <a:t>}</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 sz="1300"/>
              <a:t>In different compiler you would get return 0</a:t>
            </a:r>
            <a:endParaRPr sz="1300"/>
          </a:p>
          <a:p>
            <a:pPr indent="0" lvl="0" marL="0" rtl="0" algn="l">
              <a:spcBef>
                <a:spcPts val="0"/>
              </a:spcBef>
              <a:spcAft>
                <a:spcPts val="0"/>
              </a:spcAft>
              <a:buNone/>
            </a:pPr>
            <a:r>
              <a:t/>
            </a:r>
            <a:endParaRPr sz="1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 keywords</a:t>
            </a:r>
            <a:endParaRPr/>
          </a:p>
        </p:txBody>
      </p:sp>
      <p:sp>
        <p:nvSpPr>
          <p:cNvPr id="165" name="Google Shape;165;p29"/>
          <p:cNvSpPr txBox="1"/>
          <p:nvPr>
            <p:ph idx="1" type="body"/>
          </p:nvPr>
        </p:nvSpPr>
        <p:spPr>
          <a:xfrm>
            <a:off x="311700" y="1152475"/>
            <a:ext cx="4470300" cy="3819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latin typeface="Consolas"/>
                <a:ea typeface="Consolas"/>
                <a:cs typeface="Consolas"/>
                <a:sym typeface="Consolas"/>
              </a:rPr>
              <a:t>extern, break, const, continue</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do{} while{}; </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enum</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for (initialization; check; update) {}</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if{} else{}</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inline</a:t>
            </a:r>
            <a:endParaRPr b="1">
              <a:latin typeface="Consolas"/>
              <a:ea typeface="Consolas"/>
              <a:cs typeface="Consolas"/>
              <a:sym typeface="Consolas"/>
            </a:endParaRPr>
          </a:p>
          <a:p>
            <a:pPr indent="0" lvl="0" marL="0" rtl="0" algn="l">
              <a:spcBef>
                <a:spcPts val="1600"/>
              </a:spcBef>
              <a:spcAft>
                <a:spcPts val="1600"/>
              </a:spcAft>
              <a:buClr>
                <a:schemeClr val="dk1"/>
              </a:buClr>
              <a:buSzPts val="1100"/>
              <a:buFont typeface="Arial"/>
              <a:buNone/>
            </a:pPr>
            <a:r>
              <a:rPr b="1" lang="en">
                <a:latin typeface="Consolas"/>
                <a:ea typeface="Consolas"/>
                <a:cs typeface="Consolas"/>
                <a:sym typeface="Consolas"/>
              </a:rPr>
              <a:t>goto</a:t>
            </a:r>
            <a:r>
              <a:rPr lang="en">
                <a:latin typeface="Consolas"/>
                <a:ea typeface="Consolas"/>
                <a:cs typeface="Consolas"/>
                <a:sym typeface="Consolas"/>
              </a:rPr>
              <a:t> </a:t>
            </a:r>
            <a:r>
              <a:rPr b="1" lang="en">
                <a:solidFill>
                  <a:srgbClr val="980000"/>
                </a:solidFill>
                <a:latin typeface="Consolas"/>
                <a:ea typeface="Consolas"/>
                <a:cs typeface="Consolas"/>
                <a:sym typeface="Consolas"/>
              </a:rPr>
              <a:t>(do not use in your programs)</a:t>
            </a:r>
            <a:endParaRPr>
              <a:latin typeface="Consolas"/>
              <a:ea typeface="Consolas"/>
              <a:cs typeface="Consolas"/>
              <a:sym typeface="Consolas"/>
            </a:endParaRPr>
          </a:p>
        </p:txBody>
      </p:sp>
      <p:sp>
        <p:nvSpPr>
          <p:cNvPr id="166" name="Google Shape;166;p29"/>
          <p:cNvSpPr txBox="1"/>
          <p:nvPr>
            <p:ph idx="1" type="body"/>
          </p:nvPr>
        </p:nvSpPr>
        <p:spPr>
          <a:xfrm>
            <a:off x="4808500" y="293100"/>
            <a:ext cx="4470300" cy="442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latin typeface="Consolas"/>
                <a:ea typeface="Consolas"/>
                <a:cs typeface="Consolas"/>
                <a:sym typeface="Consolas"/>
              </a:rPr>
              <a:t>restrict</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return</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signed, unsigned</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sizeof </a:t>
            </a:r>
            <a:r>
              <a:rPr lang="en">
                <a:latin typeface="Consolas"/>
                <a:ea typeface="Consolas"/>
                <a:cs typeface="Consolas"/>
                <a:sym typeface="Consolas"/>
              </a:rPr>
              <a:t>-an operator</a:t>
            </a:r>
            <a:endParaRPr>
              <a:latin typeface="Consolas"/>
              <a:ea typeface="Consolas"/>
              <a:cs typeface="Consolas"/>
              <a:sym typeface="Consolas"/>
            </a:endParaRPr>
          </a:p>
          <a:p>
            <a:pPr indent="0" lvl="0" marL="0" rtl="0" algn="l">
              <a:spcBef>
                <a:spcPts val="1600"/>
              </a:spcBef>
              <a:spcAft>
                <a:spcPts val="0"/>
              </a:spcAft>
              <a:buNone/>
            </a:pPr>
            <a:r>
              <a:rPr lang="en">
                <a:latin typeface="Consolas"/>
                <a:ea typeface="Consolas"/>
                <a:cs typeface="Consolas"/>
                <a:sym typeface="Consolas"/>
              </a:rPr>
              <a:t>static</a:t>
            </a:r>
            <a:endParaRPr>
              <a:latin typeface="Consolas"/>
              <a:ea typeface="Consolas"/>
              <a:cs typeface="Consolas"/>
              <a:sym typeface="Consolas"/>
            </a:endParaRPr>
          </a:p>
          <a:p>
            <a:pPr indent="0" lvl="0" marL="0" rtl="0" algn="l">
              <a:spcBef>
                <a:spcPts val="1600"/>
              </a:spcBef>
              <a:spcAft>
                <a:spcPts val="0"/>
              </a:spcAft>
              <a:buNone/>
            </a:pPr>
            <a:r>
              <a:rPr lang="en">
                <a:latin typeface="Consolas"/>
                <a:ea typeface="Consolas"/>
                <a:cs typeface="Consolas"/>
                <a:sym typeface="Consolas"/>
              </a:rPr>
              <a:t>struct, union, typedef</a:t>
            </a:r>
            <a:endParaRPr>
              <a:latin typeface="Consolas"/>
              <a:ea typeface="Consolas"/>
              <a:cs typeface="Consolas"/>
              <a:sym typeface="Consolas"/>
            </a:endParaRPr>
          </a:p>
          <a:p>
            <a:pPr indent="0" lvl="0" marL="0" rtl="0" algn="l">
              <a:spcBef>
                <a:spcPts val="1600"/>
              </a:spcBef>
              <a:spcAft>
                <a:spcPts val="1600"/>
              </a:spcAft>
              <a:buNone/>
            </a:pPr>
            <a:r>
              <a:rPr lang="en">
                <a:latin typeface="Consolas"/>
                <a:ea typeface="Consolas"/>
                <a:cs typeface="Consolas"/>
                <a:sym typeface="Consolas"/>
              </a:rPr>
              <a:t>switch case</a:t>
            </a:r>
            <a:endParaRPr>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 operators</a:t>
            </a:r>
            <a:endParaRPr/>
          </a:p>
        </p:txBody>
      </p:sp>
      <p:sp>
        <p:nvSpPr>
          <p:cNvPr id="172" name="Google Shape;172;p30"/>
          <p:cNvSpPr txBox="1"/>
          <p:nvPr>
            <p:ph idx="1" type="body"/>
          </p:nvPr>
        </p:nvSpPr>
        <p:spPr>
          <a:xfrm>
            <a:off x="389700" y="1168350"/>
            <a:ext cx="2829600" cy="362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 order of precedence</a:t>
            </a:r>
            <a:endParaRPr b="1"/>
          </a:p>
          <a:p>
            <a:pPr indent="0" lvl="0" marL="0" rtl="0" algn="l">
              <a:spcBef>
                <a:spcPts val="1600"/>
              </a:spcBef>
              <a:spcAft>
                <a:spcPts val="0"/>
              </a:spcAft>
              <a:buNone/>
            </a:pPr>
            <a:r>
              <a:rPr b="1" lang="en">
                <a:solidFill>
                  <a:schemeClr val="accent5"/>
                </a:solidFill>
                <a:latin typeface="Consolas"/>
                <a:ea typeface="Consolas"/>
                <a:cs typeface="Consolas"/>
                <a:sym typeface="Consolas"/>
              </a:rPr>
              <a:t>[], </a:t>
            </a:r>
            <a:endParaRPr b="1">
              <a:solidFill>
                <a:schemeClr val="accent5"/>
              </a:solidFill>
              <a:latin typeface="Consolas"/>
              <a:ea typeface="Consolas"/>
              <a:cs typeface="Consolas"/>
              <a:sym typeface="Consolas"/>
            </a:endParaRPr>
          </a:p>
          <a:p>
            <a:pPr indent="0" lvl="0" marL="0" rtl="0" algn="l">
              <a:spcBef>
                <a:spcPts val="1600"/>
              </a:spcBef>
              <a:spcAft>
                <a:spcPts val="0"/>
              </a:spcAft>
              <a:buNone/>
            </a:pPr>
            <a:r>
              <a:rPr b="1" lang="en">
                <a:solidFill>
                  <a:schemeClr val="accent5"/>
                </a:solidFill>
                <a:latin typeface="Consolas"/>
                <a:ea typeface="Consolas"/>
                <a:cs typeface="Consolas"/>
                <a:sym typeface="Consolas"/>
              </a:rPr>
              <a:t>-&gt;, </a:t>
            </a:r>
            <a:endParaRPr b="1">
              <a:solidFill>
                <a:schemeClr val="accent5"/>
              </a:solidFill>
              <a:latin typeface="Consolas"/>
              <a:ea typeface="Consolas"/>
              <a:cs typeface="Consolas"/>
              <a:sym typeface="Consolas"/>
            </a:endParaRPr>
          </a:p>
          <a:p>
            <a:pPr indent="0" lvl="0" marL="0" rtl="0" algn="l">
              <a:spcBef>
                <a:spcPts val="1600"/>
              </a:spcBef>
              <a:spcAft>
                <a:spcPts val="0"/>
              </a:spcAft>
              <a:buNone/>
            </a:pPr>
            <a:r>
              <a:rPr b="1" lang="en">
                <a:solidFill>
                  <a:schemeClr val="accent5"/>
                </a:solidFill>
                <a:latin typeface="Consolas"/>
                <a:ea typeface="Consolas"/>
                <a:cs typeface="Consolas"/>
                <a:sym typeface="Consolas"/>
              </a:rPr>
              <a:t>., </a:t>
            </a:r>
            <a:endParaRPr b="1">
              <a:solidFill>
                <a:schemeClr val="accent5"/>
              </a:solidFill>
              <a:latin typeface="Consolas"/>
              <a:ea typeface="Consolas"/>
              <a:cs typeface="Consolas"/>
              <a:sym typeface="Consolas"/>
            </a:endParaRPr>
          </a:p>
          <a:p>
            <a:pPr indent="0" lvl="0" marL="0" rtl="0" algn="l">
              <a:spcBef>
                <a:spcPts val="1600"/>
              </a:spcBef>
              <a:spcAft>
                <a:spcPts val="0"/>
              </a:spcAft>
              <a:buNone/>
            </a:pPr>
            <a:r>
              <a:rPr lang="en">
                <a:solidFill>
                  <a:schemeClr val="accent5"/>
                </a:solidFill>
                <a:latin typeface="Consolas"/>
                <a:ea typeface="Consolas"/>
                <a:cs typeface="Consolas"/>
                <a:sym typeface="Consolas"/>
              </a:rPr>
              <a:t>+/-a, </a:t>
            </a:r>
            <a:endParaRPr>
              <a:solidFill>
                <a:schemeClr val="accent5"/>
              </a:solidFill>
              <a:latin typeface="Consolas"/>
              <a:ea typeface="Consolas"/>
              <a:cs typeface="Consolas"/>
              <a:sym typeface="Consolas"/>
            </a:endParaRPr>
          </a:p>
          <a:p>
            <a:pPr indent="0" lvl="0" marL="0" rtl="0" algn="l">
              <a:spcBef>
                <a:spcPts val="1600"/>
              </a:spcBef>
              <a:spcAft>
                <a:spcPts val="0"/>
              </a:spcAft>
              <a:buNone/>
            </a:pPr>
            <a:r>
              <a:rPr b="1" lang="en">
                <a:solidFill>
                  <a:schemeClr val="accent5"/>
                </a:solidFill>
                <a:latin typeface="Consolas"/>
                <a:ea typeface="Consolas"/>
                <a:cs typeface="Consolas"/>
                <a:sym typeface="Consolas"/>
              </a:rPr>
              <a:t>*a, </a:t>
            </a:r>
            <a:endParaRPr b="1">
              <a:solidFill>
                <a:schemeClr val="accent5"/>
              </a:solidFill>
              <a:latin typeface="Consolas"/>
              <a:ea typeface="Consolas"/>
              <a:cs typeface="Consolas"/>
              <a:sym typeface="Consolas"/>
            </a:endParaRPr>
          </a:p>
          <a:p>
            <a:pPr indent="0" lvl="0" marL="0" rtl="0" algn="l">
              <a:spcBef>
                <a:spcPts val="1600"/>
              </a:spcBef>
              <a:spcAft>
                <a:spcPts val="1600"/>
              </a:spcAft>
              <a:buNone/>
            </a:pPr>
            <a:r>
              <a:rPr b="1" lang="en">
                <a:solidFill>
                  <a:schemeClr val="accent5"/>
                </a:solidFill>
                <a:latin typeface="Consolas"/>
                <a:ea typeface="Consolas"/>
                <a:cs typeface="Consolas"/>
                <a:sym typeface="Consolas"/>
              </a:rPr>
              <a:t>&amp;a,</a:t>
            </a:r>
            <a:r>
              <a:rPr b="1" lang="en">
                <a:latin typeface="Consolas"/>
                <a:ea typeface="Consolas"/>
                <a:cs typeface="Consolas"/>
                <a:sym typeface="Consolas"/>
              </a:rPr>
              <a:t> </a:t>
            </a:r>
            <a:endParaRPr b="1">
              <a:latin typeface="Consolas"/>
              <a:ea typeface="Consolas"/>
              <a:cs typeface="Consolas"/>
              <a:sym typeface="Consolas"/>
            </a:endParaRPr>
          </a:p>
        </p:txBody>
      </p:sp>
      <p:sp>
        <p:nvSpPr>
          <p:cNvPr id="173" name="Google Shape;173;p30"/>
          <p:cNvSpPr txBox="1"/>
          <p:nvPr/>
        </p:nvSpPr>
        <p:spPr>
          <a:xfrm>
            <a:off x="3790875" y="236925"/>
            <a:ext cx="4605300" cy="465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latin typeface="Consolas"/>
                <a:ea typeface="Consolas"/>
                <a:cs typeface="Consolas"/>
                <a:sym typeface="Consolas"/>
              </a:rPr>
              <a:t>++, --,</a:t>
            </a:r>
            <a:endParaRPr sz="1800">
              <a:solidFill>
                <a:schemeClr val="dk2"/>
              </a:solidFill>
              <a:latin typeface="Consolas"/>
              <a:ea typeface="Consolas"/>
              <a:cs typeface="Consolas"/>
              <a:sym typeface="Consolas"/>
            </a:endParaRPr>
          </a:p>
          <a:p>
            <a:pPr indent="0" lvl="0" marL="0" rtl="0" algn="l">
              <a:lnSpc>
                <a:spcPct val="115000"/>
              </a:lnSpc>
              <a:spcBef>
                <a:spcPts val="1600"/>
              </a:spcBef>
              <a:spcAft>
                <a:spcPts val="0"/>
              </a:spcAft>
              <a:buNone/>
            </a:pPr>
            <a:r>
              <a:rPr lang="en" sz="1800">
                <a:solidFill>
                  <a:schemeClr val="dk2"/>
                </a:solidFill>
                <a:latin typeface="Consolas"/>
                <a:ea typeface="Consolas"/>
                <a:cs typeface="Consolas"/>
                <a:sym typeface="Consolas"/>
              </a:rPr>
              <a:t> sizeof,</a:t>
            </a:r>
            <a:endParaRPr sz="1800">
              <a:solidFill>
                <a:schemeClr val="dk2"/>
              </a:solidFill>
              <a:latin typeface="Consolas"/>
              <a:ea typeface="Consolas"/>
              <a:cs typeface="Consolas"/>
              <a:sym typeface="Consolas"/>
            </a:endParaRPr>
          </a:p>
          <a:p>
            <a:pPr indent="0" lvl="0" marL="0" rtl="0" algn="l">
              <a:lnSpc>
                <a:spcPct val="115000"/>
              </a:lnSpc>
              <a:spcBef>
                <a:spcPts val="1600"/>
              </a:spcBef>
              <a:spcAft>
                <a:spcPts val="0"/>
              </a:spcAft>
              <a:buNone/>
            </a:pPr>
            <a:r>
              <a:rPr lang="en" sz="1800">
                <a:solidFill>
                  <a:schemeClr val="dk2"/>
                </a:solidFill>
              </a:rPr>
              <a:t> arithmetic operators </a:t>
            </a:r>
            <a:r>
              <a:rPr lang="en" sz="1800">
                <a:solidFill>
                  <a:schemeClr val="dk2"/>
                </a:solidFill>
                <a:latin typeface="Consolas"/>
                <a:ea typeface="Consolas"/>
                <a:cs typeface="Consolas"/>
                <a:sym typeface="Consolas"/>
              </a:rPr>
              <a:t>{+,-,*,%,/}</a:t>
            </a:r>
            <a:r>
              <a:rPr lang="en" sz="1800">
                <a:solidFill>
                  <a:schemeClr val="dk2"/>
                </a:solidFill>
              </a:rPr>
              <a:t>,</a:t>
            </a:r>
            <a:endParaRPr sz="1800">
              <a:solidFill>
                <a:schemeClr val="dk2"/>
              </a:solidFill>
            </a:endParaRPr>
          </a:p>
          <a:p>
            <a:pPr indent="0" lvl="0" marL="0" rtl="0" algn="l">
              <a:lnSpc>
                <a:spcPct val="115000"/>
              </a:lnSpc>
              <a:spcBef>
                <a:spcPts val="1600"/>
              </a:spcBef>
              <a:spcAft>
                <a:spcPts val="0"/>
              </a:spcAft>
              <a:buNone/>
            </a:pPr>
            <a:r>
              <a:rPr lang="en" sz="1800">
                <a:solidFill>
                  <a:schemeClr val="dk2"/>
                </a:solidFill>
              </a:rPr>
              <a:t> </a:t>
            </a:r>
            <a:r>
              <a:rPr lang="en" sz="1800">
                <a:solidFill>
                  <a:schemeClr val="dk2"/>
                </a:solidFill>
                <a:latin typeface="Consolas"/>
                <a:ea typeface="Consolas"/>
                <a:cs typeface="Consolas"/>
                <a:sym typeface="Consolas"/>
              </a:rPr>
              <a:t>&gt;&gt;/&lt;&lt;, </a:t>
            </a:r>
            <a:endParaRPr sz="1800">
              <a:solidFill>
                <a:schemeClr val="dk2"/>
              </a:solidFill>
              <a:latin typeface="Consolas"/>
              <a:ea typeface="Consolas"/>
              <a:cs typeface="Consolas"/>
              <a:sym typeface="Consolas"/>
            </a:endParaRPr>
          </a:p>
          <a:p>
            <a:pPr indent="0" lvl="0" marL="0" rtl="0" algn="l">
              <a:lnSpc>
                <a:spcPct val="115000"/>
              </a:lnSpc>
              <a:spcBef>
                <a:spcPts val="1600"/>
              </a:spcBef>
              <a:spcAft>
                <a:spcPts val="0"/>
              </a:spcAft>
              <a:buNone/>
            </a:pPr>
            <a:r>
              <a:rPr lang="en" sz="1800">
                <a:solidFill>
                  <a:schemeClr val="dk2"/>
                </a:solidFill>
                <a:latin typeface="Consolas"/>
                <a:ea typeface="Consolas"/>
                <a:cs typeface="Consolas"/>
                <a:sym typeface="Consolas"/>
              </a:rPr>
              <a:t>&lt;=/&gt;=, </a:t>
            </a:r>
            <a:endParaRPr sz="1800">
              <a:solidFill>
                <a:schemeClr val="dk2"/>
              </a:solidFill>
              <a:latin typeface="Consolas"/>
              <a:ea typeface="Consolas"/>
              <a:cs typeface="Consolas"/>
              <a:sym typeface="Consolas"/>
            </a:endParaRPr>
          </a:p>
          <a:p>
            <a:pPr indent="0" lvl="0" marL="0" rtl="0" algn="l">
              <a:lnSpc>
                <a:spcPct val="115000"/>
              </a:lnSpc>
              <a:spcBef>
                <a:spcPts val="1600"/>
              </a:spcBef>
              <a:spcAft>
                <a:spcPts val="0"/>
              </a:spcAft>
              <a:buNone/>
            </a:pPr>
            <a:r>
              <a:rPr lang="en" sz="1800">
                <a:solidFill>
                  <a:schemeClr val="dk2"/>
                </a:solidFill>
                <a:latin typeface="Consolas"/>
                <a:ea typeface="Consolas"/>
                <a:cs typeface="Consolas"/>
                <a:sym typeface="Consolas"/>
              </a:rPr>
              <a:t>==/!=, &amp;&amp;, ||, </a:t>
            </a:r>
            <a:endParaRPr sz="1800">
              <a:solidFill>
                <a:schemeClr val="dk2"/>
              </a:solidFill>
              <a:latin typeface="Consolas"/>
              <a:ea typeface="Consolas"/>
              <a:cs typeface="Consolas"/>
              <a:sym typeface="Consolas"/>
            </a:endParaRPr>
          </a:p>
          <a:p>
            <a:pPr indent="0" lvl="0" marL="0" rtl="0" algn="l">
              <a:lnSpc>
                <a:spcPct val="115000"/>
              </a:lnSpc>
              <a:spcBef>
                <a:spcPts val="1600"/>
              </a:spcBef>
              <a:spcAft>
                <a:spcPts val="0"/>
              </a:spcAft>
              <a:buNone/>
            </a:pPr>
            <a:r>
              <a:rPr lang="en" sz="1800">
                <a:solidFill>
                  <a:schemeClr val="dk2"/>
                </a:solidFill>
                <a:latin typeface="Consolas"/>
                <a:ea typeface="Consolas"/>
                <a:cs typeface="Consolas"/>
                <a:sym typeface="Consolas"/>
              </a:rPr>
              <a:t>!, &amp;, |, ~, </a:t>
            </a:r>
            <a:endParaRPr sz="1800">
              <a:solidFill>
                <a:schemeClr val="dk2"/>
              </a:solidFill>
              <a:latin typeface="Consolas"/>
              <a:ea typeface="Consolas"/>
              <a:cs typeface="Consolas"/>
              <a:sym typeface="Consolas"/>
            </a:endParaRPr>
          </a:p>
          <a:p>
            <a:pPr indent="0" lvl="0" marL="0" rtl="0" algn="l">
              <a:lnSpc>
                <a:spcPct val="115000"/>
              </a:lnSpc>
              <a:spcBef>
                <a:spcPts val="1600"/>
              </a:spcBef>
              <a:spcAft>
                <a:spcPts val="0"/>
              </a:spcAft>
              <a:buNone/>
            </a:pPr>
            <a:r>
              <a:rPr lang="en" sz="1800">
                <a:solidFill>
                  <a:schemeClr val="dk2"/>
                </a:solidFill>
                <a:latin typeface="Consolas"/>
                <a:ea typeface="Consolas"/>
                <a:cs typeface="Consolas"/>
                <a:sym typeface="Consolas"/>
              </a:rPr>
              <a:t>?:, </a:t>
            </a:r>
            <a:endParaRPr sz="1800">
              <a:solidFill>
                <a:schemeClr val="dk2"/>
              </a:solidFill>
              <a:latin typeface="Consolas"/>
              <a:ea typeface="Consolas"/>
              <a:cs typeface="Consolas"/>
              <a:sym typeface="Consolas"/>
            </a:endParaRPr>
          </a:p>
          <a:p>
            <a:pPr indent="0" lvl="0" marL="0" rtl="0" algn="l">
              <a:lnSpc>
                <a:spcPct val="115000"/>
              </a:lnSpc>
              <a:spcBef>
                <a:spcPts val="1600"/>
              </a:spcBef>
              <a:spcAft>
                <a:spcPts val="1600"/>
              </a:spcAft>
              <a:buNone/>
            </a:pPr>
            <a:r>
              <a:rPr lang="en" sz="1800">
                <a:solidFill>
                  <a:schemeClr val="dk2"/>
                </a:solidFill>
                <a:latin typeface="Consolas"/>
                <a:ea typeface="Consolas"/>
                <a:cs typeface="Consolas"/>
                <a:sym typeface="Consolas"/>
              </a:rPr>
              <a:t>a,b </a:t>
            </a:r>
            <a:r>
              <a:rPr lang="en" sz="1800">
                <a:solidFill>
                  <a:schemeClr val="dk2"/>
                </a:solidFill>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 Data types and Operators</a:t>
            </a:r>
            <a:endParaRPr/>
          </a:p>
        </p:txBody>
      </p:sp>
      <p:sp>
        <p:nvSpPr>
          <p:cNvPr id="179" name="Google Shape;179;p31"/>
          <p:cNvSpPr txBox="1"/>
          <p:nvPr>
            <p:ph idx="2" type="body"/>
          </p:nvPr>
        </p:nvSpPr>
        <p:spPr>
          <a:xfrm>
            <a:off x="1569100" y="2307000"/>
            <a:ext cx="7000800" cy="239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t>c</a:t>
            </a:r>
            <a:r>
              <a:rPr b="1" lang="en" sz="1400"/>
              <a:t>har a; /*1-byte data*/</a:t>
            </a:r>
            <a:endParaRPr b="1" sz="1400"/>
          </a:p>
          <a:p>
            <a:pPr indent="0" lvl="0" marL="0" rtl="0" algn="l">
              <a:spcBef>
                <a:spcPts val="0"/>
              </a:spcBef>
              <a:spcAft>
                <a:spcPts val="0"/>
              </a:spcAft>
              <a:buNone/>
            </a:pPr>
            <a:r>
              <a:rPr b="1" lang="en" sz="1400"/>
              <a:t>s</a:t>
            </a:r>
            <a:r>
              <a:rPr b="1" lang="en" sz="1400"/>
              <a:t>hort a; /*at least 2 bytes*/</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solidFill>
                  <a:schemeClr val="dk1"/>
                </a:solidFill>
              </a:rPr>
              <a:t>int</a:t>
            </a:r>
            <a:r>
              <a:rPr b="1" lang="en" sz="1400">
                <a:solidFill>
                  <a:schemeClr val="dk1"/>
                </a:solidFill>
              </a:rPr>
              <a:t> a; /*at least 2/4 bytes*/</a:t>
            </a:r>
            <a:endParaRPr b="1" sz="1400">
              <a:solidFill>
                <a:schemeClr val="dk1"/>
              </a:solidFill>
            </a:endParaRPr>
          </a:p>
          <a:p>
            <a:pPr indent="0" lvl="0" marL="0" rtl="0" algn="l">
              <a:spcBef>
                <a:spcPts val="0"/>
              </a:spcBef>
              <a:spcAft>
                <a:spcPts val="0"/>
              </a:spcAft>
              <a:buNone/>
            </a:pPr>
            <a:r>
              <a:rPr b="1" lang="en" sz="1400">
                <a:solidFill>
                  <a:schemeClr val="dk1"/>
                </a:solidFill>
              </a:rPr>
              <a:t>long a;  /*at least 4/8 bytes*/</a:t>
            </a:r>
            <a:endParaRPr b="1" sz="1400">
              <a:solidFill>
                <a:schemeClr val="dk1"/>
              </a:solidFill>
            </a:endParaRPr>
          </a:p>
          <a:p>
            <a:pPr indent="0" lvl="0" marL="0" rtl="0" algn="l">
              <a:spcBef>
                <a:spcPts val="0"/>
              </a:spcBef>
              <a:spcAft>
                <a:spcPts val="0"/>
              </a:spcAft>
              <a:buNone/>
            </a:pPr>
            <a:r>
              <a:rPr b="1" lang="en" sz="1400">
                <a:solidFill>
                  <a:schemeClr val="dk1"/>
                </a:solidFill>
              </a:rPr>
              <a:t>float a; /*IEEE-764 single precision floating point: 4 bytes*/</a:t>
            </a:r>
            <a:endParaRPr b="1" sz="1400">
              <a:solidFill>
                <a:schemeClr val="dk1"/>
              </a:solidFill>
            </a:endParaRPr>
          </a:p>
          <a:p>
            <a:pPr indent="0" lvl="0" marL="0" rtl="0" algn="l">
              <a:spcBef>
                <a:spcPts val="0"/>
              </a:spcBef>
              <a:spcAft>
                <a:spcPts val="0"/>
              </a:spcAft>
              <a:buClr>
                <a:schemeClr val="dk1"/>
              </a:buClr>
              <a:buSzPts val="1100"/>
              <a:buFont typeface="Arial"/>
              <a:buNone/>
            </a:pPr>
            <a:r>
              <a:rPr b="1" lang="en" sz="1400">
                <a:solidFill>
                  <a:schemeClr val="dk1"/>
                </a:solidFill>
              </a:rPr>
              <a:t>double a; /*IEEE-764 single precision floating point: 8 bytes*/</a:t>
            </a:r>
            <a:endParaRPr b="1" sz="1400">
              <a:solidFill>
                <a:schemeClr val="dk1"/>
              </a:solidFill>
            </a:endParaRPr>
          </a:p>
        </p:txBody>
      </p:sp>
      <p:sp>
        <p:nvSpPr>
          <p:cNvPr id="180" name="Google Shape;180;p31"/>
          <p:cNvSpPr txBox="1"/>
          <p:nvPr>
            <p:ph idx="1" type="body"/>
          </p:nvPr>
        </p:nvSpPr>
        <p:spPr>
          <a:xfrm>
            <a:off x="607600" y="1138350"/>
            <a:ext cx="4303800" cy="109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Char, short (short int), int, long (long int), float, double</a:t>
            </a:r>
            <a:endParaRPr/>
          </a:p>
          <a:p>
            <a:pPr indent="0" lvl="0" marL="0" rtl="0" algn="l">
              <a:spcBef>
                <a:spcPts val="0"/>
              </a:spcBef>
              <a:spcAft>
                <a:spcPts val="0"/>
              </a:spcAft>
              <a:buNone/>
            </a:pPr>
            <a:r>
              <a:rPr lang="en"/>
              <a:t>Fixed width integers</a:t>
            </a:r>
            <a:endParaRPr/>
          </a:p>
          <a:p>
            <a:pPr indent="0" lvl="0" marL="0" rtl="0" algn="l">
              <a:spcBef>
                <a:spcPts val="0"/>
              </a:spcBef>
              <a:spcAft>
                <a:spcPts val="0"/>
              </a:spcAft>
              <a:buNone/>
            </a:pPr>
            <a:r>
              <a:rPr lang="en"/>
              <a:t>[</a:t>
            </a:r>
            <a:r>
              <a:rPr b="1" lang="en"/>
              <a:t>u</a:t>
            </a:r>
            <a:r>
              <a:rPr lang="en"/>
              <a:t>]</a:t>
            </a:r>
            <a:r>
              <a:rPr b="1" lang="en"/>
              <a:t>int</a:t>
            </a:r>
            <a:r>
              <a:rPr i="1" lang="en"/>
              <a:t>width</a:t>
            </a:r>
            <a:r>
              <a:rPr b="1" lang="en"/>
              <a:t>_t</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Shift operators</a:t>
            </a:r>
            <a:endParaRPr/>
          </a:p>
        </p:txBody>
      </p:sp>
      <p:sp>
        <p:nvSpPr>
          <p:cNvPr id="186" name="Google Shape;186;p32"/>
          <p:cNvSpPr txBox="1"/>
          <p:nvPr>
            <p:ph idx="1" type="body"/>
          </p:nvPr>
        </p:nvSpPr>
        <p:spPr>
          <a:xfrm>
            <a:off x="5331250" y="584475"/>
            <a:ext cx="3648900" cy="39765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a:t>In right shift;</a:t>
            </a:r>
            <a:endParaRPr/>
          </a:p>
          <a:p>
            <a:pPr indent="-304800" lvl="0" marL="457200" rtl="0" algn="l">
              <a:spcBef>
                <a:spcPts val="0"/>
              </a:spcBef>
              <a:spcAft>
                <a:spcPts val="0"/>
              </a:spcAft>
              <a:buSzPts val="1200"/>
              <a:buChar char="●"/>
            </a:pPr>
            <a:r>
              <a:rPr lang="en"/>
              <a:t>If the operand on the left is signed, then the integer is sign-extended. This means that if the number has the sign bit set, then any shift right will introduce 1s on the left. </a:t>
            </a:r>
            <a:endParaRPr/>
          </a:p>
          <a:p>
            <a:pPr indent="0" lvl="0" marL="457200" rtl="0" algn="l">
              <a:spcBef>
                <a:spcPts val="0"/>
              </a:spcBef>
              <a:spcAft>
                <a:spcPts val="0"/>
              </a:spcAft>
              <a:buNone/>
            </a:pPr>
            <a:r>
              <a:t/>
            </a:r>
            <a:endParaRPr/>
          </a:p>
          <a:p>
            <a:pPr indent="-304800" lvl="0" marL="457200" rtl="0" algn="l">
              <a:spcBef>
                <a:spcPts val="0"/>
              </a:spcBef>
              <a:spcAft>
                <a:spcPts val="0"/>
              </a:spcAft>
              <a:buSzPts val="1200"/>
              <a:buChar char="●"/>
            </a:pPr>
            <a:r>
              <a:rPr lang="en"/>
              <a:t>If the number does not have the sign bit set, any shift right will introduce zeros on the left.</a:t>
            </a:r>
            <a:endParaRPr/>
          </a:p>
          <a:p>
            <a:pPr indent="0" lvl="0" marL="457200" rtl="0" algn="l">
              <a:spcBef>
                <a:spcPts val="0"/>
              </a:spcBef>
              <a:spcAft>
                <a:spcPts val="0"/>
              </a:spcAft>
              <a:buNone/>
            </a:pPr>
            <a:r>
              <a:t/>
            </a:r>
            <a:endParaRPr/>
          </a:p>
          <a:p>
            <a:pPr indent="-304800" lvl="0" marL="457200" rtl="0" algn="l">
              <a:spcBef>
                <a:spcPts val="0"/>
              </a:spcBef>
              <a:spcAft>
                <a:spcPts val="0"/>
              </a:spcAft>
              <a:buSzPts val="1200"/>
              <a:buChar char="●"/>
            </a:pPr>
            <a:r>
              <a:rPr lang="en"/>
              <a:t>If the operand is unsigned, zeros will be introduced on the left either way.</a:t>
            </a:r>
            <a:endParaRPr/>
          </a:p>
          <a:p>
            <a:pPr indent="0" lvl="0" marL="457200" rtl="0" algn="l">
              <a:spcBef>
                <a:spcPts val="0"/>
              </a:spcBef>
              <a:spcAft>
                <a:spcPts val="0"/>
              </a:spcAft>
              <a:buNone/>
            </a:pPr>
            <a:r>
              <a:t/>
            </a:r>
            <a:endParaRPr/>
          </a:p>
        </p:txBody>
      </p:sp>
      <p:sp>
        <p:nvSpPr>
          <p:cNvPr id="187" name="Google Shape;187;p32"/>
          <p:cNvSpPr txBox="1"/>
          <p:nvPr>
            <p:ph idx="2" type="body"/>
          </p:nvPr>
        </p:nvSpPr>
        <p:spPr>
          <a:xfrm>
            <a:off x="372775" y="1208350"/>
            <a:ext cx="5061300" cy="34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t>unsigned short uns = -127; // 1111111110000001</a:t>
            </a:r>
            <a:endParaRPr sz="1300"/>
          </a:p>
          <a:p>
            <a:pPr indent="0" lvl="0" marL="0" rtl="0" algn="l">
              <a:spcBef>
                <a:spcPts val="0"/>
              </a:spcBef>
              <a:spcAft>
                <a:spcPts val="0"/>
              </a:spcAft>
              <a:buClr>
                <a:schemeClr val="dk1"/>
              </a:buClr>
              <a:buSzPts val="1100"/>
              <a:buFont typeface="Arial"/>
              <a:buNone/>
            </a:pPr>
            <a:r>
              <a:rPr lang="en" sz="1300"/>
              <a:t>short sig = 1; // 0000000000000001</a:t>
            </a:r>
            <a:endParaRPr sz="1300"/>
          </a:p>
          <a:p>
            <a:pPr indent="0" lvl="0" marL="0" rtl="0" algn="l">
              <a:spcBef>
                <a:spcPts val="0"/>
              </a:spcBef>
              <a:spcAft>
                <a:spcPts val="0"/>
              </a:spcAft>
              <a:buClr>
                <a:schemeClr val="dk1"/>
              </a:buClr>
              <a:buSzPts val="1100"/>
              <a:buFont typeface="Arial"/>
              <a:buNone/>
            </a:pPr>
            <a:r>
              <a:rPr lang="en" sz="1300"/>
              <a:t>uns &lt;&lt; 2; 	//1111111000000100</a:t>
            </a:r>
            <a:endParaRPr sz="1300"/>
          </a:p>
          <a:p>
            <a:pPr indent="0" lvl="0" marL="0" rtl="0" algn="l">
              <a:spcBef>
                <a:spcPts val="0"/>
              </a:spcBef>
              <a:spcAft>
                <a:spcPts val="0"/>
              </a:spcAft>
              <a:buClr>
                <a:schemeClr val="dk1"/>
              </a:buClr>
              <a:buSzPts val="1100"/>
              <a:buFont typeface="Arial"/>
              <a:buNone/>
            </a:pPr>
            <a:r>
              <a:rPr lang="en" sz="1300"/>
              <a:t>sig &lt;&lt; 2; 	// 0000000000000100</a:t>
            </a:r>
            <a:endParaRPr sz="1300"/>
          </a:p>
          <a:p>
            <a:pPr indent="0" lvl="0" marL="0" rtl="0" algn="l">
              <a:spcBef>
                <a:spcPts val="0"/>
              </a:spcBef>
              <a:spcAft>
                <a:spcPts val="0"/>
              </a:spcAft>
              <a:buClr>
                <a:schemeClr val="dk1"/>
              </a:buClr>
              <a:buSzPts val="1100"/>
              <a:buFont typeface="Arial"/>
              <a:buNone/>
            </a:pPr>
            <a:r>
              <a:rPr lang="en" sz="1300"/>
              <a:t>uns &gt;&gt; 2; 	// 1111111111100000</a:t>
            </a:r>
            <a:endParaRPr sz="1300"/>
          </a:p>
          <a:p>
            <a:pPr indent="0" lvl="0" marL="0" rtl="0" algn="l">
              <a:spcBef>
                <a:spcPts val="0"/>
              </a:spcBef>
              <a:spcAft>
                <a:spcPts val="0"/>
              </a:spcAft>
              <a:buClr>
                <a:schemeClr val="dk1"/>
              </a:buClr>
              <a:buSzPts val="1100"/>
              <a:buFont typeface="Arial"/>
              <a:buNone/>
            </a:pPr>
            <a:r>
              <a:rPr lang="en" sz="1300"/>
              <a:t>sig &gt;&gt; 2; 	// 0000000000000000</a:t>
            </a:r>
            <a:endParaRPr sz="1300"/>
          </a:p>
          <a:p>
            <a:pPr indent="0" lvl="0" marL="0" rtl="0" algn="l">
              <a:spcBef>
                <a:spcPts val="0"/>
              </a:spcBef>
              <a:spcAft>
                <a:spcPts val="0"/>
              </a:spcAft>
              <a:buNone/>
            </a:pPr>
            <a:r>
              <a:t/>
            </a:r>
            <a:endParaRPr sz="13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3"/>
          <p:cNvSpPr txBox="1"/>
          <p:nvPr>
            <p:ph type="title"/>
          </p:nvPr>
        </p:nvSpPr>
        <p:spPr>
          <a:xfrm>
            <a:off x="292200" y="676200"/>
            <a:ext cx="2776500" cy="42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Declarations</a:t>
            </a:r>
            <a:endParaRPr/>
          </a:p>
        </p:txBody>
      </p:sp>
      <p:sp>
        <p:nvSpPr>
          <p:cNvPr id="193" name="Google Shape;193;p33"/>
          <p:cNvSpPr txBox="1"/>
          <p:nvPr>
            <p:ph idx="2" type="body"/>
          </p:nvPr>
        </p:nvSpPr>
        <p:spPr>
          <a:xfrm>
            <a:off x="389900" y="1208325"/>
            <a:ext cx="4222200" cy="360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int *ptr1;</a:t>
            </a:r>
            <a:endParaRPr/>
          </a:p>
          <a:p>
            <a:pPr indent="0" lvl="0" marL="0" rtl="0" algn="l">
              <a:spcBef>
                <a:spcPts val="0"/>
              </a:spcBef>
              <a:spcAft>
                <a:spcPts val="0"/>
              </a:spcAft>
              <a:buClr>
                <a:schemeClr val="dk1"/>
              </a:buClr>
              <a:buSzPts val="1100"/>
              <a:buFont typeface="Arial"/>
              <a:buNone/>
            </a:pPr>
            <a:r>
              <a:rPr lang="en"/>
              <a:t>char *ptr2;</a:t>
            </a:r>
            <a:endParaRPr/>
          </a:p>
          <a:p>
            <a:pPr indent="0" lvl="0" marL="0" rtl="0" algn="l">
              <a:spcBef>
                <a:spcPts val="0"/>
              </a:spcBef>
              <a:spcAft>
                <a:spcPts val="0"/>
              </a:spcAft>
              <a:buNone/>
            </a:pPr>
            <a:r>
              <a:rPr lang="en"/>
              <a:t>int* ptr3, ptr4; /* ptr4 is a regular int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*ptr3, *ptr4; /*both pointers*/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struct person *ptr;</a:t>
            </a:r>
            <a:endParaRPr/>
          </a:p>
        </p:txBody>
      </p:sp>
      <p:sp>
        <p:nvSpPr>
          <p:cNvPr id="194" name="Google Shape;194;p33"/>
          <p:cNvSpPr txBox="1"/>
          <p:nvPr>
            <p:ph idx="2" type="body"/>
          </p:nvPr>
        </p:nvSpPr>
        <p:spPr>
          <a:xfrm>
            <a:off x="4753925" y="1564725"/>
            <a:ext cx="39336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*ptr = 0; /* Writes some memory.*/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a = *ptr * 2 /*reads from memory*/</a:t>
            </a:r>
            <a:endParaRPr/>
          </a:p>
        </p:txBody>
      </p:sp>
      <p:sp>
        <p:nvSpPr>
          <p:cNvPr id="195" name="Google Shape;195;p33"/>
          <p:cNvSpPr txBox="1"/>
          <p:nvPr>
            <p:ph type="title"/>
          </p:nvPr>
        </p:nvSpPr>
        <p:spPr>
          <a:xfrm>
            <a:off x="2574125" y="104475"/>
            <a:ext cx="6158100" cy="382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Pointers </a:t>
            </a:r>
            <a:endParaRPr/>
          </a:p>
        </p:txBody>
      </p:sp>
      <p:sp>
        <p:nvSpPr>
          <p:cNvPr id="196" name="Google Shape;196;p33"/>
          <p:cNvSpPr txBox="1"/>
          <p:nvPr>
            <p:ph type="title"/>
          </p:nvPr>
        </p:nvSpPr>
        <p:spPr>
          <a:xfrm>
            <a:off x="4421725" y="636300"/>
            <a:ext cx="4646100" cy="42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Reading/writing with pointers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Pointer Arithmetic</a:t>
            </a:r>
            <a:endParaRPr/>
          </a:p>
        </p:txBody>
      </p:sp>
      <p:sp>
        <p:nvSpPr>
          <p:cNvPr id="202" name="Google Shape;202;p34"/>
          <p:cNvSpPr txBox="1"/>
          <p:nvPr>
            <p:ph idx="2" type="body"/>
          </p:nvPr>
        </p:nvSpPr>
        <p:spPr>
          <a:xfrm>
            <a:off x="412175" y="979750"/>
            <a:ext cx="6778800" cy="9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t>char *ptr = "Hello"; /* ptr holds the memory location of ‘H’*/</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ptr += 2; /* ptr now points to the first ‘l’*/</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None/>
            </a:pPr>
            <a:r>
              <a:t/>
            </a:r>
            <a:endParaRPr b="1"/>
          </a:p>
        </p:txBody>
      </p:sp>
      <p:sp>
        <p:nvSpPr>
          <p:cNvPr id="203" name="Google Shape;203;p34"/>
          <p:cNvSpPr txBox="1"/>
          <p:nvPr>
            <p:ph idx="2" type="body"/>
          </p:nvPr>
        </p:nvSpPr>
        <p:spPr>
          <a:xfrm>
            <a:off x="1536675" y="2098550"/>
            <a:ext cx="7531200" cy="285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a:p>
          <a:p>
            <a:pPr indent="0" lvl="0" marL="0" rtl="0" algn="l">
              <a:spcBef>
                <a:spcPts val="0"/>
              </a:spcBef>
              <a:spcAft>
                <a:spcPts val="0"/>
              </a:spcAft>
              <a:buNone/>
            </a:pPr>
            <a:r>
              <a:rPr b="1" lang="en"/>
              <a:t>char *ptr = "ABCDEFGH";</a:t>
            </a:r>
            <a:endParaRPr b="1"/>
          </a:p>
          <a:p>
            <a:pPr indent="0" lvl="0" marL="0" rtl="0" algn="l">
              <a:spcBef>
                <a:spcPts val="0"/>
              </a:spcBef>
              <a:spcAft>
                <a:spcPts val="0"/>
              </a:spcAft>
              <a:buNone/>
            </a:pPr>
            <a:r>
              <a:rPr b="1" lang="en"/>
              <a:t>int *bna = (int *) ptr;</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bna +=1; /* Would cause iterate by one integer space (i.e 4 bytes on some systems)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ptr = (char *) bna;</a:t>
            </a:r>
            <a:endParaRPr b="1"/>
          </a:p>
          <a:p>
            <a:pPr indent="0" lvl="0" marL="0" rtl="0" algn="l">
              <a:spcBef>
                <a:spcPts val="0"/>
              </a:spcBef>
              <a:spcAft>
                <a:spcPts val="0"/>
              </a:spcAft>
              <a:buNone/>
            </a:pPr>
            <a:r>
              <a:rPr b="1" lang="en"/>
              <a:t>printf("%s", ptr);</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a:t>
            </a:r>
            <a:endParaRPr b="1"/>
          </a:p>
          <a:p>
            <a:pPr indent="0" lvl="0" marL="0" rtl="0" algn="l">
              <a:spcBef>
                <a:spcPts val="0"/>
              </a:spcBef>
              <a:spcAft>
                <a:spcPts val="0"/>
              </a:spcAft>
              <a:buNone/>
            </a:pPr>
            <a:r>
              <a:rPr b="1" lang="en"/>
              <a:t>POSIX standards forbid arithmetic on void pointers!</a:t>
            </a:r>
            <a:endParaRPr b="1"/>
          </a:p>
          <a:p>
            <a:pPr indent="0" lvl="0" marL="0" rtl="0" algn="l">
              <a:spcBef>
                <a:spcPts val="0"/>
              </a:spcBef>
              <a:spcAft>
                <a:spcPts val="0"/>
              </a:spcAft>
              <a:buNone/>
            </a:pPr>
            <a:r>
              <a:rPr b="1" lang="en"/>
              <a:t>*/</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Void pointer</a:t>
            </a:r>
            <a:endParaRPr/>
          </a:p>
        </p:txBody>
      </p:sp>
      <p:sp>
        <p:nvSpPr>
          <p:cNvPr id="209" name="Google Shape;209;p35"/>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pointer without a type.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Void pointers are used when either the datatype is unknown or when interfacing C code with other programming languages without APIs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POSIX standards forbid arithmetic on void pointers.</a:t>
            </a:r>
            <a:endParaRPr/>
          </a:p>
        </p:txBody>
      </p:sp>
      <p:sp>
        <p:nvSpPr>
          <p:cNvPr id="210" name="Google Shape;210;p35"/>
          <p:cNvSpPr txBox="1"/>
          <p:nvPr>
            <p:ph idx="2" type="body"/>
          </p:nvPr>
        </p:nvSpPr>
        <p:spPr>
          <a:xfrm>
            <a:off x="372775" y="1208350"/>
            <a:ext cx="3578700" cy="128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t>void *give_me_space = malloc(10);</a:t>
            </a:r>
            <a:endParaRPr sz="1300"/>
          </a:p>
          <a:p>
            <a:pPr indent="0" lvl="0" marL="0" rtl="0" algn="l">
              <a:spcBef>
                <a:spcPts val="0"/>
              </a:spcBef>
              <a:spcAft>
                <a:spcPts val="0"/>
              </a:spcAft>
              <a:buNone/>
            </a:pPr>
            <a:r>
              <a:t/>
            </a:r>
            <a:endParaRPr sz="1300"/>
          </a:p>
          <a:p>
            <a:pPr indent="0" lvl="0" marL="0" rtl="0" algn="l">
              <a:spcBef>
                <a:spcPts val="0"/>
              </a:spcBef>
              <a:spcAft>
                <a:spcPts val="0"/>
              </a:spcAft>
              <a:buClr>
                <a:schemeClr val="dk1"/>
              </a:buClr>
              <a:buSzPts val="1100"/>
              <a:buFont typeface="Arial"/>
              <a:buNone/>
            </a:pPr>
            <a:r>
              <a:rPr lang="en" sz="1300"/>
              <a:t>char *string = give_me_space;</a:t>
            </a:r>
            <a:endParaRPr sz="1300"/>
          </a:p>
          <a:p>
            <a:pPr indent="0" lvl="0" marL="0" rtl="0" algn="l">
              <a:spcBef>
                <a:spcPts val="0"/>
              </a:spcBef>
              <a:spcAft>
                <a:spcPts val="0"/>
              </a:spcAft>
              <a:buNone/>
            </a:pPr>
            <a:r>
              <a:t/>
            </a:r>
            <a:endParaRPr sz="1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 strings</a:t>
            </a:r>
            <a:endParaRPr/>
          </a:p>
        </p:txBody>
      </p:sp>
      <p:sp>
        <p:nvSpPr>
          <p:cNvPr id="216" name="Google Shape;216;p3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Consolas"/>
                <a:ea typeface="Consolas"/>
                <a:cs typeface="Consolas"/>
                <a:sym typeface="Consolas"/>
              </a:rPr>
              <a:t>char* str = "constant"</a:t>
            </a:r>
            <a:endParaRPr b="1">
              <a:latin typeface="Consolas"/>
              <a:ea typeface="Consolas"/>
              <a:cs typeface="Consolas"/>
              <a:sym typeface="Consolas"/>
            </a:endParaRPr>
          </a:p>
          <a:p>
            <a:pPr indent="-317500" lvl="0" marL="457200" rtl="0" algn="l">
              <a:spcBef>
                <a:spcPts val="1600"/>
              </a:spcBef>
              <a:spcAft>
                <a:spcPts val="0"/>
              </a:spcAft>
              <a:buSzPts val="1400"/>
              <a:buChar char="●"/>
            </a:pPr>
            <a:r>
              <a:rPr lang="en"/>
              <a:t>the string </a:t>
            </a:r>
            <a:r>
              <a:rPr b="1" lang="en">
                <a:latin typeface="Consolas"/>
                <a:ea typeface="Consolas"/>
                <a:cs typeface="Consolas"/>
                <a:sym typeface="Consolas"/>
              </a:rPr>
              <a:t>"constant" </a:t>
            </a:r>
            <a:r>
              <a:rPr lang="en"/>
              <a:t>is stored in the data section. </a:t>
            </a:r>
            <a:endParaRPr/>
          </a:p>
          <a:p>
            <a:pPr indent="-317500" lvl="0" marL="457200" rtl="0" algn="l">
              <a:spcBef>
                <a:spcPts val="0"/>
              </a:spcBef>
              <a:spcAft>
                <a:spcPts val="0"/>
              </a:spcAft>
              <a:buSzPts val="1400"/>
              <a:buChar char="●"/>
            </a:pPr>
            <a:r>
              <a:rPr lang="en"/>
              <a:t>Depending on your architecture, it is read-only,</a:t>
            </a:r>
            <a:endParaRPr/>
          </a:p>
          <a:p>
            <a:pPr indent="-317500" lvl="0" marL="457200" rtl="0" algn="l">
              <a:spcBef>
                <a:spcPts val="0"/>
              </a:spcBef>
              <a:spcAft>
                <a:spcPts val="0"/>
              </a:spcAft>
              <a:buSzPts val="1400"/>
              <a:buChar char="●"/>
            </a:pPr>
            <a:r>
              <a:rPr lang="en"/>
              <a:t>any attempt to modify the string will cause a SEGFAULT.</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217" name="Google Shape;217;p3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Consolas"/>
                <a:ea typeface="Consolas"/>
                <a:cs typeface="Consolas"/>
                <a:sym typeface="Consolas"/>
              </a:rPr>
              <a:t>char str[] = "mutable"</a:t>
            </a:r>
            <a:endParaRPr b="1">
              <a:latin typeface="Consolas"/>
              <a:ea typeface="Consolas"/>
              <a:cs typeface="Consolas"/>
              <a:sym typeface="Consolas"/>
            </a:endParaRPr>
          </a:p>
          <a:p>
            <a:pPr indent="-317500" lvl="0" marL="457200" rtl="0" algn="l">
              <a:spcBef>
                <a:spcPts val="1600"/>
              </a:spcBef>
              <a:spcAft>
                <a:spcPts val="0"/>
              </a:spcAft>
              <a:buSzPts val="1400"/>
              <a:buChar char="●"/>
            </a:pPr>
            <a:r>
              <a:rPr lang="en"/>
              <a:t>This is put in the global scope or the function scope for the data segment or the stack respectively</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With malloc’s space, you can change that string to be whatever they want. </a:t>
            </a:r>
            <a:endParaRPr/>
          </a:p>
          <a:p>
            <a:pPr indent="0" lvl="0" marL="0" rtl="0" algn="l">
              <a:spcBef>
                <a:spcPts val="1600"/>
              </a:spcBef>
              <a:spcAft>
                <a:spcPts val="0"/>
              </a:spcAft>
              <a:buClr>
                <a:schemeClr val="dk1"/>
              </a:buClr>
              <a:buSzPts val="1100"/>
              <a:buFont typeface="Arial"/>
              <a:buNone/>
            </a:pPr>
            <a:r>
              <a:rPr lang="en"/>
              <a:t>Don’t forget ‘\0’ to terminate a string!!!</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type="title"/>
          </p:nvPr>
        </p:nvSpPr>
        <p:spPr>
          <a:xfrm>
            <a:off x="-26450" y="248625"/>
            <a:ext cx="7347900" cy="7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Program memory layout</a:t>
            </a:r>
            <a:endParaRPr/>
          </a:p>
        </p:txBody>
      </p:sp>
      <p:sp>
        <p:nvSpPr>
          <p:cNvPr id="223" name="Google Shape;223;p37"/>
          <p:cNvSpPr txBox="1"/>
          <p:nvPr>
            <p:ph idx="2" type="body"/>
          </p:nvPr>
        </p:nvSpPr>
        <p:spPr>
          <a:xfrm>
            <a:off x="2326450" y="660450"/>
            <a:ext cx="6619800" cy="4373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b="1" lang="en" sz="1390"/>
              <a:t>stack:</a:t>
            </a:r>
            <a:endParaRPr b="1" sz="1390"/>
          </a:p>
          <a:p>
            <a:pPr indent="-316865" lvl="0" marL="457200" rtl="0" algn="l">
              <a:lnSpc>
                <a:spcPct val="95000"/>
              </a:lnSpc>
              <a:spcBef>
                <a:spcPts val="0"/>
              </a:spcBef>
              <a:spcAft>
                <a:spcPts val="0"/>
              </a:spcAft>
              <a:buSzPts val="1390"/>
              <a:buChar char="●"/>
            </a:pPr>
            <a:r>
              <a:rPr lang="en" sz="1390"/>
              <a:t>a dynamically growing and shrinking segment containing stack frames.</a:t>
            </a:r>
            <a:endParaRPr sz="1390"/>
          </a:p>
          <a:p>
            <a:pPr indent="-316865" lvl="0" marL="457200" rtl="0" algn="l">
              <a:lnSpc>
                <a:spcPct val="95000"/>
              </a:lnSpc>
              <a:spcBef>
                <a:spcPts val="0"/>
              </a:spcBef>
              <a:spcAft>
                <a:spcPts val="0"/>
              </a:spcAft>
              <a:buSzPts val="1390"/>
              <a:buChar char="●"/>
            </a:pPr>
            <a:r>
              <a:rPr lang="en" sz="1390"/>
              <a:t> One stack frame is allocated for each currently called function.</a:t>
            </a:r>
            <a:endParaRPr sz="1390"/>
          </a:p>
          <a:p>
            <a:pPr indent="-306069" lvl="1" marL="914400" rtl="0" algn="l">
              <a:lnSpc>
                <a:spcPct val="95000"/>
              </a:lnSpc>
              <a:spcBef>
                <a:spcPts val="0"/>
              </a:spcBef>
              <a:spcAft>
                <a:spcPts val="0"/>
              </a:spcAft>
              <a:buSzPts val="1220"/>
              <a:buChar char="○"/>
            </a:pPr>
            <a:r>
              <a:rPr lang="en" sz="1220"/>
              <a:t>A frame stores the function’s local variables (so-called automatic variables), arguments, and return value.</a:t>
            </a:r>
            <a:endParaRPr sz="1220"/>
          </a:p>
          <a:p>
            <a:pPr indent="0" lvl="0" marL="0" rtl="0" algn="l">
              <a:lnSpc>
                <a:spcPct val="95000"/>
              </a:lnSpc>
              <a:spcBef>
                <a:spcPts val="0"/>
              </a:spcBef>
              <a:spcAft>
                <a:spcPts val="0"/>
              </a:spcAft>
              <a:buSzPts val="935"/>
              <a:buNone/>
            </a:pPr>
            <a:r>
              <a:t/>
            </a:r>
            <a:endParaRPr b="1" sz="1390"/>
          </a:p>
          <a:p>
            <a:pPr indent="0" lvl="0" marL="0" rtl="0" algn="l">
              <a:lnSpc>
                <a:spcPct val="95000"/>
              </a:lnSpc>
              <a:spcBef>
                <a:spcPts val="0"/>
              </a:spcBef>
              <a:spcAft>
                <a:spcPts val="0"/>
              </a:spcAft>
              <a:buSzPts val="935"/>
              <a:buNone/>
            </a:pPr>
            <a:r>
              <a:rPr b="1" lang="en" sz="1390"/>
              <a:t>Heap:</a:t>
            </a:r>
            <a:endParaRPr b="1" sz="1390"/>
          </a:p>
          <a:p>
            <a:pPr indent="-316865" lvl="0" marL="457200" rtl="0" algn="l">
              <a:lnSpc>
                <a:spcPct val="95000"/>
              </a:lnSpc>
              <a:spcBef>
                <a:spcPts val="0"/>
              </a:spcBef>
              <a:spcAft>
                <a:spcPts val="0"/>
              </a:spcAft>
              <a:buSzPts val="1390"/>
              <a:buChar char="●"/>
            </a:pPr>
            <a:r>
              <a:rPr lang="en" sz="1390"/>
              <a:t>an area from which memory (for variables) can be dynamically allocated at run time. </a:t>
            </a:r>
            <a:endParaRPr sz="1390"/>
          </a:p>
          <a:p>
            <a:pPr indent="-316865" lvl="0" marL="457200" rtl="0" algn="l">
              <a:lnSpc>
                <a:spcPct val="95000"/>
              </a:lnSpc>
              <a:spcBef>
                <a:spcPts val="0"/>
              </a:spcBef>
              <a:spcAft>
                <a:spcPts val="0"/>
              </a:spcAft>
              <a:buSzPts val="1390"/>
              <a:buChar char="●"/>
            </a:pPr>
            <a:r>
              <a:rPr lang="en" sz="1390"/>
              <a:t>The top end of the heap is called the </a:t>
            </a:r>
            <a:r>
              <a:rPr b="1" lang="en" sz="1390"/>
              <a:t>program break.</a:t>
            </a:r>
            <a:endParaRPr b="1" sz="1390"/>
          </a:p>
          <a:p>
            <a:pPr indent="0" lvl="0" marL="0" rtl="0" algn="l">
              <a:lnSpc>
                <a:spcPct val="95000"/>
              </a:lnSpc>
              <a:spcBef>
                <a:spcPts val="0"/>
              </a:spcBef>
              <a:spcAft>
                <a:spcPts val="0"/>
              </a:spcAft>
              <a:buSzPts val="935"/>
              <a:buNone/>
            </a:pPr>
            <a:r>
              <a:t/>
            </a:r>
            <a:endParaRPr b="1" sz="1390"/>
          </a:p>
          <a:p>
            <a:pPr indent="0" lvl="0" marL="0" rtl="0" algn="l">
              <a:lnSpc>
                <a:spcPct val="95000"/>
              </a:lnSpc>
              <a:spcBef>
                <a:spcPts val="0"/>
              </a:spcBef>
              <a:spcAft>
                <a:spcPts val="0"/>
              </a:spcAft>
              <a:buSzPts val="935"/>
              <a:buNone/>
            </a:pPr>
            <a:r>
              <a:rPr b="1" lang="en" sz="1390"/>
              <a:t>text: </a:t>
            </a:r>
            <a:endParaRPr b="1" sz="1390"/>
          </a:p>
          <a:p>
            <a:pPr indent="-316865" lvl="0" marL="457200" rtl="0" algn="l">
              <a:lnSpc>
                <a:spcPct val="95000"/>
              </a:lnSpc>
              <a:spcBef>
                <a:spcPts val="0"/>
              </a:spcBef>
              <a:spcAft>
                <a:spcPts val="0"/>
              </a:spcAft>
              <a:buSzPts val="1390"/>
              <a:buChar char="●"/>
            </a:pPr>
            <a:r>
              <a:rPr lang="en" sz="1390"/>
              <a:t>code segment, executable instructions</a:t>
            </a:r>
            <a:endParaRPr sz="1390"/>
          </a:p>
          <a:p>
            <a:pPr indent="0" lvl="0" marL="0" rtl="0" algn="l">
              <a:lnSpc>
                <a:spcPct val="95000"/>
              </a:lnSpc>
              <a:spcBef>
                <a:spcPts val="0"/>
              </a:spcBef>
              <a:spcAft>
                <a:spcPts val="0"/>
              </a:spcAft>
              <a:buSzPts val="935"/>
              <a:buNone/>
            </a:pPr>
            <a:r>
              <a:t/>
            </a:r>
            <a:endParaRPr b="1" sz="1390"/>
          </a:p>
          <a:p>
            <a:pPr indent="0" lvl="0" marL="0" rtl="0" algn="l">
              <a:lnSpc>
                <a:spcPct val="95000"/>
              </a:lnSpc>
              <a:spcBef>
                <a:spcPts val="0"/>
              </a:spcBef>
              <a:spcAft>
                <a:spcPts val="0"/>
              </a:spcAft>
              <a:buSzPts val="935"/>
              <a:buNone/>
            </a:pPr>
            <a:r>
              <a:rPr b="1" lang="en" sz="1390"/>
              <a:t>Data segment: </a:t>
            </a:r>
            <a:endParaRPr b="1" sz="1390"/>
          </a:p>
          <a:p>
            <a:pPr indent="-316865" lvl="0" marL="457200" rtl="0" algn="l">
              <a:lnSpc>
                <a:spcPct val="95000"/>
              </a:lnSpc>
              <a:spcBef>
                <a:spcPts val="0"/>
              </a:spcBef>
              <a:spcAft>
                <a:spcPts val="0"/>
              </a:spcAft>
              <a:buSzPts val="1390"/>
              <a:buChar char="●"/>
            </a:pPr>
            <a:r>
              <a:rPr lang="en" sz="1390"/>
              <a:t>initialized global and static variables</a:t>
            </a:r>
            <a:endParaRPr sz="1390"/>
          </a:p>
          <a:p>
            <a:pPr indent="0" lvl="0" marL="0" rtl="0" algn="l">
              <a:lnSpc>
                <a:spcPct val="95000"/>
              </a:lnSpc>
              <a:spcBef>
                <a:spcPts val="0"/>
              </a:spcBef>
              <a:spcAft>
                <a:spcPts val="0"/>
              </a:spcAft>
              <a:buSzPts val="935"/>
              <a:buNone/>
            </a:pPr>
            <a:r>
              <a:t/>
            </a:r>
            <a:endParaRPr b="1" sz="1390"/>
          </a:p>
          <a:p>
            <a:pPr indent="0" lvl="0" marL="0" rtl="0" algn="l">
              <a:lnSpc>
                <a:spcPct val="95000"/>
              </a:lnSpc>
              <a:spcBef>
                <a:spcPts val="0"/>
              </a:spcBef>
              <a:spcAft>
                <a:spcPts val="0"/>
              </a:spcAft>
              <a:buSzPts val="935"/>
              <a:buNone/>
            </a:pPr>
            <a:r>
              <a:rPr b="1" lang="en" sz="1390"/>
              <a:t>Bss segment:</a:t>
            </a:r>
            <a:r>
              <a:rPr lang="en" sz="1390"/>
              <a:t>  </a:t>
            </a:r>
            <a:endParaRPr sz="1390"/>
          </a:p>
          <a:p>
            <a:pPr indent="-316865" lvl="0" marL="457200" rtl="0" algn="l">
              <a:lnSpc>
                <a:spcPct val="95000"/>
              </a:lnSpc>
              <a:spcBef>
                <a:spcPts val="0"/>
              </a:spcBef>
              <a:spcAft>
                <a:spcPts val="0"/>
              </a:spcAft>
              <a:buSzPts val="1390"/>
              <a:buChar char="●"/>
            </a:pPr>
            <a:r>
              <a:rPr lang="en" sz="1390"/>
              <a:t>all global variables and static variables that are initialized to zero </a:t>
            </a:r>
            <a:endParaRPr sz="1390"/>
          </a:p>
          <a:p>
            <a:pPr indent="-316865" lvl="0" marL="457200" rtl="0" algn="l">
              <a:lnSpc>
                <a:spcPct val="95000"/>
              </a:lnSpc>
              <a:spcBef>
                <a:spcPts val="0"/>
              </a:spcBef>
              <a:spcAft>
                <a:spcPts val="0"/>
              </a:spcAft>
              <a:buSzPts val="1390"/>
              <a:buChar char="●"/>
            </a:pPr>
            <a:r>
              <a:rPr lang="en" sz="1390"/>
              <a:t>or do not have explicit initialization in source code. </a:t>
            </a:r>
            <a:endParaRPr sz="1390"/>
          </a:p>
          <a:p>
            <a:pPr indent="-316865" lvl="0" marL="457200" rtl="0" algn="l">
              <a:lnSpc>
                <a:spcPct val="95000"/>
              </a:lnSpc>
              <a:spcBef>
                <a:spcPts val="0"/>
              </a:spcBef>
              <a:spcAft>
                <a:spcPts val="0"/>
              </a:spcAft>
              <a:buSzPts val="1390"/>
              <a:buChar char="●"/>
            </a:pPr>
            <a:r>
              <a:rPr lang="en" sz="1390"/>
              <a:t>The whole segment is initialized to 0 at the start. </a:t>
            </a:r>
            <a:endParaRPr sz="1390"/>
          </a:p>
        </p:txBody>
      </p:sp>
      <p:pic>
        <p:nvPicPr>
          <p:cNvPr id="224" name="Google Shape;224;p37"/>
          <p:cNvPicPr preferRelativeResize="0"/>
          <p:nvPr/>
        </p:nvPicPr>
        <p:blipFill>
          <a:blip r:embed="rId3">
            <a:alphaModFix/>
          </a:blip>
          <a:stretch>
            <a:fillRect/>
          </a:stretch>
        </p:blipFill>
        <p:spPr>
          <a:xfrm>
            <a:off x="464973" y="1017825"/>
            <a:ext cx="1419075" cy="3630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8"/>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char arrays vs string constants</a:t>
            </a:r>
            <a:endParaRPr/>
          </a:p>
        </p:txBody>
      </p:sp>
      <p:sp>
        <p:nvSpPr>
          <p:cNvPr id="230" name="Google Shape;230;p38"/>
          <p:cNvSpPr txBox="1"/>
          <p:nvPr>
            <p:ph idx="2" type="body"/>
          </p:nvPr>
        </p:nvSpPr>
        <p:spPr>
          <a:xfrm>
            <a:off x="678400" y="2662175"/>
            <a:ext cx="7862100" cy="21954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150">
                <a:solidFill>
                  <a:srgbClr val="0000FF"/>
                </a:solidFill>
                <a:highlight>
                  <a:srgbClr val="FFFFFF"/>
                </a:highlight>
                <a:latin typeface="Courier New"/>
                <a:ea typeface="Courier New"/>
                <a:cs typeface="Courier New"/>
                <a:sym typeface="Courier New"/>
              </a:rPr>
              <a:t>char</a:t>
            </a:r>
            <a:r>
              <a:rPr b="1" lang="en" sz="1150">
                <a:solidFill>
                  <a:schemeClr val="dk1"/>
                </a:solidFill>
                <a:highlight>
                  <a:srgbClr val="FFFFFF"/>
                </a:highlight>
                <a:latin typeface="Courier New"/>
                <a:ea typeface="Courier New"/>
                <a:cs typeface="Courier New"/>
                <a:sym typeface="Courier New"/>
              </a:rPr>
              <a:t> *str1 =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Bhuvy likes books</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0000FF"/>
                </a:solidFill>
                <a:highlight>
                  <a:srgbClr val="FFFFFF"/>
                </a:highlight>
                <a:latin typeface="Courier New"/>
                <a:ea typeface="Courier New"/>
                <a:cs typeface="Courier New"/>
                <a:sym typeface="Courier New"/>
              </a:rPr>
              <a:t>char</a:t>
            </a:r>
            <a:r>
              <a:rPr b="1" lang="en" sz="1150">
                <a:solidFill>
                  <a:schemeClr val="dk1"/>
                </a:solidFill>
                <a:highlight>
                  <a:srgbClr val="FFFFFF"/>
                </a:highlight>
                <a:latin typeface="Courier New"/>
                <a:ea typeface="Courier New"/>
                <a:cs typeface="Courier New"/>
                <a:sym typeface="Courier New"/>
              </a:rPr>
              <a:t> *str2 =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Bhuvy likes books</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008000"/>
                </a:solidFill>
                <a:highlight>
                  <a:srgbClr val="FFFFFF"/>
                </a:highlight>
                <a:latin typeface="Courier New"/>
                <a:ea typeface="Courier New"/>
                <a:cs typeface="Courier New"/>
                <a:sym typeface="Courier New"/>
              </a:rPr>
              <a:t>/*two string may reside in the same memory*/</a:t>
            </a:r>
            <a:endParaRPr b="1" sz="11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008000"/>
                </a:solidFill>
                <a:highlight>
                  <a:srgbClr val="FFFFFF"/>
                </a:highlight>
                <a:latin typeface="Courier New"/>
                <a:ea typeface="Courier New"/>
                <a:cs typeface="Courier New"/>
                <a:sym typeface="Courier New"/>
              </a:rPr>
              <a:t>/*however, char arrays must reside in different locations*/</a:t>
            </a:r>
            <a:endParaRPr b="1" sz="11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0000FF"/>
                </a:solidFill>
                <a:highlight>
                  <a:srgbClr val="FFFFFF"/>
                </a:highlight>
                <a:latin typeface="Courier New"/>
                <a:ea typeface="Courier New"/>
                <a:cs typeface="Courier New"/>
                <a:sym typeface="Courier New"/>
              </a:rPr>
              <a:t>char</a:t>
            </a:r>
            <a:r>
              <a:rPr b="1" lang="en" sz="1150">
                <a:solidFill>
                  <a:schemeClr val="dk1"/>
                </a:solidFill>
                <a:highlight>
                  <a:srgbClr val="FFFFFF"/>
                </a:highlight>
                <a:latin typeface="Courier New"/>
                <a:ea typeface="Courier New"/>
                <a:cs typeface="Courier New"/>
                <a:sym typeface="Courier New"/>
              </a:rPr>
              <a:t> arr1</a:t>
            </a:r>
            <a:r>
              <a:rPr b="1" lang="en" sz="1150">
                <a:solidFill>
                  <a:srgbClr val="0000F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 =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Bhuvy also likes to write</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0000FF"/>
                </a:solidFill>
                <a:highlight>
                  <a:srgbClr val="FFFFFF"/>
                </a:highlight>
                <a:latin typeface="Courier New"/>
                <a:ea typeface="Courier New"/>
                <a:cs typeface="Courier New"/>
                <a:sym typeface="Courier New"/>
              </a:rPr>
              <a:t>char</a:t>
            </a:r>
            <a:r>
              <a:rPr b="1" lang="en" sz="1150">
                <a:solidFill>
                  <a:schemeClr val="dk1"/>
                </a:solidFill>
                <a:highlight>
                  <a:srgbClr val="FFFFFF"/>
                </a:highlight>
                <a:latin typeface="Courier New"/>
                <a:ea typeface="Courier New"/>
                <a:cs typeface="Courier New"/>
                <a:sym typeface="Courier New"/>
              </a:rPr>
              <a:t> arr2</a:t>
            </a:r>
            <a:r>
              <a:rPr b="1" lang="en" sz="1150">
                <a:solidFill>
                  <a:srgbClr val="0000F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 =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Bhuvy also likes to write</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a:t>
            </a:r>
            <a:endParaRPr b="1" sz="115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300"/>
          </a:p>
        </p:txBody>
      </p:sp>
      <p:sp>
        <p:nvSpPr>
          <p:cNvPr id="231" name="Google Shape;231;p38"/>
          <p:cNvSpPr txBox="1"/>
          <p:nvPr>
            <p:ph idx="1" type="body"/>
          </p:nvPr>
        </p:nvSpPr>
        <p:spPr>
          <a:xfrm>
            <a:off x="633975" y="1063250"/>
            <a:ext cx="7500600" cy="13587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150">
                <a:solidFill>
                  <a:srgbClr val="0000FF"/>
                </a:solidFill>
                <a:highlight>
                  <a:srgbClr val="FFFFFF"/>
                </a:highlight>
                <a:latin typeface="Courier New"/>
                <a:ea typeface="Courier New"/>
                <a:cs typeface="Courier New"/>
                <a:sym typeface="Courier New"/>
              </a:rPr>
              <a:t>char</a:t>
            </a:r>
            <a:r>
              <a:rPr b="1" lang="en" sz="1150">
                <a:solidFill>
                  <a:schemeClr val="dk1"/>
                </a:solidFill>
                <a:highlight>
                  <a:srgbClr val="FFFFFF"/>
                </a:highlight>
                <a:latin typeface="Courier New"/>
                <a:ea typeface="Courier New"/>
                <a:cs typeface="Courier New"/>
                <a:sym typeface="Courier New"/>
              </a:rPr>
              <a:t> array</a:t>
            </a:r>
            <a:r>
              <a:rPr b="1" lang="en" sz="1150">
                <a:solidFill>
                  <a:srgbClr val="0000F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 =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Hi!</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 </a:t>
            </a:r>
            <a:r>
              <a:rPr b="1" lang="en" sz="1150">
                <a:solidFill>
                  <a:srgbClr val="008000"/>
                </a:solidFill>
                <a:highlight>
                  <a:srgbClr val="FFFFFF"/>
                </a:highlight>
                <a:latin typeface="Courier New"/>
                <a:ea typeface="Courier New"/>
                <a:cs typeface="Courier New"/>
                <a:sym typeface="Courier New"/>
              </a:rPr>
              <a:t>// array contains a mutable copy</a:t>
            </a:r>
            <a:endParaRPr b="1" sz="11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74531F"/>
                </a:solidFill>
                <a:highlight>
                  <a:srgbClr val="FFFFFF"/>
                </a:highlight>
                <a:latin typeface="Courier New"/>
                <a:ea typeface="Courier New"/>
                <a:cs typeface="Courier New"/>
                <a:sym typeface="Courier New"/>
              </a:rPr>
              <a:t>strcpy</a:t>
            </a:r>
            <a:r>
              <a:rPr b="1" lang="en" sz="1150">
                <a:solidFill>
                  <a:schemeClr val="dk1"/>
                </a:solidFill>
                <a:highlight>
                  <a:srgbClr val="FFFFFF"/>
                </a:highlight>
                <a:latin typeface="Courier New"/>
                <a:ea typeface="Courier New"/>
                <a:cs typeface="Courier New"/>
                <a:sym typeface="Courier New"/>
              </a:rPr>
              <a:t>(</a:t>
            </a:r>
            <a:r>
              <a:rPr b="1" lang="en" sz="1150">
                <a:solidFill>
                  <a:srgbClr val="808080"/>
                </a:solidFill>
                <a:highlight>
                  <a:srgbClr val="FFFFFF"/>
                </a:highlight>
                <a:latin typeface="Courier New"/>
                <a:ea typeface="Courier New"/>
                <a:cs typeface="Courier New"/>
                <a:sym typeface="Courier New"/>
              </a:rPr>
              <a:t>array</a:t>
            </a:r>
            <a:r>
              <a:rPr b="1" lang="en" sz="1150">
                <a:solidFill>
                  <a:schemeClr val="dk1"/>
                </a:solidFill>
                <a:highlight>
                  <a:srgbClr val="FFFFFF"/>
                </a:highlight>
                <a:latin typeface="Courier New"/>
                <a:ea typeface="Courier New"/>
                <a:cs typeface="Courier New"/>
                <a:sym typeface="Courier New"/>
              </a:rPr>
              <a:t>,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OK</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0000FF"/>
                </a:solidFill>
                <a:highlight>
                  <a:srgbClr val="FFFFFF"/>
                </a:highlight>
                <a:latin typeface="Courier New"/>
                <a:ea typeface="Courier New"/>
                <a:cs typeface="Courier New"/>
                <a:sym typeface="Courier New"/>
              </a:rPr>
              <a:t>char</a:t>
            </a:r>
            <a:r>
              <a:rPr b="1" lang="en" sz="1150">
                <a:solidFill>
                  <a:schemeClr val="dk1"/>
                </a:solidFill>
                <a:highlight>
                  <a:srgbClr val="FFFFFF"/>
                </a:highlight>
                <a:latin typeface="Courier New"/>
                <a:ea typeface="Courier New"/>
                <a:cs typeface="Courier New"/>
                <a:sym typeface="Courier New"/>
              </a:rPr>
              <a:t> *ptr =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Can’t change me</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 </a:t>
            </a:r>
            <a:r>
              <a:rPr b="1" lang="en" sz="1150">
                <a:solidFill>
                  <a:srgbClr val="008000"/>
                </a:solidFill>
                <a:highlight>
                  <a:srgbClr val="FFFFFF"/>
                </a:highlight>
                <a:latin typeface="Courier New"/>
                <a:ea typeface="Courier New"/>
                <a:cs typeface="Courier New"/>
                <a:sym typeface="Courier New"/>
              </a:rPr>
              <a:t>// ptr points to some immutable memory</a:t>
            </a:r>
            <a:endParaRPr b="1" sz="11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74531F"/>
                </a:solidFill>
                <a:highlight>
                  <a:srgbClr val="FFFFFF"/>
                </a:highlight>
                <a:latin typeface="Courier New"/>
                <a:ea typeface="Courier New"/>
                <a:cs typeface="Courier New"/>
                <a:sym typeface="Courier New"/>
              </a:rPr>
              <a:t>strcpy</a:t>
            </a:r>
            <a:r>
              <a:rPr b="1" lang="en" sz="1150">
                <a:solidFill>
                  <a:schemeClr val="dk1"/>
                </a:solidFill>
                <a:highlight>
                  <a:srgbClr val="FFFFFF"/>
                </a:highlight>
                <a:latin typeface="Courier New"/>
                <a:ea typeface="Courier New"/>
                <a:cs typeface="Courier New"/>
                <a:sym typeface="Courier New"/>
              </a:rPr>
              <a:t>(</a:t>
            </a:r>
            <a:r>
              <a:rPr b="1" lang="en" sz="1150">
                <a:solidFill>
                  <a:srgbClr val="808080"/>
                </a:solidFill>
                <a:highlight>
                  <a:srgbClr val="FFFFFF"/>
                </a:highlight>
                <a:latin typeface="Courier New"/>
                <a:ea typeface="Courier New"/>
                <a:cs typeface="Courier New"/>
                <a:sym typeface="Courier New"/>
              </a:rPr>
              <a:t>ptr</a:t>
            </a:r>
            <a:r>
              <a:rPr b="1" lang="en" sz="1150">
                <a:solidFill>
                  <a:schemeClr val="dk1"/>
                </a:solidFill>
                <a:highlight>
                  <a:srgbClr val="FFFFFF"/>
                </a:highlight>
                <a:latin typeface="Courier New"/>
                <a:ea typeface="Courier New"/>
                <a:cs typeface="Courier New"/>
                <a:sym typeface="Courier New"/>
              </a:rPr>
              <a:t>,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Will not work</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a:t>
            </a:r>
            <a:endParaRPr b="1" sz="1300"/>
          </a:p>
        </p:txBody>
      </p:sp>
      <p:pic>
        <p:nvPicPr>
          <p:cNvPr id="232" name="Google Shape;232;p38"/>
          <p:cNvPicPr preferRelativeResize="0"/>
          <p:nvPr/>
        </p:nvPicPr>
        <p:blipFill>
          <a:blip r:embed="rId3">
            <a:alphaModFix/>
          </a:blip>
          <a:stretch>
            <a:fillRect/>
          </a:stretch>
        </p:blipFill>
        <p:spPr>
          <a:xfrm>
            <a:off x="7121423" y="982600"/>
            <a:ext cx="1419075" cy="3630700"/>
          </a:xfrm>
          <a:prstGeom prst="rect">
            <a:avLst/>
          </a:prstGeom>
          <a:noFill/>
          <a:ln>
            <a:noFill/>
          </a:ln>
        </p:spPr>
      </p:pic>
      <p:cxnSp>
        <p:nvCxnSpPr>
          <p:cNvPr id="233" name="Google Shape;233;p38"/>
          <p:cNvCxnSpPr/>
          <p:nvPr/>
        </p:nvCxnSpPr>
        <p:spPr>
          <a:xfrm>
            <a:off x="5166450" y="1277150"/>
            <a:ext cx="1978800" cy="111600"/>
          </a:xfrm>
          <a:prstGeom prst="straightConnector1">
            <a:avLst/>
          </a:prstGeom>
          <a:noFill/>
          <a:ln cap="flat" cmpd="sng" w="9525">
            <a:solidFill>
              <a:schemeClr val="dk2"/>
            </a:solidFill>
            <a:prstDash val="solid"/>
            <a:round/>
            <a:headEnd len="med" w="med" type="none"/>
            <a:tailEnd len="med" w="med" type="triangle"/>
          </a:ln>
        </p:spPr>
      </p:cxnSp>
      <p:cxnSp>
        <p:nvCxnSpPr>
          <p:cNvPr id="234" name="Google Shape;234;p38"/>
          <p:cNvCxnSpPr/>
          <p:nvPr/>
        </p:nvCxnSpPr>
        <p:spPr>
          <a:xfrm flipH="1" rot="10800000">
            <a:off x="4496850" y="1476900"/>
            <a:ext cx="2577900" cy="2753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9"/>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 arrays vs string constants</a:t>
            </a:r>
            <a:endParaRPr/>
          </a:p>
        </p:txBody>
      </p:sp>
      <p:sp>
        <p:nvSpPr>
          <p:cNvPr id="240" name="Google Shape;240;p39"/>
          <p:cNvSpPr txBox="1"/>
          <p:nvPr>
            <p:ph idx="1" type="body"/>
          </p:nvPr>
        </p:nvSpPr>
        <p:spPr>
          <a:xfrm>
            <a:off x="372775" y="1208350"/>
            <a:ext cx="4222200" cy="360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/*Common ways to initialize a string*/</a:t>
            </a:r>
            <a:endParaRPr b="1"/>
          </a:p>
          <a:p>
            <a:pPr indent="0" lvl="0" marL="0" rtl="0" algn="l">
              <a:spcBef>
                <a:spcPts val="0"/>
              </a:spcBef>
              <a:spcAft>
                <a:spcPts val="0"/>
              </a:spcAft>
              <a:buNone/>
            </a:pPr>
            <a:r>
              <a:rPr b="1" lang="en">
                <a:solidFill>
                  <a:schemeClr val="dk1"/>
                </a:solidFill>
              </a:rPr>
              <a:t>#include &lt;stdio.h&gt;</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int main() {</a:t>
            </a:r>
            <a:endParaRPr b="1">
              <a:solidFill>
                <a:schemeClr val="dk1"/>
              </a:solidFill>
            </a:endParaRPr>
          </a:p>
          <a:p>
            <a:pPr indent="0" lvl="0" marL="0" rtl="0" algn="l">
              <a:spcBef>
                <a:spcPts val="0"/>
              </a:spcBef>
              <a:spcAft>
                <a:spcPts val="0"/>
              </a:spcAft>
              <a:buNone/>
            </a:pPr>
            <a:r>
              <a:rPr b="1" lang="en">
                <a:solidFill>
                  <a:schemeClr val="dk1"/>
                </a:solidFill>
              </a:rPr>
              <a:t>        char *s0 = "abc";</a:t>
            </a:r>
            <a:endParaRPr b="1">
              <a:solidFill>
                <a:schemeClr val="dk1"/>
              </a:solidFill>
            </a:endParaRPr>
          </a:p>
          <a:p>
            <a:pPr indent="0" lvl="0" marL="0" rtl="0" algn="l">
              <a:spcBef>
                <a:spcPts val="0"/>
              </a:spcBef>
              <a:spcAft>
                <a:spcPts val="0"/>
              </a:spcAft>
              <a:buNone/>
            </a:pPr>
            <a:r>
              <a:rPr b="1" lang="en">
                <a:solidFill>
                  <a:schemeClr val="dk1"/>
                </a:solidFill>
              </a:rPr>
              <a:t>        char *s1 = "abc";</a:t>
            </a:r>
            <a:endParaRPr b="1">
              <a:solidFill>
                <a:schemeClr val="dk1"/>
              </a:solidFill>
            </a:endParaRPr>
          </a:p>
          <a:p>
            <a:pPr indent="0" lvl="0" marL="0" rtl="0" algn="l">
              <a:spcBef>
                <a:spcPts val="0"/>
              </a:spcBef>
              <a:spcAft>
                <a:spcPts val="0"/>
              </a:spcAft>
              <a:buNone/>
            </a:pPr>
            <a:r>
              <a:rPr b="1" lang="en">
                <a:solidFill>
                  <a:schemeClr val="dk1"/>
                </a:solidFill>
              </a:rPr>
              <a:t>        char s2[] = "abc";</a:t>
            </a:r>
            <a:endParaRPr b="1">
              <a:solidFill>
                <a:schemeClr val="dk1"/>
              </a:solidFill>
            </a:endParaRPr>
          </a:p>
          <a:p>
            <a:pPr indent="0" lvl="0" marL="0" rtl="0" algn="l">
              <a:spcBef>
                <a:spcPts val="0"/>
              </a:spcBef>
              <a:spcAft>
                <a:spcPts val="0"/>
              </a:spcAft>
              <a:buNone/>
            </a:pPr>
            <a:r>
              <a:rPr b="1" lang="en">
                <a:solidFill>
                  <a:schemeClr val="dk1"/>
                </a:solidFill>
              </a:rPr>
              <a:t>        char s3[]= "abc";</a:t>
            </a:r>
            <a:endParaRPr b="1">
              <a:solidFill>
                <a:schemeClr val="dk1"/>
              </a:solidFill>
            </a:endParaRPr>
          </a:p>
          <a:p>
            <a:pPr indent="0" lvl="0" marL="0" rtl="0" algn="l">
              <a:spcBef>
                <a:spcPts val="0"/>
              </a:spcBef>
              <a:spcAft>
                <a:spcPts val="0"/>
              </a:spcAft>
              <a:buNone/>
            </a:pPr>
            <a:r>
              <a:rPr b="1" lang="en">
                <a:solidFill>
                  <a:schemeClr val="dk1"/>
                </a:solidFill>
              </a:rPr>
              <a:t>        char s4[] = {'a', 'b', 'c', '\0'};</a:t>
            </a:r>
            <a:endParaRPr b="1">
              <a:solidFill>
                <a:schemeClr val="dk1"/>
              </a:solidFill>
            </a:endParaRPr>
          </a:p>
          <a:p>
            <a:pPr indent="0" lvl="0" marL="0" rtl="0" algn="l">
              <a:spcBef>
                <a:spcPts val="0"/>
              </a:spcBef>
              <a:spcAft>
                <a:spcPts val="0"/>
              </a:spcAft>
              <a:buNone/>
            </a:pPr>
            <a:r>
              <a:rPr b="1" lang="en">
                <a:solidFill>
                  <a:schemeClr val="dk1"/>
                </a:solidFill>
              </a:rPr>
              <a:t>        </a:t>
            </a:r>
            <a:r>
              <a:rPr b="1" lang="en">
                <a:solidFill>
                  <a:srgbClr val="FF0000"/>
                </a:solidFill>
              </a:rPr>
              <a:t>printf("%p, %s\n", s0, s0);</a:t>
            </a:r>
            <a:endParaRPr b="1">
              <a:solidFill>
                <a:srgbClr val="FF0000"/>
              </a:solidFill>
            </a:endParaRPr>
          </a:p>
          <a:p>
            <a:pPr indent="0" lvl="0" marL="0" rtl="0" algn="l">
              <a:spcBef>
                <a:spcPts val="0"/>
              </a:spcBef>
              <a:spcAft>
                <a:spcPts val="0"/>
              </a:spcAft>
              <a:buNone/>
            </a:pPr>
            <a:r>
              <a:rPr b="1" lang="en">
                <a:solidFill>
                  <a:srgbClr val="FF0000"/>
                </a:solidFill>
              </a:rPr>
              <a:t>        printf("%p, %s\n", s1, s1);</a:t>
            </a:r>
            <a:endParaRPr b="1">
              <a:solidFill>
                <a:srgbClr val="FF0000"/>
              </a:solidFill>
            </a:endParaRPr>
          </a:p>
          <a:p>
            <a:pPr indent="0" lvl="0" marL="0" rtl="0" algn="l">
              <a:spcBef>
                <a:spcPts val="0"/>
              </a:spcBef>
              <a:spcAft>
                <a:spcPts val="0"/>
              </a:spcAft>
              <a:buNone/>
            </a:pPr>
            <a:r>
              <a:rPr b="1" lang="en">
                <a:solidFill>
                  <a:schemeClr val="dk1"/>
                </a:solidFill>
              </a:rPr>
              <a:t>        printf("%p, %s\n", s2, s2);</a:t>
            </a:r>
            <a:endParaRPr b="1">
              <a:solidFill>
                <a:schemeClr val="dk1"/>
              </a:solidFill>
            </a:endParaRPr>
          </a:p>
          <a:p>
            <a:pPr indent="0" lvl="0" marL="0" rtl="0" algn="l">
              <a:spcBef>
                <a:spcPts val="0"/>
              </a:spcBef>
              <a:spcAft>
                <a:spcPts val="0"/>
              </a:spcAft>
              <a:buNone/>
            </a:pPr>
            <a:r>
              <a:rPr b="1" lang="en">
                <a:solidFill>
                  <a:schemeClr val="dk1"/>
                </a:solidFill>
              </a:rPr>
              <a:t>        printf("%p, %s\n", s3, s3);</a:t>
            </a:r>
            <a:endParaRPr b="1">
              <a:solidFill>
                <a:schemeClr val="dk1"/>
              </a:solidFill>
            </a:endParaRPr>
          </a:p>
          <a:p>
            <a:pPr indent="0" lvl="0" marL="0" rtl="0" algn="l">
              <a:spcBef>
                <a:spcPts val="0"/>
              </a:spcBef>
              <a:spcAft>
                <a:spcPts val="0"/>
              </a:spcAft>
              <a:buNone/>
            </a:pPr>
            <a:r>
              <a:rPr b="1" lang="en">
                <a:solidFill>
                  <a:schemeClr val="dk1"/>
                </a:solidFill>
              </a:rPr>
              <a:t>        printf("%p, %s\n", s4, s4);</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b="1"/>
          </a:p>
        </p:txBody>
      </p:sp>
      <p:sp>
        <p:nvSpPr>
          <p:cNvPr id="241" name="Google Shape;241;p39"/>
          <p:cNvSpPr txBox="1"/>
          <p:nvPr>
            <p:ph idx="2" type="body"/>
          </p:nvPr>
        </p:nvSpPr>
        <p:spPr>
          <a:xfrm>
            <a:off x="4594975" y="3219900"/>
            <a:ext cx="4222200" cy="1650600"/>
          </a:xfrm>
          <a:prstGeom prst="rect">
            <a:avLst/>
          </a:prstGeom>
          <a:solidFill>
            <a:srgbClr val="B7B7B7"/>
          </a:solidFill>
        </p:spPr>
        <p:txBody>
          <a:bodyPr anchorCtr="0" anchor="t" bIns="91425" lIns="91425" spcFirstLastPara="1" rIns="91425" wrap="square" tIns="91425">
            <a:noAutofit/>
          </a:bodyPr>
          <a:lstStyle/>
          <a:p>
            <a:pPr indent="0" lvl="0" marL="0" rtl="0" algn="l">
              <a:spcBef>
                <a:spcPts val="0"/>
              </a:spcBef>
              <a:spcAft>
                <a:spcPts val="0"/>
              </a:spcAft>
              <a:buNone/>
            </a:pPr>
            <a:r>
              <a:t/>
            </a:r>
            <a:endParaRPr b="1"/>
          </a:p>
          <a:p>
            <a:pPr indent="0" lvl="0" marL="0" rtl="0" algn="l">
              <a:spcBef>
                <a:spcPts val="0"/>
              </a:spcBef>
              <a:spcAft>
                <a:spcPts val="0"/>
              </a:spcAft>
              <a:buNone/>
            </a:pPr>
            <a:r>
              <a:rPr b="1" lang="en"/>
              <a:t>/* address and contents</a:t>
            </a:r>
            <a:endParaRPr b="1"/>
          </a:p>
          <a:p>
            <a:pPr indent="0" lvl="0" marL="0" rtl="0" algn="l">
              <a:spcBef>
                <a:spcPts val="0"/>
              </a:spcBef>
              <a:spcAft>
                <a:spcPts val="0"/>
              </a:spcAft>
              <a:buNone/>
            </a:pPr>
            <a:r>
              <a:rPr b="1" lang="en">
                <a:solidFill>
                  <a:srgbClr val="FF0000"/>
                </a:solidFill>
              </a:rPr>
              <a:t>0x563610d0f004</a:t>
            </a:r>
            <a:r>
              <a:rPr b="1" lang="en">
                <a:solidFill>
                  <a:schemeClr val="dk1"/>
                </a:solidFill>
              </a:rPr>
              <a:t>, abc</a:t>
            </a:r>
            <a:endParaRPr b="1">
              <a:solidFill>
                <a:schemeClr val="dk1"/>
              </a:solidFill>
            </a:endParaRPr>
          </a:p>
          <a:p>
            <a:pPr indent="0" lvl="0" marL="0" rtl="0" algn="l">
              <a:spcBef>
                <a:spcPts val="0"/>
              </a:spcBef>
              <a:spcAft>
                <a:spcPts val="0"/>
              </a:spcAft>
              <a:buNone/>
            </a:pPr>
            <a:r>
              <a:rPr b="1" lang="en">
                <a:solidFill>
                  <a:srgbClr val="FF0000"/>
                </a:solidFill>
              </a:rPr>
              <a:t>0x563610d0f004</a:t>
            </a:r>
            <a:r>
              <a:rPr b="1" lang="en">
                <a:solidFill>
                  <a:schemeClr val="dk1"/>
                </a:solidFill>
              </a:rPr>
              <a:t>, abc</a:t>
            </a:r>
            <a:endParaRPr b="1">
              <a:solidFill>
                <a:schemeClr val="dk1"/>
              </a:solidFill>
            </a:endParaRPr>
          </a:p>
          <a:p>
            <a:pPr indent="0" lvl="0" marL="0" rtl="0" algn="l">
              <a:spcBef>
                <a:spcPts val="0"/>
              </a:spcBef>
              <a:spcAft>
                <a:spcPts val="0"/>
              </a:spcAft>
              <a:buNone/>
            </a:pPr>
            <a:r>
              <a:rPr b="1" lang="en">
                <a:solidFill>
                  <a:schemeClr val="dk1"/>
                </a:solidFill>
              </a:rPr>
              <a:t>0x7ffc82bc7d9c, abc</a:t>
            </a:r>
            <a:endParaRPr b="1">
              <a:solidFill>
                <a:schemeClr val="dk1"/>
              </a:solidFill>
            </a:endParaRPr>
          </a:p>
          <a:p>
            <a:pPr indent="0" lvl="0" marL="0" rtl="0" algn="l">
              <a:spcBef>
                <a:spcPts val="0"/>
              </a:spcBef>
              <a:spcAft>
                <a:spcPts val="0"/>
              </a:spcAft>
              <a:buNone/>
            </a:pPr>
            <a:r>
              <a:rPr b="1" lang="en">
                <a:solidFill>
                  <a:schemeClr val="dk1"/>
                </a:solidFill>
              </a:rPr>
              <a:t>0x7ffc82bc7da0, abc</a:t>
            </a:r>
            <a:endParaRPr b="1">
              <a:solidFill>
                <a:schemeClr val="dk1"/>
              </a:solidFill>
            </a:endParaRPr>
          </a:p>
          <a:p>
            <a:pPr indent="0" lvl="0" marL="0" rtl="0" algn="l">
              <a:spcBef>
                <a:spcPts val="0"/>
              </a:spcBef>
              <a:spcAft>
                <a:spcPts val="0"/>
              </a:spcAft>
              <a:buNone/>
            </a:pPr>
            <a:r>
              <a:rPr b="1" lang="en">
                <a:solidFill>
                  <a:schemeClr val="dk1"/>
                </a:solidFill>
              </a:rPr>
              <a:t>0x7ffc82bc7da4, abc</a:t>
            </a:r>
            <a:endParaRPr b="1">
              <a:solidFill>
                <a:schemeClr val="dk1"/>
              </a:solidFill>
            </a:endParaRPr>
          </a:p>
          <a:p>
            <a:pPr indent="0" lvl="0" marL="0" rtl="0" algn="l">
              <a:spcBef>
                <a:spcPts val="0"/>
              </a:spcBef>
              <a:spcAft>
                <a:spcPts val="0"/>
              </a:spcAft>
              <a:buNone/>
            </a:pPr>
            <a:r>
              <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0"/>
          <p:cNvSpPr txBox="1"/>
          <p:nvPr>
            <p:ph type="title"/>
          </p:nvPr>
        </p:nvSpPr>
        <p:spPr>
          <a:xfrm>
            <a:off x="311700" y="250800"/>
            <a:ext cx="70101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Constant pointer vs Pointer to constant</a:t>
            </a:r>
            <a:endParaRPr/>
          </a:p>
        </p:txBody>
      </p:sp>
      <p:sp>
        <p:nvSpPr>
          <p:cNvPr id="247" name="Google Shape;247;p40"/>
          <p:cNvSpPr txBox="1"/>
          <p:nvPr>
            <p:ph idx="1" type="body"/>
          </p:nvPr>
        </p:nvSpPr>
        <p:spPr>
          <a:xfrm>
            <a:off x="4519725" y="903550"/>
            <a:ext cx="4460400" cy="34551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endParaRPr b="1"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008000"/>
                </a:solidFill>
                <a:highlight>
                  <a:srgbClr val="FFFFFF"/>
                </a:highlight>
                <a:latin typeface="Consolas"/>
                <a:ea typeface="Consolas"/>
                <a:cs typeface="Consolas"/>
                <a:sym typeface="Consolas"/>
              </a:rPr>
              <a:t>/*a constant pointer to int*/</a:t>
            </a:r>
            <a:endParaRPr b="1"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int</a:t>
            </a:r>
            <a:r>
              <a:rPr b="1" lang="en" sz="1350">
                <a:solidFill>
                  <a:schemeClr val="dk1"/>
                </a:solidFill>
                <a:highlight>
                  <a:srgbClr val="FFFFFF"/>
                </a:highlight>
                <a:latin typeface="Consolas"/>
                <a:ea typeface="Consolas"/>
                <a:cs typeface="Consolas"/>
                <a:sym typeface="Consolas"/>
              </a:rPr>
              <a:t> </a:t>
            </a:r>
            <a:r>
              <a:rPr b="1" lang="en" sz="1350">
                <a:solidFill>
                  <a:srgbClr val="1F377F"/>
                </a:solidFill>
                <a:highlight>
                  <a:srgbClr val="FFFFFF"/>
                </a:highlight>
                <a:latin typeface="Consolas"/>
                <a:ea typeface="Consolas"/>
                <a:cs typeface="Consolas"/>
                <a:sym typeface="Consolas"/>
              </a:rPr>
              <a:t>c</a:t>
            </a:r>
            <a:r>
              <a:rPr b="1" lang="en" sz="1350">
                <a:solidFill>
                  <a:schemeClr val="dk1"/>
                </a:solidFill>
                <a:highlight>
                  <a:srgbClr val="FFFFFF"/>
                </a:highlight>
                <a:latin typeface="Consolas"/>
                <a:ea typeface="Consolas"/>
                <a:cs typeface="Consolas"/>
                <a:sym typeface="Consolas"/>
              </a:rPr>
              <a:t> = </a:t>
            </a:r>
            <a:r>
              <a:rPr b="1" lang="en" sz="1350">
                <a:solidFill>
                  <a:srgbClr val="098658"/>
                </a:solidFill>
                <a:highlight>
                  <a:srgbClr val="FFFFFF"/>
                </a:highlight>
                <a:latin typeface="Consolas"/>
                <a:ea typeface="Consolas"/>
                <a:cs typeface="Consolas"/>
                <a:sym typeface="Consolas"/>
              </a:rPr>
              <a:t>15</a:t>
            </a:r>
            <a:r>
              <a:rPr b="1" lang="en" sz="1350">
                <a:solidFill>
                  <a:schemeClr val="dk1"/>
                </a:solidFill>
                <a:highlight>
                  <a:srgbClr val="FFFFFF"/>
                </a:highlight>
                <a:latin typeface="Consolas"/>
                <a:ea typeface="Consolas"/>
                <a:cs typeface="Consolas"/>
                <a:sym typeface="Consolas"/>
              </a:rPr>
              <a:t>, </a:t>
            </a:r>
            <a:r>
              <a:rPr b="1" lang="en" sz="1350">
                <a:solidFill>
                  <a:srgbClr val="1F377F"/>
                </a:solidFill>
                <a:highlight>
                  <a:srgbClr val="FFFFFF"/>
                </a:highlight>
                <a:latin typeface="Consolas"/>
                <a:ea typeface="Consolas"/>
                <a:cs typeface="Consolas"/>
                <a:sym typeface="Consolas"/>
              </a:rPr>
              <a:t>d</a:t>
            </a:r>
            <a:r>
              <a:rPr b="1" lang="en" sz="1350">
                <a:solidFill>
                  <a:schemeClr val="dk1"/>
                </a:solidFill>
                <a:highlight>
                  <a:srgbClr val="FFFFFF"/>
                </a:highlight>
                <a:latin typeface="Consolas"/>
                <a:ea typeface="Consolas"/>
                <a:cs typeface="Consolas"/>
                <a:sym typeface="Consolas"/>
              </a:rPr>
              <a:t> = </a:t>
            </a:r>
            <a:r>
              <a:rPr b="1" lang="en" sz="1350">
                <a:solidFill>
                  <a:srgbClr val="098658"/>
                </a:solidFill>
                <a:highlight>
                  <a:srgbClr val="FFFFFF"/>
                </a:highlight>
                <a:latin typeface="Consolas"/>
                <a:ea typeface="Consolas"/>
                <a:cs typeface="Consolas"/>
                <a:sym typeface="Consolas"/>
              </a:rPr>
              <a:t>20</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int</a:t>
            </a: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const</a:t>
            </a:r>
            <a:r>
              <a:rPr b="1" lang="en" sz="1350">
                <a:solidFill>
                  <a:schemeClr val="dk1"/>
                </a:solidFill>
                <a:highlight>
                  <a:srgbClr val="FFFFFF"/>
                </a:highlight>
                <a:latin typeface="Consolas"/>
                <a:ea typeface="Consolas"/>
                <a:cs typeface="Consolas"/>
                <a:sym typeface="Consolas"/>
              </a:rPr>
              <a:t> </a:t>
            </a:r>
            <a:r>
              <a:rPr b="1" lang="en" sz="1350">
                <a:solidFill>
                  <a:srgbClr val="1F377F"/>
                </a:solidFill>
                <a:highlight>
                  <a:srgbClr val="FFFFFF"/>
                </a:highlight>
                <a:latin typeface="Consolas"/>
                <a:ea typeface="Consolas"/>
                <a:cs typeface="Consolas"/>
                <a:sym typeface="Consolas"/>
              </a:rPr>
              <a:t>ptr2</a:t>
            </a:r>
            <a:r>
              <a:rPr b="1" lang="en" sz="1350">
                <a:solidFill>
                  <a:schemeClr val="dk1"/>
                </a:solidFill>
                <a:highlight>
                  <a:srgbClr val="FFFFFF"/>
                </a:highlight>
                <a:latin typeface="Consolas"/>
                <a:ea typeface="Consolas"/>
                <a:cs typeface="Consolas"/>
                <a:sym typeface="Consolas"/>
              </a:rPr>
              <a:t> = &amp;</a:t>
            </a:r>
            <a:r>
              <a:rPr b="1" lang="en" sz="1350">
                <a:solidFill>
                  <a:srgbClr val="1F377F"/>
                </a:solidFill>
                <a:highlight>
                  <a:srgbClr val="FFFFFF"/>
                </a:highlight>
                <a:latin typeface="Consolas"/>
                <a:ea typeface="Consolas"/>
                <a:cs typeface="Consolas"/>
                <a:sym typeface="Consolas"/>
              </a:rPr>
              <a:t>c</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008000"/>
                </a:solidFill>
                <a:highlight>
                  <a:srgbClr val="FFFFFF"/>
                </a:highlight>
                <a:latin typeface="Consolas"/>
                <a:ea typeface="Consolas"/>
                <a:cs typeface="Consolas"/>
                <a:sym typeface="Consolas"/>
              </a:rPr>
              <a:t>/*cannot change the pointer value*/</a:t>
            </a:r>
            <a:endParaRPr b="1"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strike="sngStrike">
                <a:solidFill>
                  <a:schemeClr val="dk1"/>
                </a:solidFill>
                <a:highlight>
                  <a:srgbClr val="FFFFFF"/>
                </a:highlight>
                <a:latin typeface="Consolas"/>
                <a:ea typeface="Consolas"/>
                <a:cs typeface="Consolas"/>
                <a:sym typeface="Consolas"/>
              </a:rPr>
              <a:t> </a:t>
            </a:r>
            <a:r>
              <a:rPr b="1" lang="en" sz="1350" strike="sngStrike">
                <a:solidFill>
                  <a:srgbClr val="1F377F"/>
                </a:solidFill>
                <a:highlight>
                  <a:srgbClr val="FFFFFF"/>
                </a:highlight>
                <a:latin typeface="Consolas"/>
                <a:ea typeface="Consolas"/>
                <a:cs typeface="Consolas"/>
                <a:sym typeface="Consolas"/>
              </a:rPr>
              <a:t>ptr2</a:t>
            </a:r>
            <a:r>
              <a:rPr b="1" lang="en" sz="1350" strike="sngStrike">
                <a:solidFill>
                  <a:schemeClr val="dk1"/>
                </a:solidFill>
                <a:highlight>
                  <a:srgbClr val="FFFFFF"/>
                </a:highlight>
                <a:latin typeface="Consolas"/>
                <a:ea typeface="Consolas"/>
                <a:cs typeface="Consolas"/>
                <a:sym typeface="Consolas"/>
              </a:rPr>
              <a:t> = &amp;</a:t>
            </a:r>
            <a:r>
              <a:rPr b="1" lang="en" sz="1350" strike="sngStrike">
                <a:solidFill>
                  <a:srgbClr val="1F377F"/>
                </a:solidFill>
                <a:highlight>
                  <a:srgbClr val="FFFFFF"/>
                </a:highlight>
                <a:latin typeface="Consolas"/>
                <a:ea typeface="Consolas"/>
                <a:cs typeface="Consolas"/>
                <a:sym typeface="Consolas"/>
              </a:rPr>
              <a:t>d</a:t>
            </a:r>
            <a:r>
              <a:rPr b="1" lang="en" sz="1350" strike="sngStrike">
                <a:solidFill>
                  <a:schemeClr val="dk1"/>
                </a:solidFill>
                <a:highlight>
                  <a:srgbClr val="FFFFFF"/>
                </a:highlight>
                <a:latin typeface="Consolas"/>
                <a:ea typeface="Consolas"/>
                <a:cs typeface="Consolas"/>
                <a:sym typeface="Consolas"/>
              </a:rPr>
              <a:t>;</a:t>
            </a:r>
            <a:endParaRPr b="1" sz="1350" strike="sngStrike">
              <a:solidFill>
                <a:schemeClr val="dk1"/>
              </a:solidFill>
              <a:highlight>
                <a:srgbClr val="FFFFFF"/>
              </a:highlight>
              <a:latin typeface="Consolas"/>
              <a:ea typeface="Consolas"/>
              <a:cs typeface="Consolas"/>
              <a:sym typeface="Consolas"/>
            </a:endParaRPr>
          </a:p>
          <a:p>
            <a:pPr indent="457200" lvl="0" marL="0" rtl="0" algn="l">
              <a:lnSpc>
                <a:spcPct val="135714"/>
              </a:lnSpc>
              <a:spcBef>
                <a:spcPts val="0"/>
              </a:spcBef>
              <a:spcAft>
                <a:spcPts val="0"/>
              </a:spcAft>
              <a:buNone/>
            </a:pPr>
            <a:r>
              <a:t/>
            </a:r>
            <a:endParaRPr b="1"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sz="1350" strike="sngStrike">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1350">
                <a:solidFill>
                  <a:srgbClr val="008000"/>
                </a:solidFill>
                <a:highlight>
                  <a:srgbClr val="FFFFFF"/>
                </a:highlight>
                <a:latin typeface="Consolas"/>
                <a:ea typeface="Consolas"/>
                <a:cs typeface="Consolas"/>
                <a:sym typeface="Consolas"/>
              </a:rPr>
              <a:t>/*constant pointer to a constant*/</a:t>
            </a:r>
            <a:endParaRPr b="1"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const</a:t>
            </a: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int</a:t>
            </a: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const</a:t>
            </a:r>
            <a:r>
              <a:rPr b="1" lang="en" sz="1350">
                <a:solidFill>
                  <a:schemeClr val="dk1"/>
                </a:solidFill>
                <a:highlight>
                  <a:srgbClr val="FFFFFF"/>
                </a:highlight>
                <a:latin typeface="Consolas"/>
                <a:ea typeface="Consolas"/>
                <a:cs typeface="Consolas"/>
                <a:sym typeface="Consolas"/>
              </a:rPr>
              <a:t> </a:t>
            </a:r>
            <a:r>
              <a:rPr b="1" lang="en" sz="1350">
                <a:solidFill>
                  <a:srgbClr val="1F377F"/>
                </a:solidFill>
                <a:highlight>
                  <a:srgbClr val="FFFFFF"/>
                </a:highlight>
                <a:latin typeface="Consolas"/>
                <a:ea typeface="Consolas"/>
                <a:cs typeface="Consolas"/>
                <a:sym typeface="Consolas"/>
              </a:rPr>
              <a:t>ptr3</a:t>
            </a:r>
            <a:r>
              <a:rPr b="1" lang="en" sz="1350">
                <a:solidFill>
                  <a:schemeClr val="dk1"/>
                </a:solidFill>
                <a:highlight>
                  <a:srgbClr val="FFFFFF"/>
                </a:highlight>
                <a:latin typeface="Consolas"/>
                <a:ea typeface="Consolas"/>
                <a:cs typeface="Consolas"/>
                <a:sym typeface="Consolas"/>
              </a:rPr>
              <a:t> = &amp;</a:t>
            </a:r>
            <a:r>
              <a:rPr b="1" lang="en" sz="1350">
                <a:solidFill>
                  <a:srgbClr val="1F377F"/>
                </a:solidFill>
                <a:highlight>
                  <a:srgbClr val="FFFFFF"/>
                </a:highlight>
                <a:latin typeface="Consolas"/>
                <a:ea typeface="Consolas"/>
                <a:cs typeface="Consolas"/>
                <a:sym typeface="Consolas"/>
              </a:rPr>
              <a:t>a</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b="1"/>
          </a:p>
        </p:txBody>
      </p:sp>
      <p:sp>
        <p:nvSpPr>
          <p:cNvPr id="248" name="Google Shape;248;p40"/>
          <p:cNvSpPr txBox="1"/>
          <p:nvPr>
            <p:ph idx="2" type="body"/>
          </p:nvPr>
        </p:nvSpPr>
        <p:spPr>
          <a:xfrm>
            <a:off x="372775" y="1208350"/>
            <a:ext cx="42222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8000"/>
                </a:solidFill>
                <a:highlight>
                  <a:srgbClr val="FFFFFF"/>
                </a:highlight>
              </a:rPr>
              <a:t>/*a constant variable*/</a:t>
            </a:r>
            <a:endParaRPr b="1"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const</a:t>
            </a:r>
            <a:r>
              <a:rPr b="1" lang="en" sz="1350">
                <a:solidFill>
                  <a:schemeClr val="dk1"/>
                </a:solidFill>
                <a:highlight>
                  <a:srgbClr val="FFFFFF"/>
                </a:highlight>
              </a:rPr>
              <a:t> </a:t>
            </a:r>
            <a:r>
              <a:rPr b="1" lang="en" sz="1350">
                <a:solidFill>
                  <a:srgbClr val="0000FF"/>
                </a:solidFill>
                <a:highlight>
                  <a:srgbClr val="FFFFFF"/>
                </a:highlight>
              </a:rPr>
              <a:t>int</a:t>
            </a:r>
            <a:r>
              <a:rPr b="1" lang="en" sz="1350">
                <a:solidFill>
                  <a:schemeClr val="dk1"/>
                </a:solidFill>
                <a:highlight>
                  <a:srgbClr val="FFFFFF"/>
                </a:highlight>
              </a:rPr>
              <a:t> </a:t>
            </a:r>
            <a:r>
              <a:rPr b="1" lang="en" sz="1350">
                <a:solidFill>
                  <a:srgbClr val="1F377F"/>
                </a:solidFill>
                <a:highlight>
                  <a:srgbClr val="FFFFFF"/>
                </a:highlight>
              </a:rPr>
              <a:t>a</a:t>
            </a:r>
            <a:r>
              <a:rPr b="1" lang="en" sz="1350">
                <a:solidFill>
                  <a:schemeClr val="dk1"/>
                </a:solidFill>
                <a:highlight>
                  <a:srgbClr val="FFFFFF"/>
                </a:highlight>
              </a:rPr>
              <a:t> = </a:t>
            </a:r>
            <a:r>
              <a:rPr b="1" lang="en" sz="1350">
                <a:solidFill>
                  <a:srgbClr val="098658"/>
                </a:solidFill>
                <a:highlight>
                  <a:srgbClr val="FFFFFF"/>
                </a:highlight>
              </a:rPr>
              <a:t>5</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const</a:t>
            </a:r>
            <a:r>
              <a:rPr b="1" lang="en" sz="1350">
                <a:solidFill>
                  <a:schemeClr val="dk1"/>
                </a:solidFill>
                <a:highlight>
                  <a:srgbClr val="FFFFFF"/>
                </a:highlight>
              </a:rPr>
              <a:t> </a:t>
            </a:r>
            <a:r>
              <a:rPr b="1" lang="en" sz="1350">
                <a:solidFill>
                  <a:srgbClr val="0000FF"/>
                </a:solidFill>
                <a:highlight>
                  <a:srgbClr val="FFFFFF"/>
                </a:highlight>
              </a:rPr>
              <a:t>int</a:t>
            </a:r>
            <a:r>
              <a:rPr b="1" lang="en" sz="1350">
                <a:solidFill>
                  <a:schemeClr val="dk1"/>
                </a:solidFill>
                <a:highlight>
                  <a:srgbClr val="FFFFFF"/>
                </a:highlight>
              </a:rPr>
              <a:t> </a:t>
            </a:r>
            <a:r>
              <a:rPr b="1" lang="en" sz="1350">
                <a:solidFill>
                  <a:srgbClr val="1F377F"/>
                </a:solidFill>
                <a:highlight>
                  <a:srgbClr val="FFFFFF"/>
                </a:highlight>
              </a:rPr>
              <a:t>b</a:t>
            </a:r>
            <a:r>
              <a:rPr b="1" lang="en" sz="1350">
                <a:solidFill>
                  <a:schemeClr val="dk1"/>
                </a:solidFill>
                <a:highlight>
                  <a:srgbClr val="FFFFFF"/>
                </a:highlight>
              </a:rPr>
              <a:t> = </a:t>
            </a:r>
            <a:r>
              <a:rPr b="1" lang="en" sz="1350">
                <a:solidFill>
                  <a:srgbClr val="098658"/>
                </a:solidFill>
                <a:highlight>
                  <a:srgbClr val="FFFFFF"/>
                </a:highlight>
              </a:rPr>
              <a:t>10</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8000"/>
                </a:solidFill>
                <a:highlight>
                  <a:srgbClr val="FFFFFF"/>
                </a:highlight>
              </a:rPr>
              <a:t>/*a pointer to a constant integer*/</a:t>
            </a:r>
            <a:endParaRPr b="1"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const</a:t>
            </a:r>
            <a:r>
              <a:rPr b="1" lang="en" sz="1350">
                <a:solidFill>
                  <a:schemeClr val="dk1"/>
                </a:solidFill>
                <a:highlight>
                  <a:srgbClr val="FFFFFF"/>
                </a:highlight>
              </a:rPr>
              <a:t> </a:t>
            </a:r>
            <a:r>
              <a:rPr b="1" lang="en" sz="1350">
                <a:solidFill>
                  <a:srgbClr val="0000FF"/>
                </a:solidFill>
                <a:highlight>
                  <a:srgbClr val="FFFFFF"/>
                </a:highlight>
              </a:rPr>
              <a:t>int</a:t>
            </a:r>
            <a:r>
              <a:rPr b="1" lang="en" sz="1350">
                <a:solidFill>
                  <a:schemeClr val="dk1"/>
                </a:solidFill>
                <a:highlight>
                  <a:srgbClr val="FFFFFF"/>
                </a:highlight>
              </a:rPr>
              <a:t>* </a:t>
            </a:r>
            <a:r>
              <a:rPr b="1" lang="en" sz="1350">
                <a:solidFill>
                  <a:srgbClr val="1F377F"/>
                </a:solidFill>
                <a:highlight>
                  <a:srgbClr val="FFFFFF"/>
                </a:highlight>
              </a:rPr>
              <a:t>ptr</a:t>
            </a:r>
            <a:r>
              <a:rPr b="1" lang="en" sz="1350">
                <a:solidFill>
                  <a:schemeClr val="dk1"/>
                </a:solidFill>
                <a:highlight>
                  <a:srgbClr val="FFFFFF"/>
                </a:highlight>
              </a:rPr>
              <a:t>; </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1F377F"/>
                </a:solidFill>
                <a:highlight>
                  <a:srgbClr val="FFFFFF"/>
                </a:highlight>
              </a:rPr>
              <a:t>ptr</a:t>
            </a:r>
            <a:r>
              <a:rPr b="1" lang="en" sz="1450">
                <a:solidFill>
                  <a:schemeClr val="dk1"/>
                </a:solidFill>
                <a:highlight>
                  <a:srgbClr val="FFFFFF"/>
                </a:highlight>
              </a:rPr>
              <a:t> = &amp;</a:t>
            </a:r>
            <a:r>
              <a:rPr b="1" lang="en" sz="1450">
                <a:solidFill>
                  <a:srgbClr val="1F377F"/>
                </a:solidFill>
                <a:highlight>
                  <a:srgbClr val="FFFFFF"/>
                </a:highlight>
              </a:rPr>
              <a:t>a</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strike="sngStrike">
                <a:solidFill>
                  <a:schemeClr val="dk1"/>
                </a:solidFill>
                <a:highlight>
                  <a:srgbClr val="FFFFFF"/>
                </a:highlight>
              </a:rPr>
              <a:t>*</a:t>
            </a:r>
            <a:r>
              <a:rPr b="1" lang="en" sz="1450" strike="sngStrike">
                <a:solidFill>
                  <a:srgbClr val="1F377F"/>
                </a:solidFill>
                <a:highlight>
                  <a:srgbClr val="FFFFFF"/>
                </a:highlight>
              </a:rPr>
              <a:t>ptr</a:t>
            </a:r>
            <a:r>
              <a:rPr b="1" lang="en" sz="1450" strike="sngStrike">
                <a:solidFill>
                  <a:schemeClr val="dk1"/>
                </a:solidFill>
                <a:highlight>
                  <a:srgbClr val="FFFFFF"/>
                </a:highlight>
              </a:rPr>
              <a:t> = </a:t>
            </a:r>
            <a:r>
              <a:rPr b="1" lang="en" sz="1450" strike="sngStrike">
                <a:solidFill>
                  <a:srgbClr val="098658"/>
                </a:solidFill>
                <a:highlight>
                  <a:srgbClr val="FFFFFF"/>
                </a:highlight>
              </a:rPr>
              <a:t>10</a:t>
            </a:r>
            <a:r>
              <a:rPr b="1" lang="en" sz="1450" strike="sngStrike">
                <a:solidFill>
                  <a:schemeClr val="dk1"/>
                </a:solidFill>
                <a:highlight>
                  <a:srgbClr val="FFFFFF"/>
                </a:highlight>
              </a:rPr>
              <a:t>; </a:t>
            </a:r>
            <a:r>
              <a:rPr b="1" lang="en" sz="1450" strike="sngStrike">
                <a:solidFill>
                  <a:srgbClr val="008000"/>
                </a:solidFill>
                <a:highlight>
                  <a:srgbClr val="FFFFFF"/>
                </a:highlight>
              </a:rPr>
              <a:t>/*cannot do*/</a:t>
            </a:r>
            <a:endParaRPr b="1" sz="1450" strike="sngStrike">
              <a:solidFill>
                <a:srgbClr val="008000"/>
              </a:solidFill>
              <a:highlight>
                <a:srgbClr val="FFFFFF"/>
              </a:highlight>
            </a:endParaRPr>
          </a:p>
          <a:p>
            <a:pPr indent="0" lvl="0" marL="0" rtl="0" algn="l">
              <a:lnSpc>
                <a:spcPct val="135714"/>
              </a:lnSpc>
              <a:spcBef>
                <a:spcPts val="0"/>
              </a:spcBef>
              <a:spcAft>
                <a:spcPts val="0"/>
              </a:spcAft>
              <a:buNone/>
            </a:pPr>
            <a:r>
              <a:rPr b="1" lang="en" sz="1450">
                <a:solidFill>
                  <a:schemeClr val="dk1"/>
                </a:solidFill>
                <a:highlight>
                  <a:srgbClr val="FFFFFF"/>
                </a:highlight>
              </a:rPr>
              <a:t> </a:t>
            </a:r>
            <a:endParaRPr b="1"/>
          </a:p>
          <a:p>
            <a:pPr indent="0" lvl="0" marL="0" rtl="0" algn="l">
              <a:spcBef>
                <a:spcPts val="0"/>
              </a:spcBef>
              <a:spcAft>
                <a:spcPts val="0"/>
              </a:spcAft>
              <a:buNone/>
            </a:pPr>
            <a:r>
              <a:t/>
            </a:r>
            <a:endParaRPr b="1"/>
          </a:p>
        </p:txBody>
      </p:sp>
      <p:sp>
        <p:nvSpPr>
          <p:cNvPr id="249" name="Google Shape;249;p40"/>
          <p:cNvSpPr txBox="1"/>
          <p:nvPr/>
        </p:nvSpPr>
        <p:spPr>
          <a:xfrm>
            <a:off x="311700" y="4257275"/>
            <a:ext cx="7879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const</a:t>
            </a:r>
            <a:r>
              <a:rPr lang="en"/>
              <a:t> tells the compiler that the variable cannot be written (is constant). </a:t>
            </a:r>
            <a:endParaRPr/>
          </a:p>
          <a:p>
            <a:pPr indent="0" lvl="0" marL="0" rtl="0" algn="l">
              <a:spcBef>
                <a:spcPts val="0"/>
              </a:spcBef>
              <a:spcAft>
                <a:spcPts val="0"/>
              </a:spcAft>
              <a:buNone/>
            </a:pPr>
            <a:r>
              <a:rPr b="1" lang="en"/>
              <a:t>This will result in a compile-time error: </a:t>
            </a:r>
            <a:r>
              <a:rPr b="1" lang="en"/>
              <a:t>This has no influence on the memory space where the variable is located. In Run-time it may change its value.</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0" st="0"/>
                                            </p:txEl>
                                          </p:spTgt>
                                        </p:tgtEl>
                                        <p:attrNameLst>
                                          <p:attrName>style.visibility</p:attrName>
                                        </p:attrNameLst>
                                      </p:cBhvr>
                                      <p:to>
                                        <p:strVal val="visible"/>
                                      </p:to>
                                    </p:set>
                                    <p:animEffect filter="fade" transition="in">
                                      <p:cBhvr>
                                        <p:cTn dur="1000"/>
                                        <p:tgtEl>
                                          <p:spTgt spid="24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1" st="1"/>
                                            </p:txEl>
                                          </p:spTgt>
                                        </p:tgtEl>
                                        <p:attrNameLst>
                                          <p:attrName>style.visibility</p:attrName>
                                        </p:attrNameLst>
                                      </p:cBhvr>
                                      <p:to>
                                        <p:strVal val="visible"/>
                                      </p:to>
                                    </p:set>
                                    <p:animEffect filter="fade" transition="in">
                                      <p:cBhvr>
                                        <p:cTn dur="1000"/>
                                        <p:tgtEl>
                                          <p:spTgt spid="24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2" st="2"/>
                                            </p:txEl>
                                          </p:spTgt>
                                        </p:tgtEl>
                                        <p:attrNameLst>
                                          <p:attrName>style.visibility</p:attrName>
                                        </p:attrNameLst>
                                      </p:cBhvr>
                                      <p:to>
                                        <p:strVal val="visible"/>
                                      </p:to>
                                    </p:set>
                                    <p:animEffect filter="fade" transition="in">
                                      <p:cBhvr>
                                        <p:cTn dur="1000"/>
                                        <p:tgtEl>
                                          <p:spTgt spid="24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3" st="3"/>
                                            </p:txEl>
                                          </p:spTgt>
                                        </p:tgtEl>
                                        <p:attrNameLst>
                                          <p:attrName>style.visibility</p:attrName>
                                        </p:attrNameLst>
                                      </p:cBhvr>
                                      <p:to>
                                        <p:strVal val="visible"/>
                                      </p:to>
                                    </p:set>
                                    <p:animEffect filter="fade" transition="in">
                                      <p:cBhvr>
                                        <p:cTn dur="1000"/>
                                        <p:tgtEl>
                                          <p:spTgt spid="24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4" st="4"/>
                                            </p:txEl>
                                          </p:spTgt>
                                        </p:tgtEl>
                                        <p:attrNameLst>
                                          <p:attrName>style.visibility</p:attrName>
                                        </p:attrNameLst>
                                      </p:cBhvr>
                                      <p:to>
                                        <p:strVal val="visible"/>
                                      </p:to>
                                    </p:set>
                                    <p:animEffect filter="fade" transition="in">
                                      <p:cBhvr>
                                        <p:cTn dur="1000"/>
                                        <p:tgtEl>
                                          <p:spTgt spid="24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5" st="5"/>
                                            </p:txEl>
                                          </p:spTgt>
                                        </p:tgtEl>
                                        <p:attrNameLst>
                                          <p:attrName>style.visibility</p:attrName>
                                        </p:attrNameLst>
                                      </p:cBhvr>
                                      <p:to>
                                        <p:strVal val="visible"/>
                                      </p:to>
                                    </p:set>
                                    <p:animEffect filter="fade" transition="in">
                                      <p:cBhvr>
                                        <p:cTn dur="1000"/>
                                        <p:tgtEl>
                                          <p:spTgt spid="24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6" st="6"/>
                                            </p:txEl>
                                          </p:spTgt>
                                        </p:tgtEl>
                                        <p:attrNameLst>
                                          <p:attrName>style.visibility</p:attrName>
                                        </p:attrNameLst>
                                      </p:cBhvr>
                                      <p:to>
                                        <p:strVal val="visible"/>
                                      </p:to>
                                    </p:set>
                                    <p:animEffect filter="fade" transition="in">
                                      <p:cBhvr>
                                        <p:cTn dur="1000"/>
                                        <p:tgtEl>
                                          <p:spTgt spid="24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7" st="7"/>
                                            </p:txEl>
                                          </p:spTgt>
                                        </p:tgtEl>
                                        <p:attrNameLst>
                                          <p:attrName>style.visibility</p:attrName>
                                        </p:attrNameLst>
                                      </p:cBhvr>
                                      <p:to>
                                        <p:strVal val="visible"/>
                                      </p:to>
                                    </p:set>
                                    <p:animEffect filter="fade" transition="in">
                                      <p:cBhvr>
                                        <p:cTn dur="1000"/>
                                        <p:tgtEl>
                                          <p:spTgt spid="24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8" st="8"/>
                                            </p:txEl>
                                          </p:spTgt>
                                        </p:tgtEl>
                                        <p:attrNameLst>
                                          <p:attrName>style.visibility</p:attrName>
                                        </p:attrNameLst>
                                      </p:cBhvr>
                                      <p:to>
                                        <p:strVal val="visible"/>
                                      </p:to>
                                    </p:set>
                                    <p:animEffect filter="fade" transition="in">
                                      <p:cBhvr>
                                        <p:cTn dur="1000"/>
                                        <p:tgtEl>
                                          <p:spTgt spid="24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9" st="9"/>
                                            </p:txEl>
                                          </p:spTgt>
                                        </p:tgtEl>
                                        <p:attrNameLst>
                                          <p:attrName>style.visibility</p:attrName>
                                        </p:attrNameLst>
                                      </p:cBhvr>
                                      <p:to>
                                        <p:strVal val="visible"/>
                                      </p:to>
                                    </p:set>
                                    <p:animEffect filter="fade" transition="in">
                                      <p:cBhvr>
                                        <p:cTn dur="1000"/>
                                        <p:tgtEl>
                                          <p:spTgt spid="24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10" st="10"/>
                                            </p:txEl>
                                          </p:spTgt>
                                        </p:tgtEl>
                                        <p:attrNameLst>
                                          <p:attrName>style.visibility</p:attrName>
                                        </p:attrNameLst>
                                      </p:cBhvr>
                                      <p:to>
                                        <p:strVal val="visible"/>
                                      </p:to>
                                    </p:set>
                                    <p:animEffect filter="fade" transition="in">
                                      <p:cBhvr>
                                        <p:cTn dur="1000"/>
                                        <p:tgtEl>
                                          <p:spTgt spid="24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animEffect filter="fade" transition="in">
                                      <p:cBhvr>
                                        <p:cTn dur="1000"/>
                                        <p:tgtEl>
                                          <p:spTgt spid="2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1" st="1"/>
                                            </p:txEl>
                                          </p:spTgt>
                                        </p:tgtEl>
                                        <p:attrNameLst>
                                          <p:attrName>style.visibility</p:attrName>
                                        </p:attrNameLst>
                                      </p:cBhvr>
                                      <p:to>
                                        <p:strVal val="visible"/>
                                      </p:to>
                                    </p:set>
                                    <p:animEffect filter="fade" transition="in">
                                      <p:cBhvr>
                                        <p:cTn dur="1000"/>
                                        <p:tgtEl>
                                          <p:spTgt spid="2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2" st="2"/>
                                            </p:txEl>
                                          </p:spTgt>
                                        </p:tgtEl>
                                        <p:attrNameLst>
                                          <p:attrName>style.visibility</p:attrName>
                                        </p:attrNameLst>
                                      </p:cBhvr>
                                      <p:to>
                                        <p:strVal val="visible"/>
                                      </p:to>
                                    </p:set>
                                    <p:animEffect filter="fade" transition="in">
                                      <p:cBhvr>
                                        <p:cTn dur="1000"/>
                                        <p:tgtEl>
                                          <p:spTgt spid="2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3" st="3"/>
                                            </p:txEl>
                                          </p:spTgt>
                                        </p:tgtEl>
                                        <p:attrNameLst>
                                          <p:attrName>style.visibility</p:attrName>
                                        </p:attrNameLst>
                                      </p:cBhvr>
                                      <p:to>
                                        <p:strVal val="visible"/>
                                      </p:to>
                                    </p:set>
                                    <p:animEffect filter="fade" transition="in">
                                      <p:cBhvr>
                                        <p:cTn dur="1000"/>
                                        <p:tgtEl>
                                          <p:spTgt spid="24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4" st="4"/>
                                            </p:txEl>
                                          </p:spTgt>
                                        </p:tgtEl>
                                        <p:attrNameLst>
                                          <p:attrName>style.visibility</p:attrName>
                                        </p:attrNameLst>
                                      </p:cBhvr>
                                      <p:to>
                                        <p:strVal val="visible"/>
                                      </p:to>
                                    </p:set>
                                    <p:animEffect filter="fade" transition="in">
                                      <p:cBhvr>
                                        <p:cTn dur="1000"/>
                                        <p:tgtEl>
                                          <p:spTgt spid="24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5" st="5"/>
                                            </p:txEl>
                                          </p:spTgt>
                                        </p:tgtEl>
                                        <p:attrNameLst>
                                          <p:attrName>style.visibility</p:attrName>
                                        </p:attrNameLst>
                                      </p:cBhvr>
                                      <p:to>
                                        <p:strVal val="visible"/>
                                      </p:to>
                                    </p:set>
                                    <p:animEffect filter="fade" transition="in">
                                      <p:cBhvr>
                                        <p:cTn dur="1000"/>
                                        <p:tgtEl>
                                          <p:spTgt spid="24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6" st="6"/>
                                            </p:txEl>
                                          </p:spTgt>
                                        </p:tgtEl>
                                        <p:attrNameLst>
                                          <p:attrName>style.visibility</p:attrName>
                                        </p:attrNameLst>
                                      </p:cBhvr>
                                      <p:to>
                                        <p:strVal val="visible"/>
                                      </p:to>
                                    </p:set>
                                    <p:animEffect filter="fade" transition="in">
                                      <p:cBhvr>
                                        <p:cTn dur="1000"/>
                                        <p:tgtEl>
                                          <p:spTgt spid="24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7" st="7"/>
                                            </p:txEl>
                                          </p:spTgt>
                                        </p:tgtEl>
                                        <p:attrNameLst>
                                          <p:attrName>style.visibility</p:attrName>
                                        </p:attrNameLst>
                                      </p:cBhvr>
                                      <p:to>
                                        <p:strVal val="visible"/>
                                      </p:to>
                                    </p:set>
                                    <p:animEffect filter="fade" transition="in">
                                      <p:cBhvr>
                                        <p:cTn dur="1000"/>
                                        <p:tgtEl>
                                          <p:spTgt spid="24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8" st="8"/>
                                            </p:txEl>
                                          </p:spTgt>
                                        </p:tgtEl>
                                        <p:attrNameLst>
                                          <p:attrName>style.visibility</p:attrName>
                                        </p:attrNameLst>
                                      </p:cBhvr>
                                      <p:to>
                                        <p:strVal val="visible"/>
                                      </p:to>
                                    </p:set>
                                    <p:animEffect filter="fade" transition="in">
                                      <p:cBhvr>
                                        <p:cTn dur="1000"/>
                                        <p:tgtEl>
                                          <p:spTgt spid="24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9" st="9"/>
                                            </p:txEl>
                                          </p:spTgt>
                                        </p:tgtEl>
                                        <p:attrNameLst>
                                          <p:attrName>style.visibility</p:attrName>
                                        </p:attrNameLst>
                                      </p:cBhvr>
                                      <p:to>
                                        <p:strVal val="visible"/>
                                      </p:to>
                                    </p:set>
                                    <p:animEffect filter="fade" transition="in">
                                      <p:cBhvr>
                                        <p:cTn dur="1000"/>
                                        <p:tgtEl>
                                          <p:spTgt spid="24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10" st="10"/>
                                            </p:txEl>
                                          </p:spTgt>
                                        </p:tgtEl>
                                        <p:attrNameLst>
                                          <p:attrName>style.visibility</p:attrName>
                                        </p:attrNameLst>
                                      </p:cBhvr>
                                      <p:to>
                                        <p:strVal val="visible"/>
                                      </p:to>
                                    </p:set>
                                    <p:animEffect filter="fade" transition="in">
                                      <p:cBhvr>
                                        <p:cTn dur="1000"/>
                                        <p:tgtEl>
                                          <p:spTgt spid="24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11" st="11"/>
                                            </p:txEl>
                                          </p:spTgt>
                                        </p:tgtEl>
                                        <p:attrNameLst>
                                          <p:attrName>style.visibility</p:attrName>
                                        </p:attrNameLst>
                                      </p:cBhvr>
                                      <p:to>
                                        <p:strVal val="visible"/>
                                      </p:to>
                                    </p:set>
                                    <p:animEffect filter="fade" transition="in">
                                      <p:cBhvr>
                                        <p:cTn dur="1000"/>
                                        <p:tgtEl>
                                          <p:spTgt spid="247">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1"/>
          <p:cNvSpPr txBox="1"/>
          <p:nvPr>
            <p:ph type="title"/>
          </p:nvPr>
        </p:nvSpPr>
        <p:spPr>
          <a:xfrm>
            <a:off x="4399525" y="9205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Pointers to functions</a:t>
            </a:r>
            <a:endParaRPr/>
          </a:p>
        </p:txBody>
      </p:sp>
      <p:sp>
        <p:nvSpPr>
          <p:cNvPr id="255" name="Google Shape;255;p41"/>
          <p:cNvSpPr txBox="1"/>
          <p:nvPr>
            <p:ph idx="1" type="body"/>
          </p:nvPr>
        </p:nvSpPr>
        <p:spPr>
          <a:xfrm>
            <a:off x="4851350" y="987250"/>
            <a:ext cx="4128900" cy="36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Consolas"/>
                <a:ea typeface="Consolas"/>
                <a:cs typeface="Consolas"/>
                <a:sym typeface="Consolas"/>
              </a:rPr>
              <a:t>int (*comp) (void *, void*)</a:t>
            </a:r>
            <a:endParaRPr sz="1300">
              <a:solidFill>
                <a:schemeClr val="dk1"/>
              </a:solidFill>
              <a:latin typeface="Consolas"/>
              <a:ea typeface="Consolas"/>
              <a:cs typeface="Consolas"/>
              <a:sym typeface="Consolas"/>
            </a:endParaRPr>
          </a:p>
          <a:p>
            <a:pPr indent="-304800" lvl="0" marL="457200" rtl="0" algn="l">
              <a:spcBef>
                <a:spcPts val="0"/>
              </a:spcBef>
              <a:spcAft>
                <a:spcPts val="0"/>
              </a:spcAft>
              <a:buClr>
                <a:schemeClr val="dk1"/>
              </a:buClr>
              <a:buSzPts val="1200"/>
              <a:buFont typeface="Consolas"/>
              <a:buChar char="●"/>
            </a:pPr>
            <a:r>
              <a:rPr lang="en">
                <a:solidFill>
                  <a:schemeClr val="dk1"/>
                </a:solidFill>
                <a:latin typeface="Consolas"/>
                <a:ea typeface="Consolas"/>
                <a:cs typeface="Consolas"/>
                <a:sym typeface="Consolas"/>
              </a:rPr>
              <a:t>comp </a:t>
            </a:r>
            <a:r>
              <a:rPr lang="en"/>
              <a:t>is a pointer to a function</a:t>
            </a:r>
            <a:endParaRPr/>
          </a:p>
          <a:p>
            <a:pPr indent="-304800" lvl="0" marL="457200" rtl="0" algn="l">
              <a:spcBef>
                <a:spcPts val="0"/>
              </a:spcBef>
              <a:spcAft>
                <a:spcPts val="0"/>
              </a:spcAft>
              <a:buClr>
                <a:schemeClr val="dk1"/>
              </a:buClr>
              <a:buSzPts val="1200"/>
              <a:buFont typeface="Consolas"/>
              <a:buChar char="●"/>
            </a:pPr>
            <a:r>
              <a:rPr lang="en"/>
              <a:t>The function should have two</a:t>
            </a:r>
            <a:r>
              <a:rPr lang="en">
                <a:solidFill>
                  <a:schemeClr val="dk1"/>
                </a:solidFill>
                <a:latin typeface="Consolas"/>
                <a:ea typeface="Consolas"/>
                <a:cs typeface="Consolas"/>
                <a:sym typeface="Consolas"/>
              </a:rPr>
              <a:t> void*</a:t>
            </a:r>
            <a:r>
              <a:rPr lang="en"/>
              <a:t> arguments </a:t>
            </a:r>
            <a:endParaRPr/>
          </a:p>
          <a:p>
            <a:pPr indent="-304800" lvl="0" marL="457200" rtl="0" algn="l">
              <a:spcBef>
                <a:spcPts val="0"/>
              </a:spcBef>
              <a:spcAft>
                <a:spcPts val="0"/>
              </a:spcAft>
              <a:buClr>
                <a:schemeClr val="dk1"/>
              </a:buClr>
              <a:buSzPts val="1200"/>
              <a:buFont typeface="Consolas"/>
              <a:buChar char="●"/>
            </a:pPr>
            <a:r>
              <a:rPr lang="en"/>
              <a:t>The function returns</a:t>
            </a:r>
            <a:r>
              <a:rPr lang="en">
                <a:solidFill>
                  <a:schemeClr val="dk1"/>
                </a:solidFill>
                <a:latin typeface="Consolas"/>
                <a:ea typeface="Consolas"/>
                <a:cs typeface="Consolas"/>
                <a:sym typeface="Consolas"/>
              </a:rPr>
              <a:t> int</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latin typeface="Consolas"/>
                <a:ea typeface="Consolas"/>
                <a:cs typeface="Consolas"/>
                <a:sym typeface="Consolas"/>
              </a:rPr>
              <a:t>int *comp(void *, void*)</a:t>
            </a:r>
            <a:r>
              <a:rPr lang="en">
                <a:solidFill>
                  <a:srgbClr val="A31515"/>
                </a:solidFill>
                <a:latin typeface="Consolas"/>
                <a:ea typeface="Consolas"/>
                <a:cs typeface="Consolas"/>
                <a:sym typeface="Consolas"/>
              </a:rPr>
              <a:t>/*WRONG*/</a:t>
            </a:r>
            <a:endParaRPr>
              <a:solidFill>
                <a:srgbClr val="A31515"/>
              </a:solidFill>
              <a:latin typeface="Consolas"/>
              <a:ea typeface="Consolas"/>
              <a:cs typeface="Consolas"/>
              <a:sym typeface="Consolas"/>
            </a:endParaRPr>
          </a:p>
          <a:p>
            <a:pPr indent="-304800" lvl="0" marL="457200" rtl="0" algn="l">
              <a:spcBef>
                <a:spcPts val="0"/>
              </a:spcBef>
              <a:spcAft>
                <a:spcPts val="0"/>
              </a:spcAft>
              <a:buClr>
                <a:schemeClr val="dk1"/>
              </a:buClr>
              <a:buSzPts val="1200"/>
              <a:buFont typeface="Consolas"/>
              <a:buChar char="●"/>
            </a:pPr>
            <a:r>
              <a:rPr lang="en">
                <a:solidFill>
                  <a:schemeClr val="dk1"/>
                </a:solidFill>
                <a:latin typeface="Consolas"/>
                <a:ea typeface="Consolas"/>
                <a:cs typeface="Consolas"/>
                <a:sym typeface="Consolas"/>
              </a:rPr>
              <a:t>comp </a:t>
            </a:r>
            <a:r>
              <a:rPr lang="en"/>
              <a:t>is a function </a:t>
            </a:r>
            <a:endParaRPr/>
          </a:p>
          <a:p>
            <a:pPr indent="-304800" lvl="1" marL="914400" rtl="0" algn="l">
              <a:spcBef>
                <a:spcPts val="0"/>
              </a:spcBef>
              <a:spcAft>
                <a:spcPts val="0"/>
              </a:spcAft>
              <a:buClr>
                <a:schemeClr val="dk1"/>
              </a:buClr>
              <a:buSzPts val="1200"/>
              <a:buFont typeface="Consolas"/>
              <a:buChar char="○"/>
            </a:pPr>
            <a:r>
              <a:rPr lang="en"/>
              <a:t>returning an int pointer</a:t>
            </a:r>
            <a:endParaRPr/>
          </a:p>
          <a:p>
            <a:pPr indent="0" lvl="0" marL="457200" rtl="0" algn="l">
              <a:spcBef>
                <a:spcPts val="160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Pointers to functions are often used to implement </a:t>
            </a:r>
            <a:r>
              <a:rPr b="1" lang="en"/>
              <a:t>polymorphism</a:t>
            </a:r>
            <a:r>
              <a:rPr lang="en"/>
              <a:t> in “C”.</a:t>
            </a:r>
            <a:endParaRPr/>
          </a:p>
          <a:p>
            <a:pPr indent="0" lvl="0" marL="0" rtl="0" algn="l">
              <a:spcBef>
                <a:spcPts val="0"/>
              </a:spcBef>
              <a:spcAft>
                <a:spcPts val="0"/>
              </a:spcAft>
              <a:buNone/>
            </a:pPr>
            <a:r>
              <a:t/>
            </a:r>
            <a:endParaRPr/>
          </a:p>
        </p:txBody>
      </p:sp>
      <p:sp>
        <p:nvSpPr>
          <p:cNvPr id="256" name="Google Shape;256;p41"/>
          <p:cNvSpPr txBox="1"/>
          <p:nvPr>
            <p:ph idx="2" type="body"/>
          </p:nvPr>
        </p:nvSpPr>
        <p:spPr>
          <a:xfrm>
            <a:off x="44425" y="271525"/>
            <a:ext cx="4639500" cy="47484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300">
                <a:solidFill>
                  <a:srgbClr val="808080"/>
                </a:solidFill>
                <a:highlight>
                  <a:srgbClr val="FFFFFF"/>
                </a:highlight>
              </a:rPr>
              <a:t>#include</a:t>
            </a:r>
            <a:r>
              <a:rPr b="1" lang="en" sz="1300">
                <a:solidFill>
                  <a:schemeClr val="dk1"/>
                </a:solidFill>
                <a:highlight>
                  <a:srgbClr val="FFFFFF"/>
                </a:highlight>
              </a:rPr>
              <a:t> </a:t>
            </a:r>
            <a:r>
              <a:rPr b="1" lang="en" sz="1300">
                <a:solidFill>
                  <a:srgbClr val="E21F1F"/>
                </a:solidFill>
                <a:highlight>
                  <a:srgbClr val="FFFFFF"/>
                </a:highlight>
              </a:rPr>
              <a:t>&lt;</a:t>
            </a:r>
            <a:r>
              <a:rPr b="1" lang="en" sz="1300">
                <a:solidFill>
                  <a:srgbClr val="A31515"/>
                </a:solidFill>
                <a:highlight>
                  <a:srgbClr val="FFFFFF"/>
                </a:highlight>
              </a:rPr>
              <a:t>stdio.h</a:t>
            </a:r>
            <a:r>
              <a:rPr b="1" lang="en" sz="1300">
                <a:solidFill>
                  <a:srgbClr val="E21F1F"/>
                </a:solidFill>
                <a:highlight>
                  <a:srgbClr val="FFFFFF"/>
                </a:highlight>
              </a:rPr>
              <a:t>&gt;</a:t>
            </a:r>
            <a:endParaRPr b="1" sz="130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74531F"/>
                </a:solidFill>
                <a:highlight>
                  <a:srgbClr val="FFFFFF"/>
                </a:highlight>
              </a:rPr>
              <a:t>intcmp</a:t>
            </a:r>
            <a:r>
              <a:rPr b="1" lang="en" sz="1300">
                <a:solidFill>
                  <a:schemeClr val="dk1"/>
                </a:solidFill>
                <a:highlight>
                  <a:srgbClr val="FFFFFF"/>
                </a:highlight>
              </a:rPr>
              <a:t>(</a:t>
            </a: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808080"/>
                </a:solidFill>
                <a:highlight>
                  <a:srgbClr val="FFFFFF"/>
                </a:highlight>
              </a:rPr>
              <a:t>a</a:t>
            </a:r>
            <a:r>
              <a:rPr b="1" lang="en" sz="1300">
                <a:solidFill>
                  <a:schemeClr val="dk1"/>
                </a:solidFill>
                <a:highlight>
                  <a:srgbClr val="FFFFFF"/>
                </a:highlight>
              </a:rPr>
              <a:t>, </a:t>
            </a: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808080"/>
                </a:solidFill>
                <a:highlight>
                  <a:srgbClr val="FFFFFF"/>
                </a:highlight>
              </a:rPr>
              <a:t>b</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8F08C4"/>
                </a:solidFill>
                <a:highlight>
                  <a:srgbClr val="FFFFFF"/>
                </a:highlight>
              </a:rPr>
              <a:t>return</a:t>
            </a:r>
            <a:r>
              <a:rPr b="1" lang="en" sz="1300">
                <a:solidFill>
                  <a:schemeClr val="dk1"/>
                </a:solidFill>
                <a:highlight>
                  <a:srgbClr val="FFFFFF"/>
                </a:highlight>
              </a:rPr>
              <a:t> *</a:t>
            </a:r>
            <a:r>
              <a:rPr b="1" lang="en" sz="1300">
                <a:solidFill>
                  <a:srgbClr val="808080"/>
                </a:solidFill>
                <a:highlight>
                  <a:srgbClr val="FFFFFF"/>
                </a:highlight>
              </a:rPr>
              <a:t>a</a:t>
            </a:r>
            <a:r>
              <a:rPr b="1" lang="en" sz="1300">
                <a:solidFill>
                  <a:schemeClr val="dk1"/>
                </a:solidFill>
                <a:highlight>
                  <a:srgbClr val="FFFFFF"/>
                </a:highlight>
              </a:rPr>
              <a:t> &gt; *</a:t>
            </a:r>
            <a:r>
              <a:rPr b="1" lang="en" sz="1300">
                <a:solidFill>
                  <a:srgbClr val="808080"/>
                </a:solidFill>
                <a:highlight>
                  <a:srgbClr val="FFFFFF"/>
                </a:highlight>
              </a:rPr>
              <a:t>b</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74531F"/>
                </a:solidFill>
                <a:highlight>
                  <a:srgbClr val="FFFFFF"/>
                </a:highlight>
              </a:rPr>
              <a:t>main</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1F377F"/>
                </a:solidFill>
                <a:highlight>
                  <a:srgbClr val="FFFFFF"/>
                </a:highlight>
              </a:rPr>
              <a:t>x</a:t>
            </a:r>
            <a:r>
              <a:rPr b="1" lang="en" sz="1300">
                <a:solidFill>
                  <a:schemeClr val="dk1"/>
                </a:solidFill>
                <a:highlight>
                  <a:srgbClr val="FFFFFF"/>
                </a:highlight>
              </a:rPr>
              <a:t> = </a:t>
            </a:r>
            <a:r>
              <a:rPr b="1" lang="en" sz="1300">
                <a:solidFill>
                  <a:srgbClr val="098658"/>
                </a:solidFill>
                <a:highlight>
                  <a:srgbClr val="FFFFFF"/>
                </a:highlight>
              </a:rPr>
              <a:t>4</a:t>
            </a:r>
            <a:r>
              <a:rPr b="1" lang="en" sz="1300">
                <a:solidFill>
                  <a:schemeClr val="dk1"/>
                </a:solidFill>
                <a:highlight>
                  <a:srgbClr val="FFFFFF"/>
                </a:highlight>
              </a:rPr>
              <a:t>, </a:t>
            </a:r>
            <a:r>
              <a:rPr b="1" lang="en" sz="1300">
                <a:solidFill>
                  <a:srgbClr val="1F377F"/>
                </a:solidFill>
                <a:highlight>
                  <a:srgbClr val="FFFFFF"/>
                </a:highlight>
              </a:rPr>
              <a:t>y</a:t>
            </a:r>
            <a:r>
              <a:rPr b="1" lang="en" sz="1300">
                <a:solidFill>
                  <a:schemeClr val="dk1"/>
                </a:solidFill>
                <a:highlight>
                  <a:srgbClr val="FFFFFF"/>
                </a:highlight>
              </a:rPr>
              <a:t> = </a:t>
            </a:r>
            <a:r>
              <a:rPr b="1" lang="en" sz="1300">
                <a:solidFill>
                  <a:srgbClr val="098658"/>
                </a:solidFill>
                <a:highlight>
                  <a:srgbClr val="FFFFFF"/>
                </a:highlight>
              </a:rPr>
              <a:t>5</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008000"/>
                </a:solidFill>
                <a:highlight>
                  <a:srgbClr val="FFFFFF"/>
                </a:highlight>
              </a:rPr>
              <a:t>/*declaration*/</a:t>
            </a:r>
            <a:endParaRPr b="1" sz="130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1F377F"/>
                </a:solidFill>
                <a:highlight>
                  <a:srgbClr val="FFFFFF"/>
                </a:highlight>
              </a:rPr>
              <a:t>comp</a:t>
            </a:r>
            <a:r>
              <a:rPr b="1" lang="en" sz="1300">
                <a:solidFill>
                  <a:schemeClr val="dk1"/>
                </a:solidFill>
                <a:highlight>
                  <a:srgbClr val="FFFFFF"/>
                </a:highlight>
              </a:rPr>
              <a:t>)(</a:t>
            </a:r>
            <a:r>
              <a:rPr b="1" lang="en" sz="1300">
                <a:solidFill>
                  <a:srgbClr val="0000FF"/>
                </a:solidFill>
                <a:highlight>
                  <a:srgbClr val="FFFFFF"/>
                </a:highlight>
              </a:rPr>
              <a:t>void</a:t>
            </a:r>
            <a:r>
              <a:rPr b="1" lang="en" sz="1300">
                <a:solidFill>
                  <a:schemeClr val="dk1"/>
                </a:solidFill>
                <a:highlight>
                  <a:srgbClr val="FFFFFF"/>
                </a:highlight>
              </a:rPr>
              <a:t> *, </a:t>
            </a:r>
            <a:r>
              <a:rPr b="1" lang="en" sz="1300">
                <a:solidFill>
                  <a:srgbClr val="0000FF"/>
                </a:solidFill>
                <a:highlight>
                  <a:srgbClr val="FFFFFF"/>
                </a:highlight>
              </a:rPr>
              <a:t>void</a:t>
            </a:r>
            <a:r>
              <a:rPr b="1" lang="en" sz="1300">
                <a:solidFill>
                  <a:schemeClr val="dk1"/>
                </a:solidFill>
                <a:highlight>
                  <a:srgbClr val="FFFFFF"/>
                </a:highlight>
              </a:rPr>
              <a:t> *);</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8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008000"/>
                </a:solidFill>
                <a:highlight>
                  <a:srgbClr val="FFFFFF"/>
                </a:highlight>
              </a:rPr>
              <a:t>/*assignment with type casting*/</a:t>
            </a:r>
            <a:endParaRPr b="1" sz="130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1F377F"/>
                </a:solidFill>
                <a:highlight>
                  <a:srgbClr val="FFFFFF"/>
                </a:highlight>
              </a:rPr>
              <a:t>comp</a:t>
            </a:r>
            <a:r>
              <a:rPr b="1" lang="en" sz="1300">
                <a:solidFill>
                  <a:schemeClr val="dk1"/>
                </a:solidFill>
                <a:highlight>
                  <a:srgbClr val="FFFFFF"/>
                </a:highlight>
              </a:rPr>
              <a:t> = (</a:t>
            </a: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0000FF"/>
                </a:solidFill>
                <a:highlight>
                  <a:srgbClr val="FFFFFF"/>
                </a:highlight>
              </a:rPr>
              <a:t>void</a:t>
            </a:r>
            <a:r>
              <a:rPr b="1" lang="en" sz="1300">
                <a:solidFill>
                  <a:schemeClr val="dk1"/>
                </a:solidFill>
                <a:highlight>
                  <a:srgbClr val="FFFFFF"/>
                </a:highlight>
              </a:rPr>
              <a:t> *, </a:t>
            </a:r>
            <a:r>
              <a:rPr b="1" lang="en" sz="1300">
                <a:solidFill>
                  <a:srgbClr val="0000FF"/>
                </a:solidFill>
                <a:highlight>
                  <a:srgbClr val="FFFFFF"/>
                </a:highlight>
              </a:rPr>
              <a:t>void</a:t>
            </a:r>
            <a:r>
              <a:rPr b="1" lang="en" sz="1300">
                <a:solidFill>
                  <a:schemeClr val="dk1"/>
                </a:solidFill>
                <a:highlight>
                  <a:srgbClr val="FFFFFF"/>
                </a:highlight>
              </a:rPr>
              <a:t> *)) &amp;</a:t>
            </a:r>
            <a:r>
              <a:rPr b="1" lang="en" sz="1300">
                <a:solidFill>
                  <a:srgbClr val="74531F"/>
                </a:solidFill>
                <a:highlight>
                  <a:srgbClr val="FFFFFF"/>
                </a:highlight>
              </a:rPr>
              <a:t>intcmp</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9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008000"/>
                </a:solidFill>
                <a:highlight>
                  <a:srgbClr val="FFFFFF"/>
                </a:highlight>
              </a:rPr>
              <a:t>/*function call*/</a:t>
            </a:r>
            <a:endParaRPr b="1" sz="130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1F377F"/>
                </a:solidFill>
                <a:highlight>
                  <a:srgbClr val="FFFFFF"/>
                </a:highlight>
              </a:rPr>
              <a:t>z</a:t>
            </a:r>
            <a:r>
              <a:rPr b="1" lang="en" sz="1300">
                <a:solidFill>
                  <a:schemeClr val="dk1"/>
                </a:solidFill>
                <a:highlight>
                  <a:srgbClr val="FFFFFF"/>
                </a:highlight>
              </a:rPr>
              <a:t> = (*</a:t>
            </a:r>
            <a:r>
              <a:rPr b="1" lang="en" sz="1300">
                <a:solidFill>
                  <a:srgbClr val="1F377F"/>
                </a:solidFill>
                <a:highlight>
                  <a:srgbClr val="FFFFFF"/>
                </a:highlight>
              </a:rPr>
              <a:t>comp</a:t>
            </a:r>
            <a:r>
              <a:rPr b="1" lang="en" sz="1300">
                <a:solidFill>
                  <a:schemeClr val="dk1"/>
                </a:solidFill>
                <a:highlight>
                  <a:srgbClr val="FFFFFF"/>
                </a:highlight>
              </a:rPr>
              <a:t>)(&amp;</a:t>
            </a:r>
            <a:r>
              <a:rPr b="1" lang="en" sz="1300">
                <a:solidFill>
                  <a:srgbClr val="1F377F"/>
                </a:solidFill>
                <a:highlight>
                  <a:srgbClr val="FFFFFF"/>
                </a:highlight>
              </a:rPr>
              <a:t>x</a:t>
            </a:r>
            <a:r>
              <a:rPr b="1" lang="en" sz="1300">
                <a:solidFill>
                  <a:schemeClr val="dk1"/>
                </a:solidFill>
                <a:highlight>
                  <a:srgbClr val="FFFFFF"/>
                </a:highlight>
              </a:rPr>
              <a:t>, &amp;</a:t>
            </a:r>
            <a:r>
              <a:rPr b="1" lang="en" sz="1300">
                <a:solidFill>
                  <a:srgbClr val="1F377F"/>
                </a:solidFill>
                <a:highlight>
                  <a:srgbClr val="FFFFFF"/>
                </a:highlight>
              </a:rPr>
              <a:t>y</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74531F"/>
                </a:solidFill>
                <a:highlight>
                  <a:srgbClr val="FFFFFF"/>
                </a:highlight>
              </a:rPr>
              <a:t>printf</a:t>
            </a:r>
            <a:r>
              <a:rPr b="1" lang="en" sz="1300">
                <a:solidFill>
                  <a:schemeClr val="dk1"/>
                </a:solidFill>
                <a:highlight>
                  <a:srgbClr val="FFFFFF"/>
                </a:highlight>
              </a:rPr>
              <a:t>(</a:t>
            </a:r>
            <a:r>
              <a:rPr b="1" lang="en" sz="1300">
                <a:solidFill>
                  <a:srgbClr val="E21F1F"/>
                </a:solidFill>
                <a:highlight>
                  <a:srgbClr val="FFFFFF"/>
                </a:highlight>
              </a:rPr>
              <a:t>"</a:t>
            </a:r>
            <a:r>
              <a:rPr b="1" lang="en" sz="1300">
                <a:solidFill>
                  <a:srgbClr val="1F377F"/>
                </a:solidFill>
                <a:highlight>
                  <a:srgbClr val="FFFFFF"/>
                </a:highlight>
              </a:rPr>
              <a:t>%d</a:t>
            </a:r>
            <a:r>
              <a:rPr b="1" lang="en" sz="1300">
                <a:solidFill>
                  <a:srgbClr val="B776FB"/>
                </a:solidFill>
                <a:highlight>
                  <a:srgbClr val="FFFFFF"/>
                </a:highlight>
              </a:rPr>
              <a:t>\n</a:t>
            </a:r>
            <a:r>
              <a:rPr b="1" lang="en" sz="1300">
                <a:solidFill>
                  <a:srgbClr val="E21F1F"/>
                </a:solidFill>
                <a:highlight>
                  <a:srgbClr val="FFFFFF"/>
                </a:highlight>
              </a:rPr>
              <a:t>"</a:t>
            </a:r>
            <a:r>
              <a:rPr b="1" lang="en" sz="1300">
                <a:solidFill>
                  <a:schemeClr val="dk1"/>
                </a:solidFill>
                <a:highlight>
                  <a:srgbClr val="FFFFFF"/>
                </a:highlight>
              </a:rPr>
              <a:t>, </a:t>
            </a:r>
            <a:r>
              <a:rPr b="1" lang="en" sz="1300">
                <a:solidFill>
                  <a:srgbClr val="1F377F"/>
                </a:solidFill>
                <a:highlight>
                  <a:srgbClr val="FFFFFF"/>
                </a:highlight>
              </a:rPr>
              <a:t>z</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8F08C4"/>
                </a:solidFill>
                <a:highlight>
                  <a:srgbClr val="FFFFFF"/>
                </a:highlight>
              </a:rPr>
              <a:t>return</a:t>
            </a:r>
            <a:r>
              <a:rPr b="1" lang="en" sz="1300">
                <a:solidFill>
                  <a:schemeClr val="dk1"/>
                </a:solidFill>
                <a:highlight>
                  <a:srgbClr val="FFFFFF"/>
                </a:highlight>
              </a:rPr>
              <a:t> </a:t>
            </a:r>
            <a:r>
              <a:rPr b="1" lang="en" sz="1300">
                <a:solidFill>
                  <a:srgbClr val="098658"/>
                </a:solidFill>
                <a:highlight>
                  <a:srgbClr val="FFFFFF"/>
                </a:highlight>
              </a:rPr>
              <a:t>0</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None/>
            </a:pPr>
            <a:r>
              <a:rPr b="1" lang="en" sz="1300">
                <a:solidFill>
                  <a:schemeClr val="dk1"/>
                </a:solidFill>
                <a:highlight>
                  <a:srgbClr val="FFFFFF"/>
                </a:highlight>
              </a:rPr>
              <a:t>}</a:t>
            </a:r>
            <a:endParaRPr b="1" sz="1300">
              <a:solidFill>
                <a:srgbClr val="808080"/>
              </a:solidFill>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animEffect filter="fade" transition="in">
                                      <p:cBhvr>
                                        <p:cTn dur="1000"/>
                                        <p:tgtEl>
                                          <p:spTgt spid="2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animEffect filter="fade" transition="in">
                                      <p:cBhvr>
                                        <p:cTn dur="1000"/>
                                        <p:tgtEl>
                                          <p:spTgt spid="2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animEffect filter="fade" transition="in">
                                      <p:cBhvr>
                                        <p:cTn dur="1000"/>
                                        <p:tgtEl>
                                          <p:spTgt spid="2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animEffect filter="fade" transition="in">
                                      <p:cBhvr>
                                        <p:cTn dur="1000"/>
                                        <p:tgtEl>
                                          <p:spTgt spid="2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animEffect filter="fade" transition="in">
                                      <p:cBhvr>
                                        <p:cTn dur="1000"/>
                                        <p:tgtEl>
                                          <p:spTgt spid="2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5" st="5"/>
                                            </p:txEl>
                                          </p:spTgt>
                                        </p:tgtEl>
                                        <p:attrNameLst>
                                          <p:attrName>style.visibility</p:attrName>
                                        </p:attrNameLst>
                                      </p:cBhvr>
                                      <p:to>
                                        <p:strVal val="visible"/>
                                      </p:to>
                                    </p:set>
                                    <p:animEffect filter="fade" transition="in">
                                      <p:cBhvr>
                                        <p:cTn dur="1000"/>
                                        <p:tgtEl>
                                          <p:spTgt spid="2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6" st="6"/>
                                            </p:txEl>
                                          </p:spTgt>
                                        </p:tgtEl>
                                        <p:attrNameLst>
                                          <p:attrName>style.visibility</p:attrName>
                                        </p:attrNameLst>
                                      </p:cBhvr>
                                      <p:to>
                                        <p:strVal val="visible"/>
                                      </p:to>
                                    </p:set>
                                    <p:animEffect filter="fade" transition="in">
                                      <p:cBhvr>
                                        <p:cTn dur="1000"/>
                                        <p:tgtEl>
                                          <p:spTgt spid="25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7" st="7"/>
                                            </p:txEl>
                                          </p:spTgt>
                                        </p:tgtEl>
                                        <p:attrNameLst>
                                          <p:attrName>style.visibility</p:attrName>
                                        </p:attrNameLst>
                                      </p:cBhvr>
                                      <p:to>
                                        <p:strVal val="visible"/>
                                      </p:to>
                                    </p:set>
                                    <p:animEffect filter="fade" transition="in">
                                      <p:cBhvr>
                                        <p:cTn dur="1000"/>
                                        <p:tgtEl>
                                          <p:spTgt spid="25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8" st="8"/>
                                            </p:txEl>
                                          </p:spTgt>
                                        </p:tgtEl>
                                        <p:attrNameLst>
                                          <p:attrName>style.visibility</p:attrName>
                                        </p:attrNameLst>
                                      </p:cBhvr>
                                      <p:to>
                                        <p:strVal val="visible"/>
                                      </p:to>
                                    </p:set>
                                    <p:animEffect filter="fade" transition="in">
                                      <p:cBhvr>
                                        <p:cTn dur="1000"/>
                                        <p:tgtEl>
                                          <p:spTgt spid="25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9" st="9"/>
                                            </p:txEl>
                                          </p:spTgt>
                                        </p:tgtEl>
                                        <p:attrNameLst>
                                          <p:attrName>style.visibility</p:attrName>
                                        </p:attrNameLst>
                                      </p:cBhvr>
                                      <p:to>
                                        <p:strVal val="visible"/>
                                      </p:to>
                                    </p:set>
                                    <p:animEffect filter="fade" transition="in">
                                      <p:cBhvr>
                                        <p:cTn dur="1000"/>
                                        <p:tgtEl>
                                          <p:spTgt spid="25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0" st="10"/>
                                            </p:txEl>
                                          </p:spTgt>
                                        </p:tgtEl>
                                        <p:attrNameLst>
                                          <p:attrName>style.visibility</p:attrName>
                                        </p:attrNameLst>
                                      </p:cBhvr>
                                      <p:to>
                                        <p:strVal val="visible"/>
                                      </p:to>
                                    </p:set>
                                    <p:animEffect filter="fade" transition="in">
                                      <p:cBhvr>
                                        <p:cTn dur="1000"/>
                                        <p:tgtEl>
                                          <p:spTgt spid="25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1" st="11"/>
                                            </p:txEl>
                                          </p:spTgt>
                                        </p:tgtEl>
                                        <p:attrNameLst>
                                          <p:attrName>style.visibility</p:attrName>
                                        </p:attrNameLst>
                                      </p:cBhvr>
                                      <p:to>
                                        <p:strVal val="visible"/>
                                      </p:to>
                                    </p:set>
                                    <p:animEffect filter="fade" transition="in">
                                      <p:cBhvr>
                                        <p:cTn dur="1000"/>
                                        <p:tgtEl>
                                          <p:spTgt spid="25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2" st="12"/>
                                            </p:txEl>
                                          </p:spTgt>
                                        </p:tgtEl>
                                        <p:attrNameLst>
                                          <p:attrName>style.visibility</p:attrName>
                                        </p:attrNameLst>
                                      </p:cBhvr>
                                      <p:to>
                                        <p:strVal val="visible"/>
                                      </p:to>
                                    </p:set>
                                    <p:animEffect filter="fade" transition="in">
                                      <p:cBhvr>
                                        <p:cTn dur="1000"/>
                                        <p:tgtEl>
                                          <p:spTgt spid="25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3" st="13"/>
                                            </p:txEl>
                                          </p:spTgt>
                                        </p:tgtEl>
                                        <p:attrNameLst>
                                          <p:attrName>style.visibility</p:attrName>
                                        </p:attrNameLst>
                                      </p:cBhvr>
                                      <p:to>
                                        <p:strVal val="visible"/>
                                      </p:to>
                                    </p:set>
                                    <p:animEffect filter="fade" transition="in">
                                      <p:cBhvr>
                                        <p:cTn dur="1000"/>
                                        <p:tgtEl>
                                          <p:spTgt spid="25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4" st="14"/>
                                            </p:txEl>
                                          </p:spTgt>
                                        </p:tgtEl>
                                        <p:attrNameLst>
                                          <p:attrName>style.visibility</p:attrName>
                                        </p:attrNameLst>
                                      </p:cBhvr>
                                      <p:to>
                                        <p:strVal val="visible"/>
                                      </p:to>
                                    </p:set>
                                    <p:animEffect filter="fade" transition="in">
                                      <p:cBhvr>
                                        <p:cTn dur="1000"/>
                                        <p:tgtEl>
                                          <p:spTgt spid="25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5" st="15"/>
                                            </p:txEl>
                                          </p:spTgt>
                                        </p:tgtEl>
                                        <p:attrNameLst>
                                          <p:attrName>style.visibility</p:attrName>
                                        </p:attrNameLst>
                                      </p:cBhvr>
                                      <p:to>
                                        <p:strVal val="visible"/>
                                      </p:to>
                                    </p:set>
                                    <p:animEffect filter="fade" transition="in">
                                      <p:cBhvr>
                                        <p:cTn dur="1000"/>
                                        <p:tgtEl>
                                          <p:spTgt spid="256">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6" st="16"/>
                                            </p:txEl>
                                          </p:spTgt>
                                        </p:tgtEl>
                                        <p:attrNameLst>
                                          <p:attrName>style.visibility</p:attrName>
                                        </p:attrNameLst>
                                      </p:cBhvr>
                                      <p:to>
                                        <p:strVal val="visible"/>
                                      </p:to>
                                    </p:set>
                                    <p:animEffect filter="fade" transition="in">
                                      <p:cBhvr>
                                        <p:cTn dur="1000"/>
                                        <p:tgtEl>
                                          <p:spTgt spid="256">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7" st="17"/>
                                            </p:txEl>
                                          </p:spTgt>
                                        </p:tgtEl>
                                        <p:attrNameLst>
                                          <p:attrName>style.visibility</p:attrName>
                                        </p:attrNameLst>
                                      </p:cBhvr>
                                      <p:to>
                                        <p:strVal val="visible"/>
                                      </p:to>
                                    </p:set>
                                    <p:animEffect filter="fade" transition="in">
                                      <p:cBhvr>
                                        <p:cTn dur="1000"/>
                                        <p:tgtEl>
                                          <p:spTgt spid="256">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1000"/>
                                        <p:tgtEl>
                                          <p:spTgt spid="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2"/>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Structs and pointers</a:t>
            </a:r>
            <a:endParaRPr/>
          </a:p>
        </p:txBody>
      </p:sp>
      <p:sp>
        <p:nvSpPr>
          <p:cNvPr id="262" name="Google Shape;262;p42"/>
          <p:cNvSpPr txBox="1"/>
          <p:nvPr>
            <p:ph idx="2" type="body"/>
          </p:nvPr>
        </p:nvSpPr>
        <p:spPr>
          <a:xfrm>
            <a:off x="372775" y="1208350"/>
            <a:ext cx="1953600" cy="1690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stdio.h</a:t>
            </a:r>
            <a:r>
              <a:rPr b="1" lang="en" sz="1250">
                <a:solidFill>
                  <a:srgbClr val="E21F1F"/>
                </a:solidFill>
                <a:highlight>
                  <a:srgbClr val="FFFFFF"/>
                </a:highlight>
              </a:rPr>
              <a:t>&gt;</a:t>
            </a:r>
            <a:endParaRPr b="1" sz="12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typedef</a:t>
            </a: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a1;</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a2;</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2B91AF"/>
                </a:solidFill>
                <a:highlight>
                  <a:srgbClr val="FFFFFF"/>
                </a:highlight>
              </a:rPr>
              <a:t>pair</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t/>
            </a:r>
            <a:endParaRPr b="1" sz="1400"/>
          </a:p>
        </p:txBody>
      </p:sp>
      <p:sp>
        <p:nvSpPr>
          <p:cNvPr id="263" name="Google Shape;263;p42"/>
          <p:cNvSpPr txBox="1"/>
          <p:nvPr>
            <p:ph idx="2" type="body"/>
          </p:nvPr>
        </p:nvSpPr>
        <p:spPr>
          <a:xfrm>
            <a:off x="3310700" y="613200"/>
            <a:ext cx="5611800" cy="37836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350">
                <a:solidFill>
                  <a:srgbClr val="0000FF"/>
                </a:solidFill>
                <a:highlight>
                  <a:srgbClr val="FFFFFF"/>
                </a:highlight>
              </a:rPr>
              <a:t>int</a:t>
            </a:r>
            <a:r>
              <a:rPr b="1" lang="en" sz="1350">
                <a:solidFill>
                  <a:schemeClr val="dk1"/>
                </a:solidFill>
                <a:highlight>
                  <a:srgbClr val="FFFFFF"/>
                </a:highlight>
              </a:rPr>
              <a:t> </a:t>
            </a:r>
            <a:r>
              <a:rPr b="1" lang="en" sz="1350">
                <a:solidFill>
                  <a:srgbClr val="74531F"/>
                </a:solidFill>
                <a:highlight>
                  <a:srgbClr val="FFFFFF"/>
                </a:highlight>
              </a:rPr>
              <a:t>main</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2B91AF"/>
                </a:solidFill>
                <a:highlight>
                  <a:srgbClr val="FFFFFF"/>
                </a:highlight>
              </a:rPr>
              <a:t>pair</a:t>
            </a:r>
            <a:r>
              <a:rPr b="1" lang="en" sz="1350">
                <a:solidFill>
                  <a:schemeClr val="dk1"/>
                </a:solidFill>
                <a:highlight>
                  <a:srgbClr val="FFFFFF"/>
                </a:highlight>
              </a:rPr>
              <a:t> </a:t>
            </a:r>
            <a:r>
              <a:rPr b="1" lang="en" sz="1350">
                <a:solidFill>
                  <a:srgbClr val="1F377F"/>
                </a:solidFill>
                <a:highlight>
                  <a:srgbClr val="FFFFFF"/>
                </a:highlight>
              </a:rPr>
              <a:t>obj</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2B91AF"/>
                </a:solidFill>
                <a:highlight>
                  <a:srgbClr val="FFFFFF"/>
                </a:highlight>
              </a:rPr>
              <a:t>pair</a:t>
            </a:r>
            <a:r>
              <a:rPr b="1" lang="en" sz="1350">
                <a:solidFill>
                  <a:schemeClr val="dk1"/>
                </a:solidFill>
                <a:highlight>
                  <a:srgbClr val="FFFFFF"/>
                </a:highlight>
              </a:rPr>
              <a:t> </a:t>
            </a:r>
            <a:r>
              <a:rPr b="1" lang="en" sz="1350">
                <a:solidFill>
                  <a:srgbClr val="1F377F"/>
                </a:solidFill>
                <a:highlight>
                  <a:srgbClr val="FFFFFF"/>
                </a:highlight>
              </a:rPr>
              <a:t>zeros</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1F377F"/>
                </a:solidFill>
                <a:highlight>
                  <a:srgbClr val="FFFFFF"/>
                </a:highlight>
              </a:rPr>
              <a:t>zeros</a:t>
            </a:r>
            <a:r>
              <a:rPr b="1" lang="en" sz="1350">
                <a:solidFill>
                  <a:schemeClr val="dk1"/>
                </a:solidFill>
                <a:highlight>
                  <a:srgbClr val="FFFFFF"/>
                </a:highlight>
              </a:rPr>
              <a:t>.a1 = </a:t>
            </a:r>
            <a:r>
              <a:rPr b="1" lang="en" sz="1350">
                <a:solidFill>
                  <a:srgbClr val="098658"/>
                </a:solidFill>
                <a:highlight>
                  <a:srgbClr val="FFFFFF"/>
                </a:highlight>
              </a:rPr>
              <a:t>0</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1F377F"/>
                </a:solidFill>
                <a:highlight>
                  <a:srgbClr val="FFFFFF"/>
                </a:highlight>
              </a:rPr>
              <a:t>zeros</a:t>
            </a:r>
            <a:r>
              <a:rPr b="1" lang="en" sz="1350">
                <a:solidFill>
                  <a:schemeClr val="dk1"/>
                </a:solidFill>
                <a:highlight>
                  <a:srgbClr val="FFFFFF"/>
                </a:highlight>
              </a:rPr>
              <a:t>.a2 = </a:t>
            </a:r>
            <a:r>
              <a:rPr b="1" lang="en" sz="1350">
                <a:solidFill>
                  <a:srgbClr val="098658"/>
                </a:solidFill>
                <a:highlight>
                  <a:srgbClr val="FFFFFF"/>
                </a:highlight>
              </a:rPr>
              <a:t>0</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2B91AF"/>
                </a:solidFill>
                <a:highlight>
                  <a:srgbClr val="FFFFFF"/>
                </a:highlight>
              </a:rPr>
              <a:t>pair</a:t>
            </a:r>
            <a:r>
              <a:rPr b="1" lang="en" sz="1350">
                <a:solidFill>
                  <a:schemeClr val="dk1"/>
                </a:solidFill>
                <a:highlight>
                  <a:srgbClr val="FFFFFF"/>
                </a:highlight>
              </a:rPr>
              <a:t> *</a:t>
            </a:r>
            <a:r>
              <a:rPr b="1" lang="en" sz="1350">
                <a:solidFill>
                  <a:srgbClr val="1F377F"/>
                </a:solidFill>
                <a:highlight>
                  <a:srgbClr val="FFFFFF"/>
                </a:highlight>
              </a:rPr>
              <a:t>ptr</a:t>
            </a:r>
            <a:r>
              <a:rPr b="1" lang="en" sz="1350">
                <a:solidFill>
                  <a:schemeClr val="dk1"/>
                </a:solidFill>
                <a:highlight>
                  <a:srgbClr val="FFFFFF"/>
                </a:highlight>
              </a:rPr>
              <a:t> = &amp;</a:t>
            </a:r>
            <a:r>
              <a:rPr b="1" lang="en" sz="1350">
                <a:solidFill>
                  <a:srgbClr val="1F377F"/>
                </a:solidFill>
                <a:highlight>
                  <a:srgbClr val="FFFFFF"/>
                </a:highlight>
              </a:rPr>
              <a:t>obj</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1F377F"/>
                </a:solidFill>
                <a:highlight>
                  <a:srgbClr val="FFFFFF"/>
                </a:highlight>
              </a:rPr>
              <a:t>obj</a:t>
            </a:r>
            <a:r>
              <a:rPr b="1" lang="en" sz="1350">
                <a:solidFill>
                  <a:schemeClr val="dk1"/>
                </a:solidFill>
                <a:highlight>
                  <a:srgbClr val="FFFFFF"/>
                </a:highlight>
              </a:rPr>
              <a:t>.a1 = </a:t>
            </a:r>
            <a:r>
              <a:rPr b="1" lang="en" sz="1350">
                <a:solidFill>
                  <a:srgbClr val="098658"/>
                </a:solidFill>
                <a:highlight>
                  <a:srgbClr val="FFFFFF"/>
                </a:highlight>
              </a:rPr>
              <a:t>1</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1F377F"/>
                </a:solidFill>
                <a:highlight>
                  <a:srgbClr val="FFFFFF"/>
                </a:highlight>
              </a:rPr>
              <a:t>obj</a:t>
            </a:r>
            <a:r>
              <a:rPr b="1" lang="en" sz="1350">
                <a:solidFill>
                  <a:schemeClr val="dk1"/>
                </a:solidFill>
                <a:highlight>
                  <a:srgbClr val="FFFFFF"/>
                </a:highlight>
              </a:rPr>
              <a:t>.a2 = </a:t>
            </a:r>
            <a:r>
              <a:rPr b="1" lang="en" sz="1350">
                <a:solidFill>
                  <a:srgbClr val="098658"/>
                </a:solidFill>
                <a:highlight>
                  <a:srgbClr val="FFFFFF"/>
                </a:highlight>
              </a:rPr>
              <a:t>2</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1F377F"/>
                </a:solidFill>
                <a:highlight>
                  <a:srgbClr val="FFFFFF"/>
                </a:highlight>
              </a:rPr>
              <a:t>ptr</a:t>
            </a:r>
            <a:r>
              <a:rPr b="1" lang="en" sz="1350">
                <a:solidFill>
                  <a:schemeClr val="dk1"/>
                </a:solidFill>
                <a:highlight>
                  <a:srgbClr val="FFFFFF"/>
                </a:highlight>
              </a:rPr>
              <a:t> = </a:t>
            </a:r>
            <a:r>
              <a:rPr b="1" lang="en" sz="1350">
                <a:solidFill>
                  <a:srgbClr val="1F377F"/>
                </a:solidFill>
                <a:highlight>
                  <a:srgbClr val="FFFFFF"/>
                </a:highlight>
              </a:rPr>
              <a:t>zeros</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74531F"/>
                </a:solidFill>
                <a:highlight>
                  <a:srgbClr val="FFFFFF"/>
                </a:highlight>
              </a:rPr>
              <a:t>printf</a:t>
            </a:r>
            <a:r>
              <a:rPr b="1" lang="en" sz="1350">
                <a:solidFill>
                  <a:schemeClr val="dk1"/>
                </a:solidFill>
                <a:highlight>
                  <a:srgbClr val="FFFFFF"/>
                </a:highlight>
              </a:rPr>
              <a:t>(</a:t>
            </a:r>
            <a:r>
              <a:rPr b="1" lang="en" sz="1350">
                <a:solidFill>
                  <a:srgbClr val="E21F1F"/>
                </a:solidFill>
                <a:highlight>
                  <a:srgbClr val="FFFFFF"/>
                </a:highlight>
              </a:rPr>
              <a:t>"</a:t>
            </a:r>
            <a:r>
              <a:rPr b="1" lang="en" sz="1350">
                <a:solidFill>
                  <a:srgbClr val="A31515"/>
                </a:solidFill>
                <a:highlight>
                  <a:srgbClr val="FFFFFF"/>
                </a:highlight>
              </a:rPr>
              <a:t>a1: </a:t>
            </a:r>
            <a:r>
              <a:rPr b="1" lang="en" sz="1350">
                <a:solidFill>
                  <a:srgbClr val="1F377F"/>
                </a:solidFill>
                <a:highlight>
                  <a:srgbClr val="FFFFFF"/>
                </a:highlight>
              </a:rPr>
              <a:t>%d</a:t>
            </a:r>
            <a:r>
              <a:rPr b="1" lang="en" sz="1350">
                <a:solidFill>
                  <a:srgbClr val="A31515"/>
                </a:solidFill>
                <a:highlight>
                  <a:srgbClr val="FFFFFF"/>
                </a:highlight>
              </a:rPr>
              <a:t>, a2: </a:t>
            </a:r>
            <a:r>
              <a:rPr b="1" lang="en" sz="1350">
                <a:solidFill>
                  <a:srgbClr val="1F377F"/>
                </a:solidFill>
                <a:highlight>
                  <a:srgbClr val="FFFFFF"/>
                </a:highlight>
              </a:rPr>
              <a:t>%d</a:t>
            </a:r>
            <a:r>
              <a:rPr b="1" lang="en" sz="1350">
                <a:solidFill>
                  <a:srgbClr val="B776FB"/>
                </a:solidFill>
                <a:highlight>
                  <a:srgbClr val="FFFFFF"/>
                </a:highlight>
              </a:rPr>
              <a:t>\n</a:t>
            </a:r>
            <a:r>
              <a:rPr b="1" lang="en" sz="1350">
                <a:solidFill>
                  <a:srgbClr val="E21F1F"/>
                </a:solidFill>
                <a:highlight>
                  <a:srgbClr val="FFFFFF"/>
                </a:highlight>
              </a:rPr>
              <a:t>"</a:t>
            </a:r>
            <a:r>
              <a:rPr b="1" lang="en" sz="1350">
                <a:solidFill>
                  <a:schemeClr val="dk1"/>
                </a:solidFill>
                <a:highlight>
                  <a:srgbClr val="FFFFFF"/>
                </a:highlight>
              </a:rPr>
              <a:t>, </a:t>
            </a:r>
            <a:r>
              <a:rPr b="1" lang="en" sz="1350">
                <a:solidFill>
                  <a:srgbClr val="1F377F"/>
                </a:solidFill>
                <a:highlight>
                  <a:srgbClr val="FFFFFF"/>
                </a:highlight>
              </a:rPr>
              <a:t>ptr</a:t>
            </a:r>
            <a:r>
              <a:rPr b="1" lang="en" sz="1350">
                <a:solidFill>
                  <a:schemeClr val="dk1"/>
                </a:solidFill>
                <a:highlight>
                  <a:srgbClr val="FFFFFF"/>
                </a:highlight>
              </a:rPr>
              <a:t>-&gt;a1, </a:t>
            </a:r>
            <a:r>
              <a:rPr b="1" lang="en" sz="1350">
                <a:solidFill>
                  <a:srgbClr val="1F377F"/>
                </a:solidFill>
                <a:highlight>
                  <a:srgbClr val="FFFFFF"/>
                </a:highlight>
              </a:rPr>
              <a:t>ptr</a:t>
            </a:r>
            <a:r>
              <a:rPr b="1" lang="en" sz="1350">
                <a:solidFill>
                  <a:schemeClr val="dk1"/>
                </a:solidFill>
                <a:highlight>
                  <a:srgbClr val="FFFFFF"/>
                </a:highlight>
              </a:rPr>
              <a:t>-&gt;a2);</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8F08C4"/>
                </a:solidFill>
                <a:highlight>
                  <a:srgbClr val="FFFFFF"/>
                </a:highlight>
              </a:rPr>
              <a:t>return</a:t>
            </a:r>
            <a:r>
              <a:rPr b="1" lang="en" sz="1350">
                <a:solidFill>
                  <a:schemeClr val="dk1"/>
                </a:solidFill>
                <a:highlight>
                  <a:srgbClr val="FFFFFF"/>
                </a:highlight>
              </a:rPr>
              <a:t> </a:t>
            </a:r>
            <a:r>
              <a:rPr b="1" lang="en" sz="1350">
                <a:solidFill>
                  <a:srgbClr val="098658"/>
                </a:solidFill>
                <a:highlight>
                  <a:srgbClr val="FFFFFF"/>
                </a:highlight>
              </a:rPr>
              <a:t>0</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a:t>
            </a:r>
            <a:endParaRPr b="1" sz="15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000"/>
                                        <p:tgtEl>
                                          <p:spTgt spid="2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3"/>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Structs and pointers</a:t>
            </a:r>
            <a:endParaRPr/>
          </a:p>
        </p:txBody>
      </p:sp>
      <p:sp>
        <p:nvSpPr>
          <p:cNvPr id="269" name="Google Shape;269;p43"/>
          <p:cNvSpPr txBox="1"/>
          <p:nvPr>
            <p:ph idx="2" type="body"/>
          </p:nvPr>
        </p:nvSpPr>
        <p:spPr>
          <a:xfrm>
            <a:off x="421450" y="827250"/>
            <a:ext cx="2436900" cy="1744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350">
                <a:solidFill>
                  <a:srgbClr val="808080"/>
                </a:solidFill>
                <a:highlight>
                  <a:srgbClr val="FFFFFF"/>
                </a:highlight>
              </a:rPr>
              <a:t>#include</a:t>
            </a:r>
            <a:r>
              <a:rPr b="1" lang="en" sz="1350">
                <a:solidFill>
                  <a:schemeClr val="dk1"/>
                </a:solidFill>
                <a:highlight>
                  <a:srgbClr val="FFFFFF"/>
                </a:highlight>
              </a:rPr>
              <a:t> </a:t>
            </a:r>
            <a:r>
              <a:rPr b="1" lang="en" sz="1350">
                <a:solidFill>
                  <a:srgbClr val="E21F1F"/>
                </a:solidFill>
                <a:highlight>
                  <a:srgbClr val="FFFFFF"/>
                </a:highlight>
              </a:rPr>
              <a:t>&lt;</a:t>
            </a:r>
            <a:r>
              <a:rPr b="1" lang="en" sz="1350">
                <a:solidFill>
                  <a:srgbClr val="A31515"/>
                </a:solidFill>
                <a:highlight>
                  <a:srgbClr val="FFFFFF"/>
                </a:highlight>
              </a:rPr>
              <a:t>stdio.h</a:t>
            </a:r>
            <a:r>
              <a:rPr b="1" lang="en" sz="1350">
                <a:solidFill>
                  <a:srgbClr val="E21F1F"/>
                </a:solidFill>
                <a:highlight>
                  <a:srgbClr val="FFFFFF"/>
                </a:highlight>
              </a:rPr>
              <a:t>&gt;</a:t>
            </a:r>
            <a:endParaRPr b="1" sz="13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rgbClr val="0000FF"/>
                </a:solidFill>
                <a:highlight>
                  <a:srgbClr val="FFFFFF"/>
                </a:highlight>
              </a:rPr>
              <a:t>typedef</a:t>
            </a:r>
            <a:r>
              <a:rPr b="1" lang="en" sz="1350">
                <a:solidFill>
                  <a:schemeClr val="dk1"/>
                </a:solidFill>
                <a:highlight>
                  <a:srgbClr val="FFFFFF"/>
                </a:highlight>
              </a:rPr>
              <a:t> </a:t>
            </a:r>
            <a:r>
              <a:rPr b="1" lang="en" sz="1350">
                <a:solidFill>
                  <a:srgbClr val="0000FF"/>
                </a:solidFill>
                <a:highlight>
                  <a:srgbClr val="FFFFFF"/>
                </a:highlight>
              </a:rPr>
              <a:t>struct</a:t>
            </a:r>
            <a:r>
              <a:rPr b="1" lang="en" sz="1350">
                <a:solidFill>
                  <a:schemeClr val="dk1"/>
                </a:solidFill>
                <a:highlight>
                  <a:srgbClr val="FFFFFF"/>
                </a:highlight>
              </a:rPr>
              <a:t> {</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int</a:t>
            </a:r>
            <a:r>
              <a:rPr b="1" lang="en" sz="1350">
                <a:solidFill>
                  <a:schemeClr val="dk1"/>
                </a:solidFill>
                <a:highlight>
                  <a:srgbClr val="FFFFFF"/>
                </a:highlight>
              </a:rPr>
              <a:t> a1;</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int</a:t>
            </a:r>
            <a:r>
              <a:rPr b="1" lang="en" sz="1350">
                <a:solidFill>
                  <a:schemeClr val="dk1"/>
                </a:solidFill>
                <a:highlight>
                  <a:srgbClr val="FFFFFF"/>
                </a:highlight>
              </a:rPr>
              <a:t> a2;</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2B91AF"/>
                </a:solidFill>
                <a:highlight>
                  <a:srgbClr val="FFFFFF"/>
                </a:highlight>
              </a:rPr>
              <a:t>pair</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spcBef>
                <a:spcPts val="0"/>
              </a:spcBef>
              <a:spcAft>
                <a:spcPts val="0"/>
              </a:spcAft>
              <a:buNone/>
            </a:pPr>
            <a:r>
              <a:t/>
            </a:r>
            <a:endParaRPr b="1" sz="1500"/>
          </a:p>
        </p:txBody>
      </p:sp>
      <p:sp>
        <p:nvSpPr>
          <p:cNvPr id="270" name="Google Shape;270;p43"/>
          <p:cNvSpPr txBox="1"/>
          <p:nvPr/>
        </p:nvSpPr>
        <p:spPr>
          <a:xfrm>
            <a:off x="3464625" y="949500"/>
            <a:ext cx="5354700" cy="3494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rgbClr val="0000FF"/>
                </a:solidFill>
                <a:highlight>
                  <a:schemeClr val="lt1"/>
                </a:highlight>
                <a:latin typeface="Consolas"/>
                <a:ea typeface="Consolas"/>
                <a:cs typeface="Consolas"/>
                <a:sym typeface="Consolas"/>
              </a:rPr>
              <a:t>int</a:t>
            </a:r>
            <a:r>
              <a:rPr b="1" lang="en" sz="1350">
                <a:solidFill>
                  <a:schemeClr val="dk1"/>
                </a:solidFill>
                <a:highlight>
                  <a:schemeClr val="lt1"/>
                </a:highlight>
                <a:latin typeface="Consolas"/>
                <a:ea typeface="Consolas"/>
                <a:cs typeface="Consolas"/>
                <a:sym typeface="Consolas"/>
              </a:rPr>
              <a:t> </a:t>
            </a:r>
            <a:r>
              <a:rPr b="1" lang="en" sz="1350">
                <a:solidFill>
                  <a:srgbClr val="74531F"/>
                </a:solidFill>
                <a:highlight>
                  <a:schemeClr val="lt1"/>
                </a:highlight>
                <a:latin typeface="Consolas"/>
                <a:ea typeface="Consolas"/>
                <a:cs typeface="Consolas"/>
                <a:sym typeface="Consolas"/>
              </a:rPr>
              <a:t>main</a:t>
            </a:r>
            <a:r>
              <a:rPr b="1" lang="en" sz="1350">
                <a:solidFill>
                  <a:schemeClr val="dk1"/>
                </a:solidFill>
                <a:highlight>
                  <a:schemeClr val="lt1"/>
                </a:highlight>
                <a:latin typeface="Consolas"/>
                <a:ea typeface="Consolas"/>
                <a:cs typeface="Consolas"/>
                <a:sym typeface="Consolas"/>
              </a:rPr>
              <a:t>() {</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2B91AF"/>
                </a:solidFill>
                <a:highlight>
                  <a:schemeClr val="lt1"/>
                </a:highlight>
                <a:latin typeface="Consolas"/>
                <a:ea typeface="Consolas"/>
                <a:cs typeface="Consolas"/>
                <a:sym typeface="Consolas"/>
              </a:rPr>
              <a:t>pair</a:t>
            </a:r>
            <a:r>
              <a:rPr b="1" lang="en" sz="1350">
                <a:solidFill>
                  <a:schemeClr val="dk1"/>
                </a:solidFill>
                <a:highlight>
                  <a:schemeClr val="lt1"/>
                </a:highlight>
                <a:latin typeface="Consolas"/>
                <a:ea typeface="Consolas"/>
                <a:cs typeface="Consolas"/>
                <a:sym typeface="Consolas"/>
              </a:rPr>
              <a:t> </a:t>
            </a:r>
            <a:r>
              <a:rPr b="1" lang="en" sz="1350">
                <a:solidFill>
                  <a:srgbClr val="1F377F"/>
                </a:solidFill>
                <a:highlight>
                  <a:schemeClr val="lt1"/>
                </a:highlight>
                <a:latin typeface="Consolas"/>
                <a:ea typeface="Consolas"/>
                <a:cs typeface="Consolas"/>
                <a:sym typeface="Consolas"/>
              </a:rPr>
              <a:t>obj</a:t>
            </a:r>
            <a:r>
              <a:rPr b="1" lang="en" sz="1350">
                <a:solidFill>
                  <a:schemeClr val="dk1"/>
                </a:solidFill>
                <a:highlight>
                  <a:schemeClr val="lt1"/>
                </a:highlight>
                <a:latin typeface="Consolas"/>
                <a:ea typeface="Consolas"/>
                <a:cs typeface="Consolas"/>
                <a:sym typeface="Consolas"/>
              </a:rPr>
              <a:t> = {</a:t>
            </a:r>
            <a:r>
              <a:rPr b="1" lang="en" sz="1350">
                <a:solidFill>
                  <a:srgbClr val="098658"/>
                </a:solidFill>
                <a:highlight>
                  <a:schemeClr val="lt1"/>
                </a:highlight>
                <a:latin typeface="Consolas"/>
                <a:ea typeface="Consolas"/>
                <a:cs typeface="Consolas"/>
                <a:sym typeface="Consolas"/>
              </a:rPr>
              <a:t>10</a:t>
            </a:r>
            <a:r>
              <a:rPr b="1" lang="en" sz="1350">
                <a:solidFill>
                  <a:schemeClr val="dk1"/>
                </a:solidFill>
                <a:highlight>
                  <a:schemeClr val="lt1"/>
                </a:highlight>
                <a:latin typeface="Consolas"/>
                <a:ea typeface="Consolas"/>
                <a:cs typeface="Consolas"/>
                <a:sym typeface="Consolas"/>
              </a:rPr>
              <a:t>, </a:t>
            </a:r>
            <a:r>
              <a:rPr b="1" lang="en" sz="1350">
                <a:solidFill>
                  <a:srgbClr val="098658"/>
                </a:solidFill>
                <a:highlight>
                  <a:schemeClr val="lt1"/>
                </a:highlight>
                <a:latin typeface="Consolas"/>
                <a:ea typeface="Consolas"/>
                <a:cs typeface="Consolas"/>
                <a:sym typeface="Consolas"/>
              </a:rPr>
              <a:t>15</a:t>
            </a: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2B91AF"/>
                </a:solidFill>
                <a:highlight>
                  <a:schemeClr val="lt1"/>
                </a:highlight>
                <a:latin typeface="Consolas"/>
                <a:ea typeface="Consolas"/>
                <a:cs typeface="Consolas"/>
                <a:sym typeface="Consolas"/>
              </a:rPr>
              <a:t>pair</a:t>
            </a:r>
            <a:r>
              <a:rPr b="1" lang="en" sz="1350">
                <a:solidFill>
                  <a:schemeClr val="dk1"/>
                </a:solidFill>
                <a:highlight>
                  <a:schemeClr val="lt1"/>
                </a:highlight>
                <a:latin typeface="Consolas"/>
                <a:ea typeface="Consolas"/>
                <a:cs typeface="Consolas"/>
                <a:sym typeface="Consolas"/>
              </a:rPr>
              <a:t> </a:t>
            </a:r>
            <a:r>
              <a:rPr b="1" lang="en" sz="1350">
                <a:solidFill>
                  <a:srgbClr val="1F377F"/>
                </a:solidFill>
                <a:highlight>
                  <a:schemeClr val="lt1"/>
                </a:highlight>
                <a:latin typeface="Consolas"/>
                <a:ea typeface="Consolas"/>
                <a:cs typeface="Consolas"/>
                <a:sym typeface="Consolas"/>
              </a:rPr>
              <a:t>zeros</a:t>
            </a:r>
            <a:r>
              <a:rPr b="1" lang="en" sz="1350">
                <a:solidFill>
                  <a:schemeClr val="dk1"/>
                </a:solidFill>
                <a:highlight>
                  <a:schemeClr val="lt1"/>
                </a:highlight>
                <a:latin typeface="Consolas"/>
                <a:ea typeface="Consolas"/>
                <a:cs typeface="Consolas"/>
                <a:sym typeface="Consolas"/>
              </a:rPr>
              <a:t> = {</a:t>
            </a:r>
            <a:r>
              <a:rPr b="1" lang="en" sz="1350">
                <a:solidFill>
                  <a:srgbClr val="098658"/>
                </a:solidFill>
                <a:highlight>
                  <a:schemeClr val="lt1"/>
                </a:highlight>
                <a:latin typeface="Consolas"/>
                <a:ea typeface="Consolas"/>
                <a:cs typeface="Consolas"/>
                <a:sym typeface="Consolas"/>
              </a:rPr>
              <a:t>0</a:t>
            </a:r>
            <a:r>
              <a:rPr b="1" lang="en" sz="1350">
                <a:solidFill>
                  <a:schemeClr val="dk1"/>
                </a:solidFill>
                <a:highlight>
                  <a:schemeClr val="lt1"/>
                </a:highlight>
                <a:latin typeface="Consolas"/>
                <a:ea typeface="Consolas"/>
                <a:cs typeface="Consolas"/>
                <a:sym typeface="Consolas"/>
              </a:rPr>
              <a:t>, </a:t>
            </a:r>
            <a:r>
              <a:rPr b="1" lang="en" sz="1350">
                <a:solidFill>
                  <a:srgbClr val="098658"/>
                </a:solidFill>
                <a:highlight>
                  <a:schemeClr val="lt1"/>
                </a:highlight>
                <a:latin typeface="Consolas"/>
                <a:ea typeface="Consolas"/>
                <a:cs typeface="Consolas"/>
                <a:sym typeface="Consolas"/>
              </a:rPr>
              <a:t>0</a:t>
            </a: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1F377F"/>
                </a:solidFill>
                <a:highlight>
                  <a:schemeClr val="lt1"/>
                </a:highlight>
                <a:latin typeface="Consolas"/>
                <a:ea typeface="Consolas"/>
                <a:cs typeface="Consolas"/>
                <a:sym typeface="Consolas"/>
              </a:rPr>
              <a:t>obj</a:t>
            </a:r>
            <a:r>
              <a:rPr b="1" lang="en" sz="1350">
                <a:solidFill>
                  <a:schemeClr val="dk1"/>
                </a:solidFill>
                <a:highlight>
                  <a:schemeClr val="lt1"/>
                </a:highlight>
                <a:latin typeface="Consolas"/>
                <a:ea typeface="Consolas"/>
                <a:cs typeface="Consolas"/>
                <a:sym typeface="Consolas"/>
              </a:rPr>
              <a:t> = </a:t>
            </a:r>
            <a:r>
              <a:rPr b="1" lang="en" sz="1350">
                <a:solidFill>
                  <a:srgbClr val="1F377F"/>
                </a:solidFill>
                <a:highlight>
                  <a:schemeClr val="lt1"/>
                </a:highlight>
                <a:latin typeface="Consolas"/>
                <a:ea typeface="Consolas"/>
                <a:cs typeface="Consolas"/>
                <a:sym typeface="Consolas"/>
              </a:rPr>
              <a:t>zeros</a:t>
            </a: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2B91AF"/>
                </a:solidFill>
                <a:highlight>
                  <a:schemeClr val="lt1"/>
                </a:highlight>
                <a:latin typeface="Consolas"/>
                <a:ea typeface="Consolas"/>
                <a:cs typeface="Consolas"/>
                <a:sym typeface="Consolas"/>
              </a:rPr>
              <a:t>pair</a:t>
            </a:r>
            <a:r>
              <a:rPr b="1" lang="en" sz="1350">
                <a:solidFill>
                  <a:schemeClr val="dk1"/>
                </a:solidFill>
                <a:highlight>
                  <a:schemeClr val="lt1"/>
                </a:highlight>
                <a:latin typeface="Consolas"/>
                <a:ea typeface="Consolas"/>
                <a:cs typeface="Consolas"/>
                <a:sym typeface="Consolas"/>
              </a:rPr>
              <a:t> *</a:t>
            </a:r>
            <a:r>
              <a:rPr b="1" lang="en" sz="1350">
                <a:solidFill>
                  <a:srgbClr val="1F377F"/>
                </a:solidFill>
                <a:highlight>
                  <a:schemeClr val="lt1"/>
                </a:highlight>
                <a:latin typeface="Consolas"/>
                <a:ea typeface="Consolas"/>
                <a:cs typeface="Consolas"/>
                <a:sym typeface="Consolas"/>
              </a:rPr>
              <a:t>ptr</a:t>
            </a:r>
            <a:r>
              <a:rPr b="1" lang="en" sz="1350">
                <a:solidFill>
                  <a:schemeClr val="dk1"/>
                </a:solidFill>
                <a:highlight>
                  <a:schemeClr val="lt1"/>
                </a:highlight>
                <a:latin typeface="Consolas"/>
                <a:ea typeface="Consolas"/>
                <a:cs typeface="Consolas"/>
                <a:sym typeface="Consolas"/>
              </a:rPr>
              <a:t> = &amp;</a:t>
            </a:r>
            <a:r>
              <a:rPr b="1" lang="en" sz="1350">
                <a:solidFill>
                  <a:srgbClr val="1F377F"/>
                </a:solidFill>
                <a:highlight>
                  <a:schemeClr val="lt1"/>
                </a:highlight>
                <a:latin typeface="Consolas"/>
                <a:ea typeface="Consolas"/>
                <a:cs typeface="Consolas"/>
                <a:sym typeface="Consolas"/>
              </a:rPr>
              <a:t>zeros</a:t>
            </a: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1F377F"/>
                </a:solidFill>
                <a:highlight>
                  <a:schemeClr val="lt1"/>
                </a:highlight>
                <a:latin typeface="Consolas"/>
                <a:ea typeface="Consolas"/>
                <a:cs typeface="Consolas"/>
                <a:sym typeface="Consolas"/>
              </a:rPr>
              <a:t>obj</a:t>
            </a:r>
            <a:r>
              <a:rPr b="1" lang="en" sz="1350">
                <a:solidFill>
                  <a:schemeClr val="dk1"/>
                </a:solidFill>
                <a:highlight>
                  <a:schemeClr val="lt1"/>
                </a:highlight>
                <a:latin typeface="Consolas"/>
                <a:ea typeface="Consolas"/>
                <a:cs typeface="Consolas"/>
                <a:sym typeface="Consolas"/>
              </a:rPr>
              <a:t>.a1 = </a:t>
            </a:r>
            <a:r>
              <a:rPr b="1" lang="en" sz="1350">
                <a:solidFill>
                  <a:srgbClr val="098658"/>
                </a:solidFill>
                <a:highlight>
                  <a:schemeClr val="lt1"/>
                </a:highlight>
                <a:latin typeface="Consolas"/>
                <a:ea typeface="Consolas"/>
                <a:cs typeface="Consolas"/>
                <a:sym typeface="Consolas"/>
              </a:rPr>
              <a:t>1</a:t>
            </a: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1F377F"/>
                </a:solidFill>
                <a:highlight>
                  <a:schemeClr val="lt1"/>
                </a:highlight>
                <a:latin typeface="Consolas"/>
                <a:ea typeface="Consolas"/>
                <a:cs typeface="Consolas"/>
                <a:sym typeface="Consolas"/>
              </a:rPr>
              <a:t>obj</a:t>
            </a:r>
            <a:r>
              <a:rPr b="1" lang="en" sz="1350">
                <a:solidFill>
                  <a:schemeClr val="dk1"/>
                </a:solidFill>
                <a:highlight>
                  <a:schemeClr val="lt1"/>
                </a:highlight>
                <a:latin typeface="Consolas"/>
                <a:ea typeface="Consolas"/>
                <a:cs typeface="Consolas"/>
                <a:sym typeface="Consolas"/>
              </a:rPr>
              <a:t>.a2 = </a:t>
            </a:r>
            <a:r>
              <a:rPr b="1" lang="en" sz="1350">
                <a:solidFill>
                  <a:srgbClr val="098658"/>
                </a:solidFill>
                <a:highlight>
                  <a:schemeClr val="lt1"/>
                </a:highlight>
                <a:latin typeface="Consolas"/>
                <a:ea typeface="Consolas"/>
                <a:cs typeface="Consolas"/>
                <a:sym typeface="Consolas"/>
              </a:rPr>
              <a:t>2</a:t>
            </a: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74531F"/>
                </a:solidFill>
                <a:highlight>
                  <a:schemeClr val="lt1"/>
                </a:highlight>
                <a:latin typeface="Consolas"/>
                <a:ea typeface="Consolas"/>
                <a:cs typeface="Consolas"/>
                <a:sym typeface="Consolas"/>
              </a:rPr>
              <a:t>printf</a:t>
            </a:r>
            <a:r>
              <a:rPr b="1" lang="en" sz="1350">
                <a:solidFill>
                  <a:schemeClr val="dk1"/>
                </a:solidFill>
                <a:highlight>
                  <a:schemeClr val="lt1"/>
                </a:highlight>
                <a:latin typeface="Consolas"/>
                <a:ea typeface="Consolas"/>
                <a:cs typeface="Consolas"/>
                <a:sym typeface="Consolas"/>
              </a:rPr>
              <a:t>(</a:t>
            </a:r>
            <a:r>
              <a:rPr b="1" lang="en" sz="1350">
                <a:solidFill>
                  <a:srgbClr val="E21F1F"/>
                </a:solidFill>
                <a:highlight>
                  <a:schemeClr val="lt1"/>
                </a:highlight>
                <a:latin typeface="Consolas"/>
                <a:ea typeface="Consolas"/>
                <a:cs typeface="Consolas"/>
                <a:sym typeface="Consolas"/>
              </a:rPr>
              <a:t>"</a:t>
            </a:r>
            <a:r>
              <a:rPr b="1" lang="en" sz="1350">
                <a:solidFill>
                  <a:srgbClr val="A31515"/>
                </a:solidFill>
                <a:highlight>
                  <a:schemeClr val="lt1"/>
                </a:highlight>
                <a:latin typeface="Consolas"/>
                <a:ea typeface="Consolas"/>
                <a:cs typeface="Consolas"/>
                <a:sym typeface="Consolas"/>
              </a:rPr>
              <a:t>a1: </a:t>
            </a:r>
            <a:r>
              <a:rPr b="1" lang="en" sz="1350">
                <a:solidFill>
                  <a:srgbClr val="1F377F"/>
                </a:solidFill>
                <a:highlight>
                  <a:schemeClr val="lt1"/>
                </a:highlight>
                <a:latin typeface="Consolas"/>
                <a:ea typeface="Consolas"/>
                <a:cs typeface="Consolas"/>
                <a:sym typeface="Consolas"/>
              </a:rPr>
              <a:t>%d</a:t>
            </a:r>
            <a:r>
              <a:rPr b="1" lang="en" sz="1350">
                <a:solidFill>
                  <a:srgbClr val="A31515"/>
                </a:solidFill>
                <a:highlight>
                  <a:schemeClr val="lt1"/>
                </a:highlight>
                <a:latin typeface="Consolas"/>
                <a:ea typeface="Consolas"/>
                <a:cs typeface="Consolas"/>
                <a:sym typeface="Consolas"/>
              </a:rPr>
              <a:t>, a2: </a:t>
            </a:r>
            <a:r>
              <a:rPr b="1" lang="en" sz="1350">
                <a:solidFill>
                  <a:srgbClr val="1F377F"/>
                </a:solidFill>
                <a:highlight>
                  <a:schemeClr val="lt1"/>
                </a:highlight>
                <a:latin typeface="Consolas"/>
                <a:ea typeface="Consolas"/>
                <a:cs typeface="Consolas"/>
                <a:sym typeface="Consolas"/>
              </a:rPr>
              <a:t>%d</a:t>
            </a:r>
            <a:r>
              <a:rPr b="1" lang="en" sz="1350">
                <a:solidFill>
                  <a:srgbClr val="B776FB"/>
                </a:solidFill>
                <a:highlight>
                  <a:schemeClr val="lt1"/>
                </a:highlight>
                <a:latin typeface="Consolas"/>
                <a:ea typeface="Consolas"/>
                <a:cs typeface="Consolas"/>
                <a:sym typeface="Consolas"/>
              </a:rPr>
              <a:t>\n</a:t>
            </a:r>
            <a:r>
              <a:rPr b="1" lang="en" sz="1350">
                <a:solidFill>
                  <a:srgbClr val="E21F1F"/>
                </a:solidFill>
                <a:highlight>
                  <a:schemeClr val="lt1"/>
                </a:highlight>
                <a:latin typeface="Consolas"/>
                <a:ea typeface="Consolas"/>
                <a:cs typeface="Consolas"/>
                <a:sym typeface="Consolas"/>
              </a:rPr>
              <a:t>"</a:t>
            </a:r>
            <a:r>
              <a:rPr b="1" lang="en" sz="1350">
                <a:solidFill>
                  <a:schemeClr val="dk1"/>
                </a:solidFill>
                <a:highlight>
                  <a:schemeClr val="lt1"/>
                </a:highlight>
                <a:latin typeface="Consolas"/>
                <a:ea typeface="Consolas"/>
                <a:cs typeface="Consolas"/>
                <a:sym typeface="Consolas"/>
              </a:rPr>
              <a:t>, </a:t>
            </a:r>
            <a:r>
              <a:rPr b="1" lang="en" sz="1350">
                <a:solidFill>
                  <a:srgbClr val="1F377F"/>
                </a:solidFill>
                <a:highlight>
                  <a:schemeClr val="lt1"/>
                </a:highlight>
                <a:latin typeface="Consolas"/>
                <a:ea typeface="Consolas"/>
                <a:cs typeface="Consolas"/>
                <a:sym typeface="Consolas"/>
              </a:rPr>
              <a:t>ptr</a:t>
            </a:r>
            <a:r>
              <a:rPr b="1" lang="en" sz="1350">
                <a:solidFill>
                  <a:schemeClr val="dk1"/>
                </a:solidFill>
                <a:highlight>
                  <a:schemeClr val="lt1"/>
                </a:highlight>
                <a:latin typeface="Consolas"/>
                <a:ea typeface="Consolas"/>
                <a:cs typeface="Consolas"/>
                <a:sym typeface="Consolas"/>
              </a:rPr>
              <a:t>-&gt;a1, </a:t>
            </a:r>
            <a:r>
              <a:rPr b="1" lang="en" sz="1350">
                <a:solidFill>
                  <a:srgbClr val="1F377F"/>
                </a:solidFill>
                <a:highlight>
                  <a:schemeClr val="lt1"/>
                </a:highlight>
                <a:latin typeface="Consolas"/>
                <a:ea typeface="Consolas"/>
                <a:cs typeface="Consolas"/>
                <a:sym typeface="Consolas"/>
              </a:rPr>
              <a:t>ptr</a:t>
            </a:r>
            <a:r>
              <a:rPr b="1" lang="en" sz="1350">
                <a:solidFill>
                  <a:schemeClr val="dk1"/>
                </a:solidFill>
                <a:highlight>
                  <a:schemeClr val="lt1"/>
                </a:highlight>
                <a:latin typeface="Consolas"/>
                <a:ea typeface="Consolas"/>
                <a:cs typeface="Consolas"/>
                <a:sym typeface="Consolas"/>
              </a:rPr>
              <a:t>-&gt;a2);</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8F08C4"/>
                </a:solidFill>
                <a:highlight>
                  <a:schemeClr val="lt1"/>
                </a:highlight>
                <a:latin typeface="Consolas"/>
                <a:ea typeface="Consolas"/>
                <a:cs typeface="Consolas"/>
                <a:sym typeface="Consolas"/>
              </a:rPr>
              <a:t>return</a:t>
            </a:r>
            <a:r>
              <a:rPr b="1" lang="en" sz="1350">
                <a:solidFill>
                  <a:schemeClr val="dk1"/>
                </a:solidFill>
                <a:highlight>
                  <a:schemeClr val="lt1"/>
                </a:highlight>
                <a:latin typeface="Consolas"/>
                <a:ea typeface="Consolas"/>
                <a:cs typeface="Consolas"/>
                <a:sym typeface="Consolas"/>
              </a:rPr>
              <a:t> </a:t>
            </a:r>
            <a:r>
              <a:rPr b="1" lang="en" sz="1350">
                <a:solidFill>
                  <a:srgbClr val="098658"/>
                </a:solidFill>
                <a:highlight>
                  <a:schemeClr val="lt1"/>
                </a:highlight>
                <a:latin typeface="Consolas"/>
                <a:ea typeface="Consolas"/>
                <a:cs typeface="Consolas"/>
                <a:sym typeface="Consolas"/>
              </a:rPr>
              <a:t>0</a:t>
            </a: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4"/>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4"/>
          <p:cNvSpPr txBox="1"/>
          <p:nvPr>
            <p:ph idx="2" type="body"/>
          </p:nvPr>
        </p:nvSpPr>
        <p:spPr>
          <a:xfrm>
            <a:off x="372775" y="1208350"/>
            <a:ext cx="44604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stdio.h</a:t>
            </a:r>
            <a:r>
              <a:rPr b="1" lang="en" sz="1250">
                <a:solidFill>
                  <a:srgbClr val="E21F1F"/>
                </a:solidFill>
                <a:highlight>
                  <a:srgbClr val="FFFFFF"/>
                </a:highlight>
              </a:rPr>
              <a:t>&gt;</a:t>
            </a:r>
            <a:endParaRPr b="1" sz="12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typedef</a:t>
            </a: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a1;</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a2;</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2B91AF"/>
                </a:solidFill>
                <a:highlight>
                  <a:srgbClr val="FFFFFF"/>
                </a:highlight>
              </a:rPr>
              <a:t>pair</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int</a:t>
            </a:r>
            <a:r>
              <a:rPr b="1" lang="en" sz="1250">
                <a:solidFill>
                  <a:schemeClr val="dk1"/>
                </a:solidFill>
                <a:highlight>
                  <a:srgbClr val="FFFFFF"/>
                </a:highlight>
              </a:rPr>
              <a:t> </a:t>
            </a:r>
            <a:r>
              <a:rPr b="1" lang="en" sz="1250">
                <a:solidFill>
                  <a:srgbClr val="74531F"/>
                </a:solidFill>
                <a:highlight>
                  <a:srgbClr val="FFFFFF"/>
                </a:highlight>
              </a:rPr>
              <a:t>main</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2B91AF"/>
                </a:solidFill>
                <a:highlight>
                  <a:srgbClr val="FFFFFF"/>
                </a:highlight>
              </a:rPr>
              <a:t>pair</a:t>
            </a:r>
            <a:r>
              <a:rPr b="1" lang="en" sz="1250">
                <a:solidFill>
                  <a:schemeClr val="dk1"/>
                </a:solidFill>
                <a:highlight>
                  <a:srgbClr val="FFFFFF"/>
                </a:highlight>
              </a:rPr>
              <a:t> </a:t>
            </a:r>
            <a:r>
              <a:rPr b="1" lang="en" sz="1250">
                <a:solidFill>
                  <a:srgbClr val="1F377F"/>
                </a:solidFill>
                <a:highlight>
                  <a:srgbClr val="FFFFFF"/>
                </a:highlight>
              </a:rPr>
              <a:t>obj</a:t>
            </a:r>
            <a:r>
              <a:rPr b="1" lang="en" sz="1250">
                <a:solidFill>
                  <a:schemeClr val="dk1"/>
                </a:solidFill>
                <a:highlight>
                  <a:srgbClr val="FFFFFF"/>
                </a:highlight>
              </a:rPr>
              <a:t> = {</a:t>
            </a:r>
            <a:r>
              <a:rPr b="1" lang="en" sz="1250">
                <a:solidFill>
                  <a:srgbClr val="098658"/>
                </a:solidFill>
                <a:highlight>
                  <a:srgbClr val="FFFFFF"/>
                </a:highlight>
              </a:rPr>
              <a:t>10</a:t>
            </a:r>
            <a:r>
              <a:rPr b="1" lang="en" sz="1250">
                <a:solidFill>
                  <a:schemeClr val="dk1"/>
                </a:solidFill>
                <a:highlight>
                  <a:srgbClr val="FFFFFF"/>
                </a:highlight>
              </a:rPr>
              <a:t>, </a:t>
            </a:r>
            <a:r>
              <a:rPr b="1" lang="en" sz="1250">
                <a:solidFill>
                  <a:srgbClr val="098658"/>
                </a:solidFill>
                <a:highlight>
                  <a:srgbClr val="FFFFFF"/>
                </a:highlight>
              </a:rPr>
              <a:t>15</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2B91AF"/>
                </a:solidFill>
                <a:highlight>
                  <a:srgbClr val="FFFFFF"/>
                </a:highlight>
              </a:rPr>
              <a:t>pair</a:t>
            </a:r>
            <a:r>
              <a:rPr b="1" lang="en" sz="1250">
                <a:solidFill>
                  <a:schemeClr val="dk1"/>
                </a:solidFill>
                <a:highlight>
                  <a:srgbClr val="FFFFFF"/>
                </a:highlight>
              </a:rPr>
              <a:t> *</a:t>
            </a:r>
            <a:r>
              <a:rPr b="1" lang="en" sz="1250">
                <a:solidFill>
                  <a:srgbClr val="1F377F"/>
                </a:solidFill>
                <a:highlight>
                  <a:srgbClr val="FFFFFF"/>
                </a:highlight>
              </a:rPr>
              <a:t>ptr</a:t>
            </a:r>
            <a:r>
              <a:rPr b="1" lang="en" sz="1250">
                <a:solidFill>
                  <a:schemeClr val="dk1"/>
                </a:solidFill>
                <a:highlight>
                  <a:srgbClr val="FFFFFF"/>
                </a:highlight>
              </a:rPr>
              <a:t> = &amp;</a:t>
            </a:r>
            <a:r>
              <a:rPr b="1" lang="en" sz="1250">
                <a:solidFill>
                  <a:srgbClr val="1F377F"/>
                </a:solidFill>
                <a:highlight>
                  <a:srgbClr val="FFFFFF"/>
                </a:highlight>
              </a:rPr>
              <a:t>obj</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chemeClr val="dk1"/>
                </a:solidFill>
                <a:highlight>
                  <a:srgbClr val="FFFFFF"/>
                </a:highlight>
              </a:rPr>
              <a:t>   </a:t>
            </a:r>
            <a:r>
              <a:rPr b="1" lang="en" sz="1250">
                <a:solidFill>
                  <a:srgbClr val="008000"/>
                </a:solidFill>
                <a:highlight>
                  <a:srgbClr val="FFFFFF"/>
                </a:highlight>
              </a:rPr>
              <a:t>/*what is the value of ptr2????*/</a:t>
            </a:r>
            <a:endParaRPr b="1" sz="1250">
              <a:solidFill>
                <a:srgbClr val="008000"/>
              </a:solidFill>
              <a:highlight>
                <a:srgbClr val="FFFFFF"/>
              </a:highlight>
            </a:endParaRPr>
          </a:p>
          <a:p>
            <a:pPr indent="0" lvl="0" marL="0" rtl="0" algn="l">
              <a:lnSpc>
                <a:spcPct val="135714"/>
              </a:lnSpc>
              <a:spcBef>
                <a:spcPts val="0"/>
              </a:spcBef>
              <a:spcAft>
                <a:spcPts val="0"/>
              </a:spcAft>
              <a:buNone/>
            </a:pPr>
            <a:r>
              <a:rPr b="1" lang="en" sz="1250">
                <a:solidFill>
                  <a:schemeClr val="dk1"/>
                </a:solidFill>
                <a:highlight>
                  <a:srgbClr val="FFFFFF"/>
                </a:highlight>
              </a:rPr>
              <a:t>   </a:t>
            </a:r>
            <a:r>
              <a:rPr b="1" lang="en" sz="1250">
                <a:solidFill>
                  <a:srgbClr val="2B91AF"/>
                </a:solidFill>
                <a:highlight>
                  <a:srgbClr val="FFFFFF"/>
                </a:highlight>
              </a:rPr>
              <a:t>pair</a:t>
            </a:r>
            <a:r>
              <a:rPr b="1" lang="en" sz="1250">
                <a:solidFill>
                  <a:schemeClr val="dk1"/>
                </a:solidFill>
                <a:highlight>
                  <a:srgbClr val="FFFFFF"/>
                </a:highlight>
              </a:rPr>
              <a:t> *</a:t>
            </a:r>
            <a:r>
              <a:rPr b="1" lang="en" sz="1250">
                <a:solidFill>
                  <a:srgbClr val="1F377F"/>
                </a:solidFill>
                <a:highlight>
                  <a:srgbClr val="FFFFFF"/>
                </a:highlight>
              </a:rPr>
              <a:t>ptr2</a:t>
            </a:r>
            <a:r>
              <a:rPr b="1" lang="en" sz="1250">
                <a:solidFill>
                  <a:schemeClr val="dk1"/>
                </a:solidFill>
                <a:highlight>
                  <a:srgbClr val="FFFFFF"/>
                </a:highlight>
              </a:rPr>
              <a:t> = </a:t>
            </a:r>
            <a:r>
              <a:rPr b="1" lang="en" sz="1250">
                <a:solidFill>
                  <a:srgbClr val="1F377F"/>
                </a:solidFill>
                <a:highlight>
                  <a:srgbClr val="FFFFFF"/>
                </a:highlight>
              </a:rPr>
              <a:t>ptr</a:t>
            </a:r>
            <a:r>
              <a:rPr b="1" lang="en" sz="1250">
                <a:solidFill>
                  <a:schemeClr val="dk1"/>
                </a:solidFill>
                <a:highlight>
                  <a:srgbClr val="FFFFFF"/>
                </a:highlight>
              </a:rPr>
              <a:t> + </a:t>
            </a:r>
            <a:r>
              <a:rPr b="1" lang="en" sz="1250">
                <a:solidFill>
                  <a:srgbClr val="098658"/>
                </a:solidFill>
                <a:highlight>
                  <a:srgbClr val="FFFFFF"/>
                </a:highlight>
              </a:rPr>
              <a:t>1</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None/>
            </a:pPr>
            <a:r>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spcBef>
                <a:spcPts val="0"/>
              </a:spcBef>
              <a:spcAft>
                <a:spcPts val="0"/>
              </a:spcAft>
              <a:buNone/>
            </a:pPr>
            <a:r>
              <a:t/>
            </a:r>
            <a:endParaRPr b="1" sz="1400"/>
          </a:p>
        </p:txBody>
      </p:sp>
      <p:sp>
        <p:nvSpPr>
          <p:cNvPr id="277" name="Google Shape;277;p44"/>
          <p:cNvSpPr txBox="1"/>
          <p:nvPr/>
        </p:nvSpPr>
        <p:spPr>
          <a:xfrm>
            <a:off x="570100" y="4331350"/>
            <a:ext cx="8180400" cy="361800"/>
          </a:xfrm>
          <a:prstGeom prst="rect">
            <a:avLst/>
          </a:prstGeom>
          <a:solidFill>
            <a:schemeClr val="accent6"/>
          </a:solidFill>
          <a:ln cap="flat" cmpd="sng" w="9525">
            <a:solidFill>
              <a:srgbClr val="000000"/>
            </a:solidFill>
            <a:prstDash val="dot"/>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150">
                <a:solidFill>
                  <a:schemeClr val="dk1"/>
                </a:solidFill>
                <a:highlight>
                  <a:srgbClr val="FFFFFF"/>
                </a:highlight>
                <a:latin typeface="Courier New"/>
                <a:ea typeface="Courier New"/>
                <a:cs typeface="Courier New"/>
                <a:sym typeface="Courier New"/>
              </a:rPr>
              <a:t>  </a:t>
            </a:r>
            <a:r>
              <a:rPr b="1" lang="en" sz="1150">
                <a:solidFill>
                  <a:srgbClr val="008000"/>
                </a:solidFill>
                <a:highlight>
                  <a:srgbClr val="FFFFFF"/>
                </a:highlight>
                <a:latin typeface="Courier New"/>
                <a:ea typeface="Courier New"/>
                <a:cs typeface="Courier New"/>
                <a:sym typeface="Courier New"/>
              </a:rPr>
              <a:t>/*ptr2 is the next struct, since there is no next, it is invalid*/</a:t>
            </a:r>
            <a:endParaRPr b="1" sz="1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5"/>
          <p:cNvSpPr txBox="1"/>
          <p:nvPr>
            <p:ph type="title"/>
          </p:nvPr>
        </p:nvSpPr>
        <p:spPr>
          <a:xfrm>
            <a:off x="185825" y="102725"/>
            <a:ext cx="2649900" cy="54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 memory model</a:t>
            </a:r>
            <a:endParaRPr/>
          </a:p>
        </p:txBody>
      </p:sp>
      <p:sp>
        <p:nvSpPr>
          <p:cNvPr id="283" name="Google Shape;283;p45"/>
          <p:cNvSpPr txBox="1"/>
          <p:nvPr>
            <p:ph idx="2" type="body"/>
          </p:nvPr>
        </p:nvSpPr>
        <p:spPr>
          <a:xfrm>
            <a:off x="54400" y="830750"/>
            <a:ext cx="5269200" cy="3967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450">
                <a:solidFill>
                  <a:srgbClr val="808080"/>
                </a:solidFill>
                <a:highlight>
                  <a:srgbClr val="FFFFFF"/>
                </a:highlight>
              </a:rPr>
              <a:t>#include</a:t>
            </a:r>
            <a:r>
              <a:rPr b="1" lang="en" sz="1450">
                <a:solidFill>
                  <a:schemeClr val="dk1"/>
                </a:solidFill>
                <a:highlight>
                  <a:srgbClr val="FFFFFF"/>
                </a:highlight>
              </a:rPr>
              <a:t> </a:t>
            </a:r>
            <a:r>
              <a:rPr b="1" lang="en" sz="1450">
                <a:solidFill>
                  <a:srgbClr val="E21F1F"/>
                </a:solidFill>
                <a:highlight>
                  <a:srgbClr val="FFFFFF"/>
                </a:highlight>
              </a:rPr>
              <a:t>&lt;</a:t>
            </a:r>
            <a:r>
              <a:rPr b="1" lang="en" sz="1450">
                <a:solidFill>
                  <a:srgbClr val="A31515"/>
                </a:solidFill>
                <a:highlight>
                  <a:srgbClr val="FFFFFF"/>
                </a:highlight>
              </a:rPr>
              <a:t>stdio.h</a:t>
            </a:r>
            <a:r>
              <a:rPr b="1" lang="en" sz="1450">
                <a:solidFill>
                  <a:srgbClr val="E21F1F"/>
                </a:solidFill>
                <a:highlight>
                  <a:srgbClr val="FFFFFF"/>
                </a:highlight>
              </a:rPr>
              <a:t>&gt;</a:t>
            </a:r>
            <a:endParaRPr b="1" sz="14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rgbClr val="0000FF"/>
                </a:solidFill>
                <a:highlight>
                  <a:srgbClr val="FFFFFF"/>
                </a:highlight>
              </a:rPr>
              <a:t>typedef</a:t>
            </a:r>
            <a:r>
              <a:rPr b="1" lang="en" sz="1450">
                <a:solidFill>
                  <a:schemeClr val="dk1"/>
                </a:solidFill>
                <a:highlight>
                  <a:srgbClr val="FFFFFF"/>
                </a:highlight>
              </a:rPr>
              <a:t> </a:t>
            </a:r>
            <a:r>
              <a:rPr b="1" lang="en" sz="1450">
                <a:solidFill>
                  <a:srgbClr val="0000FF"/>
                </a:solidFill>
                <a:highlight>
                  <a:srgbClr val="FFFFFF"/>
                </a:highlight>
              </a:rPr>
              <a:t>struct</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0000FF"/>
                </a:solidFill>
                <a:highlight>
                  <a:srgbClr val="FFFFFF"/>
                </a:highlight>
              </a:rPr>
              <a:t>int</a:t>
            </a:r>
            <a:r>
              <a:rPr b="1" lang="en" sz="1450">
                <a:solidFill>
                  <a:schemeClr val="dk1"/>
                </a:solidFill>
                <a:highlight>
                  <a:srgbClr val="FFFFFF"/>
                </a:highlight>
              </a:rPr>
              <a:t> a1;</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0000FF"/>
                </a:solidFill>
                <a:highlight>
                  <a:srgbClr val="FFFFFF"/>
                </a:highlight>
              </a:rPr>
              <a:t>int</a:t>
            </a:r>
            <a:r>
              <a:rPr b="1" lang="en" sz="1450">
                <a:solidFill>
                  <a:schemeClr val="dk1"/>
                </a:solidFill>
                <a:highlight>
                  <a:srgbClr val="FFFFFF"/>
                </a:highlight>
              </a:rPr>
              <a:t> a2;</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2B91AF"/>
                </a:solidFill>
                <a:highlight>
                  <a:srgbClr val="FFFFFF"/>
                </a:highlight>
              </a:rPr>
              <a:t>pair</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rgbClr val="0000FF"/>
                </a:solidFill>
                <a:highlight>
                  <a:srgbClr val="FFFFFF"/>
                </a:highlight>
              </a:rPr>
              <a:t>int</a:t>
            </a:r>
            <a:r>
              <a:rPr b="1" lang="en" sz="1450">
                <a:solidFill>
                  <a:schemeClr val="dk1"/>
                </a:solidFill>
                <a:highlight>
                  <a:srgbClr val="FFFFFF"/>
                </a:highlight>
              </a:rPr>
              <a:t> </a:t>
            </a:r>
            <a:r>
              <a:rPr b="1" lang="en" sz="1450">
                <a:solidFill>
                  <a:srgbClr val="74531F"/>
                </a:solidFill>
                <a:highlight>
                  <a:srgbClr val="FFFFFF"/>
                </a:highlight>
              </a:rPr>
              <a:t>main</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2B91AF"/>
                </a:solidFill>
                <a:highlight>
                  <a:srgbClr val="FFFFFF"/>
                </a:highlight>
              </a:rPr>
              <a:t>pair</a:t>
            </a:r>
            <a:r>
              <a:rPr b="1" lang="en" sz="1450">
                <a:solidFill>
                  <a:schemeClr val="dk1"/>
                </a:solidFill>
                <a:highlight>
                  <a:srgbClr val="FFFFFF"/>
                </a:highlight>
              </a:rPr>
              <a:t> </a:t>
            </a:r>
            <a:r>
              <a:rPr b="1" lang="en" sz="1450">
                <a:solidFill>
                  <a:srgbClr val="1F377F"/>
                </a:solidFill>
                <a:highlight>
                  <a:srgbClr val="FFFFFF"/>
                </a:highlight>
              </a:rPr>
              <a:t>obj</a:t>
            </a:r>
            <a:r>
              <a:rPr b="1" lang="en" sz="1450">
                <a:solidFill>
                  <a:schemeClr val="dk1"/>
                </a:solidFill>
                <a:highlight>
                  <a:srgbClr val="FFFFFF"/>
                </a:highlight>
              </a:rPr>
              <a:t> = {</a:t>
            </a:r>
            <a:r>
              <a:rPr b="1" lang="en" sz="1450">
                <a:solidFill>
                  <a:srgbClr val="098658"/>
                </a:solidFill>
                <a:highlight>
                  <a:srgbClr val="FFFFFF"/>
                </a:highlight>
              </a:rPr>
              <a:t>10</a:t>
            </a:r>
            <a:r>
              <a:rPr b="1" lang="en" sz="1450">
                <a:solidFill>
                  <a:schemeClr val="dk1"/>
                </a:solidFill>
                <a:highlight>
                  <a:srgbClr val="FFFFFF"/>
                </a:highlight>
              </a:rPr>
              <a:t>, </a:t>
            </a:r>
            <a:r>
              <a:rPr b="1" lang="en" sz="1450">
                <a:solidFill>
                  <a:srgbClr val="098658"/>
                </a:solidFill>
                <a:highlight>
                  <a:srgbClr val="FFFFFF"/>
                </a:highlight>
              </a:rPr>
              <a:t>15</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0000FF"/>
                </a:solidFill>
                <a:highlight>
                  <a:srgbClr val="FFFFFF"/>
                </a:highlight>
              </a:rPr>
              <a:t>int</a:t>
            </a:r>
            <a:r>
              <a:rPr b="1" lang="en" sz="1450">
                <a:solidFill>
                  <a:schemeClr val="dk1"/>
                </a:solidFill>
                <a:highlight>
                  <a:srgbClr val="FFFFFF"/>
                </a:highlight>
              </a:rPr>
              <a:t> *</a:t>
            </a:r>
            <a:r>
              <a:rPr b="1" lang="en" sz="1450">
                <a:solidFill>
                  <a:srgbClr val="1F377F"/>
                </a:solidFill>
                <a:highlight>
                  <a:srgbClr val="FFFFFF"/>
                </a:highlight>
              </a:rPr>
              <a:t>ptr</a:t>
            </a:r>
            <a:r>
              <a:rPr b="1" lang="en" sz="1450">
                <a:solidFill>
                  <a:schemeClr val="dk1"/>
                </a:solidFill>
                <a:highlight>
                  <a:srgbClr val="FFFFFF"/>
                </a:highlight>
              </a:rPr>
              <a:t> = (</a:t>
            </a:r>
            <a:r>
              <a:rPr b="1" lang="en" sz="1450">
                <a:solidFill>
                  <a:srgbClr val="0000FF"/>
                </a:solidFill>
                <a:highlight>
                  <a:srgbClr val="FFFFFF"/>
                </a:highlight>
              </a:rPr>
              <a:t>int</a:t>
            </a:r>
            <a:r>
              <a:rPr b="1" lang="en" sz="1450">
                <a:solidFill>
                  <a:schemeClr val="dk1"/>
                </a:solidFill>
                <a:highlight>
                  <a:srgbClr val="FFFFFF"/>
                </a:highlight>
              </a:rPr>
              <a:t>*)&amp;</a:t>
            </a:r>
            <a:r>
              <a:rPr b="1" lang="en" sz="1450">
                <a:solidFill>
                  <a:srgbClr val="1F377F"/>
                </a:solidFill>
                <a:highlight>
                  <a:srgbClr val="FFFFFF"/>
                </a:highlight>
              </a:rPr>
              <a:t>obj</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74531F"/>
                </a:solidFill>
                <a:highlight>
                  <a:srgbClr val="FFFFFF"/>
                </a:highlight>
              </a:rPr>
              <a:t>printf</a:t>
            </a:r>
            <a:r>
              <a:rPr b="1" lang="en" sz="1450">
                <a:solidFill>
                  <a:schemeClr val="dk1"/>
                </a:solidFill>
                <a:highlight>
                  <a:srgbClr val="FFFFFF"/>
                </a:highlight>
              </a:rPr>
              <a:t>(</a:t>
            </a:r>
            <a:r>
              <a:rPr b="1" lang="en" sz="1450">
                <a:solidFill>
                  <a:srgbClr val="E21F1F"/>
                </a:solidFill>
                <a:highlight>
                  <a:srgbClr val="FFFFFF"/>
                </a:highlight>
              </a:rPr>
              <a:t>"</a:t>
            </a:r>
            <a:r>
              <a:rPr b="1" lang="en" sz="1450">
                <a:solidFill>
                  <a:srgbClr val="A31515"/>
                </a:solidFill>
                <a:highlight>
                  <a:srgbClr val="FFFFFF"/>
                </a:highlight>
              </a:rPr>
              <a:t>a1: </a:t>
            </a:r>
            <a:r>
              <a:rPr b="1" lang="en" sz="1450">
                <a:solidFill>
                  <a:srgbClr val="1F377F"/>
                </a:solidFill>
                <a:highlight>
                  <a:srgbClr val="FFFFFF"/>
                </a:highlight>
              </a:rPr>
              <a:t>%d</a:t>
            </a:r>
            <a:r>
              <a:rPr b="1" lang="en" sz="1450">
                <a:solidFill>
                  <a:srgbClr val="A31515"/>
                </a:solidFill>
                <a:highlight>
                  <a:srgbClr val="FFFFFF"/>
                </a:highlight>
              </a:rPr>
              <a:t>, a2: </a:t>
            </a:r>
            <a:r>
              <a:rPr b="1" lang="en" sz="1450">
                <a:solidFill>
                  <a:srgbClr val="1F377F"/>
                </a:solidFill>
                <a:highlight>
                  <a:srgbClr val="FFFFFF"/>
                </a:highlight>
              </a:rPr>
              <a:t>%d</a:t>
            </a:r>
            <a:r>
              <a:rPr b="1" lang="en" sz="1450">
                <a:solidFill>
                  <a:srgbClr val="B776FB"/>
                </a:solidFill>
                <a:highlight>
                  <a:srgbClr val="FFFFFF"/>
                </a:highlight>
              </a:rPr>
              <a:t>\n</a:t>
            </a:r>
            <a:r>
              <a:rPr b="1" lang="en" sz="1450">
                <a:solidFill>
                  <a:srgbClr val="E21F1F"/>
                </a:solidFill>
                <a:highlight>
                  <a:srgbClr val="FFFFFF"/>
                </a:highlight>
              </a:rPr>
              <a:t>"</a:t>
            </a:r>
            <a:r>
              <a:rPr b="1" lang="en" sz="1450">
                <a:solidFill>
                  <a:schemeClr val="dk1"/>
                </a:solidFill>
                <a:highlight>
                  <a:srgbClr val="FFFFFF"/>
                </a:highlight>
              </a:rPr>
              <a:t>, *</a:t>
            </a:r>
            <a:r>
              <a:rPr b="1" lang="en" sz="1450">
                <a:solidFill>
                  <a:srgbClr val="1F377F"/>
                </a:solidFill>
                <a:highlight>
                  <a:srgbClr val="FFFFFF"/>
                </a:highlight>
              </a:rPr>
              <a:t>ptr</a:t>
            </a:r>
            <a:r>
              <a:rPr b="1" lang="en" sz="1450">
                <a:solidFill>
                  <a:schemeClr val="dk1"/>
                </a:solidFill>
                <a:highlight>
                  <a:srgbClr val="FFFFFF"/>
                </a:highlight>
              </a:rPr>
              <a:t>, *(</a:t>
            </a:r>
            <a:r>
              <a:rPr b="1" lang="en" sz="1450">
                <a:solidFill>
                  <a:srgbClr val="1F377F"/>
                </a:solidFill>
                <a:highlight>
                  <a:srgbClr val="FFFFFF"/>
                </a:highlight>
              </a:rPr>
              <a:t>ptr</a:t>
            </a:r>
            <a:r>
              <a:rPr b="1" lang="en" sz="1450">
                <a:solidFill>
                  <a:schemeClr val="dk1"/>
                </a:solidFill>
                <a:highlight>
                  <a:srgbClr val="FFFFFF"/>
                </a:highlight>
              </a:rPr>
              <a:t>+</a:t>
            </a:r>
            <a:r>
              <a:rPr b="1" lang="en" sz="1450">
                <a:solidFill>
                  <a:srgbClr val="098658"/>
                </a:solidFill>
                <a:highlight>
                  <a:srgbClr val="FFFFFF"/>
                </a:highlight>
              </a:rPr>
              <a:t>1</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8F08C4"/>
                </a:solidFill>
                <a:highlight>
                  <a:srgbClr val="FFFFFF"/>
                </a:highlight>
              </a:rPr>
              <a:t>return</a:t>
            </a:r>
            <a:r>
              <a:rPr b="1" lang="en" sz="1450">
                <a:solidFill>
                  <a:schemeClr val="dk1"/>
                </a:solidFill>
                <a:highlight>
                  <a:srgbClr val="FFFFFF"/>
                </a:highlight>
              </a:rPr>
              <a:t> </a:t>
            </a:r>
            <a:r>
              <a:rPr b="1" lang="en" sz="1450">
                <a:solidFill>
                  <a:srgbClr val="098658"/>
                </a:solidFill>
                <a:highlight>
                  <a:srgbClr val="FFFFFF"/>
                </a:highlight>
              </a:rPr>
              <a:t>0</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a:t>
            </a:r>
            <a:endParaRPr b="1" sz="1450">
              <a:solidFill>
                <a:schemeClr val="dk1"/>
              </a:solidFill>
              <a:highlight>
                <a:srgbClr val="FFFFFF"/>
              </a:highlight>
            </a:endParaRPr>
          </a:p>
          <a:p>
            <a:pPr indent="0" lvl="0" marL="0" rtl="0" algn="l">
              <a:spcBef>
                <a:spcPts val="0"/>
              </a:spcBef>
              <a:spcAft>
                <a:spcPts val="0"/>
              </a:spcAft>
              <a:buNone/>
            </a:pPr>
            <a:r>
              <a:t/>
            </a:r>
            <a:endParaRPr b="1" sz="1600"/>
          </a:p>
        </p:txBody>
      </p:sp>
      <p:sp>
        <p:nvSpPr>
          <p:cNvPr id="284" name="Google Shape;284;p45"/>
          <p:cNvSpPr txBox="1"/>
          <p:nvPr/>
        </p:nvSpPr>
        <p:spPr>
          <a:xfrm>
            <a:off x="7797075" y="2171550"/>
            <a:ext cx="76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obj:</a:t>
            </a:r>
            <a:endParaRPr/>
          </a:p>
        </p:txBody>
      </p:sp>
      <p:cxnSp>
        <p:nvCxnSpPr>
          <p:cNvPr id="285" name="Google Shape;285;p45"/>
          <p:cNvCxnSpPr>
            <a:stCxn id="286" idx="3"/>
            <a:endCxn id="284" idx="2"/>
          </p:cNvCxnSpPr>
          <p:nvPr/>
        </p:nvCxnSpPr>
        <p:spPr>
          <a:xfrm>
            <a:off x="6109875" y="2076725"/>
            <a:ext cx="2068500" cy="495000"/>
          </a:xfrm>
          <a:prstGeom prst="straightConnector1">
            <a:avLst/>
          </a:prstGeom>
          <a:noFill/>
          <a:ln cap="flat" cmpd="sng" w="9525">
            <a:solidFill>
              <a:schemeClr val="dk2"/>
            </a:solidFill>
            <a:prstDash val="solid"/>
            <a:round/>
            <a:headEnd len="med" w="med" type="none"/>
            <a:tailEnd len="med" w="med" type="triangle"/>
          </a:ln>
        </p:spPr>
      </p:cxnSp>
      <p:sp>
        <p:nvSpPr>
          <p:cNvPr id="287" name="Google Shape;287;p45"/>
          <p:cNvSpPr txBox="1"/>
          <p:nvPr/>
        </p:nvSpPr>
        <p:spPr>
          <a:xfrm>
            <a:off x="5210725" y="1511650"/>
            <a:ext cx="64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ptr:</a:t>
            </a:r>
            <a:endParaRPr/>
          </a:p>
        </p:txBody>
      </p:sp>
      <p:sp>
        <p:nvSpPr>
          <p:cNvPr id="286" name="Google Shape;286;p45"/>
          <p:cNvSpPr/>
          <p:nvPr/>
        </p:nvSpPr>
        <p:spPr>
          <a:xfrm>
            <a:off x="5554575" y="1876625"/>
            <a:ext cx="555300" cy="40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&amp;obj</a:t>
            </a:r>
            <a:endParaRPr/>
          </a:p>
        </p:txBody>
      </p:sp>
      <p:sp>
        <p:nvSpPr>
          <p:cNvPr id="288" name="Google Shape;288;p45"/>
          <p:cNvSpPr/>
          <p:nvPr/>
        </p:nvSpPr>
        <p:spPr>
          <a:xfrm>
            <a:off x="8142900" y="2571750"/>
            <a:ext cx="555300" cy="40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10</a:t>
            </a:r>
            <a:endParaRPr/>
          </a:p>
        </p:txBody>
      </p:sp>
      <p:sp>
        <p:nvSpPr>
          <p:cNvPr id="289" name="Google Shape;289;p45"/>
          <p:cNvSpPr/>
          <p:nvPr/>
        </p:nvSpPr>
        <p:spPr>
          <a:xfrm>
            <a:off x="8142900" y="2952750"/>
            <a:ext cx="555300" cy="40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15</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6"/>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 memory model</a:t>
            </a:r>
            <a:endParaRPr/>
          </a:p>
        </p:txBody>
      </p:sp>
      <p:sp>
        <p:nvSpPr>
          <p:cNvPr id="295" name="Google Shape;295;p46"/>
          <p:cNvSpPr txBox="1"/>
          <p:nvPr>
            <p:ph idx="1" type="body"/>
          </p:nvPr>
        </p:nvSpPr>
        <p:spPr>
          <a:xfrm>
            <a:off x="3940025" y="1164525"/>
            <a:ext cx="5040000" cy="356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Offset of a variable is the starting address of the variable’s memory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memory we expect</a:t>
            </a:r>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 sz="1250">
                <a:solidFill>
                  <a:schemeClr val="dk1"/>
                </a:solidFill>
                <a:highlight>
                  <a:srgbClr val="FFFFFF"/>
                </a:highlight>
                <a:latin typeface="Consolas"/>
                <a:ea typeface="Consolas"/>
                <a:cs typeface="Consolas"/>
                <a:sym typeface="Consolas"/>
              </a:rPr>
              <a:t>&amp;bhuvan 				</a:t>
            </a:r>
            <a:r>
              <a:rPr lang="en" sz="1250">
                <a:solidFill>
                  <a:srgbClr val="008000"/>
                </a:solidFill>
                <a:highlight>
                  <a:srgbClr val="FFFFFF"/>
                </a:highlight>
                <a:latin typeface="Consolas"/>
                <a:ea typeface="Consolas"/>
                <a:cs typeface="Consolas"/>
                <a:sym typeface="Consolas"/>
              </a:rPr>
              <a:t>// 0x100</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 sz="1250">
                <a:solidFill>
                  <a:schemeClr val="dk1"/>
                </a:solidFill>
                <a:highlight>
                  <a:srgbClr val="FFFFFF"/>
                </a:highlight>
                <a:latin typeface="Consolas"/>
                <a:ea typeface="Consolas"/>
                <a:cs typeface="Consolas"/>
                <a:sym typeface="Consolas"/>
              </a:rPr>
              <a:t>&amp;bhuvan.</a:t>
            </a:r>
            <a:r>
              <a:rPr b="1" lang="en" sz="1250">
                <a:solidFill>
                  <a:schemeClr val="dk1"/>
                </a:solidFill>
                <a:highlight>
                  <a:srgbClr val="FFFFFF"/>
                </a:highlight>
                <a:latin typeface="Consolas"/>
                <a:ea typeface="Consolas"/>
                <a:cs typeface="Consolas"/>
                <a:sym typeface="Consolas"/>
              </a:rPr>
              <a:t>firstname</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0x100 = 0x100+0x00</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 sz="1250">
                <a:solidFill>
                  <a:schemeClr val="dk1"/>
                </a:solidFill>
                <a:highlight>
                  <a:srgbClr val="FFFFFF"/>
                </a:highlight>
                <a:latin typeface="Consolas"/>
                <a:ea typeface="Consolas"/>
                <a:cs typeface="Consolas"/>
                <a:sym typeface="Consolas"/>
              </a:rPr>
              <a:t>&amp;bhuvan.</a:t>
            </a:r>
            <a:r>
              <a:rPr b="1" lang="en" sz="1250">
                <a:solidFill>
                  <a:schemeClr val="dk1"/>
                </a:solidFill>
                <a:highlight>
                  <a:srgbClr val="FFFFFF"/>
                </a:highlight>
                <a:latin typeface="Consolas"/>
                <a:ea typeface="Consolas"/>
                <a:cs typeface="Consolas"/>
                <a:sym typeface="Consolas"/>
              </a:rPr>
              <a:t>lastname</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0x114 = 0x100+0x14</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 sz="1250">
                <a:solidFill>
                  <a:schemeClr val="dk1"/>
                </a:solidFill>
                <a:highlight>
                  <a:srgbClr val="FFFFFF"/>
                </a:highlight>
                <a:latin typeface="Consolas"/>
                <a:ea typeface="Consolas"/>
                <a:cs typeface="Consolas"/>
                <a:sym typeface="Consolas"/>
              </a:rPr>
              <a:t>&amp;bhuvan.</a:t>
            </a:r>
            <a:r>
              <a:rPr b="1" lang="en" sz="1250">
                <a:solidFill>
                  <a:schemeClr val="dk1"/>
                </a:solidFill>
                <a:highlight>
                  <a:srgbClr val="FFFFFF"/>
                </a:highlight>
                <a:latin typeface="Consolas"/>
                <a:ea typeface="Consolas"/>
                <a:cs typeface="Consolas"/>
                <a:sym typeface="Consolas"/>
              </a:rPr>
              <a:t>phone</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0x128 = 0x100+0x28</a:t>
            </a:r>
            <a:endParaRPr sz="1250">
              <a:solidFill>
                <a:srgbClr val="008000"/>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96" name="Google Shape;296;p46"/>
          <p:cNvSpPr txBox="1"/>
          <p:nvPr>
            <p:ph idx="2" type="body"/>
          </p:nvPr>
        </p:nvSpPr>
        <p:spPr>
          <a:xfrm>
            <a:off x="227850" y="904350"/>
            <a:ext cx="3458400" cy="3915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stdio.h</a:t>
            </a:r>
            <a:r>
              <a:rPr b="1" lang="en" sz="1250">
                <a:solidFill>
                  <a:srgbClr val="E21F1F"/>
                </a:solidFill>
                <a:highlight>
                  <a:srgbClr val="FFFFFF"/>
                </a:highlight>
              </a:rPr>
              <a:t>&gt;</a:t>
            </a:r>
            <a:endParaRPr b="1" sz="1250">
              <a:solidFill>
                <a:srgbClr val="0000F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int</a:t>
            </a:r>
            <a:r>
              <a:rPr b="1" lang="en" sz="1250">
                <a:solidFill>
                  <a:schemeClr val="dk1"/>
                </a:solidFill>
                <a:highlight>
                  <a:srgbClr val="FFFFFF"/>
                </a:highlight>
              </a:rPr>
              <a:t> </a:t>
            </a:r>
            <a:r>
              <a:rPr b="1" lang="en" sz="1250">
                <a:solidFill>
                  <a:srgbClr val="74531F"/>
                </a:solidFill>
                <a:highlight>
                  <a:srgbClr val="FFFFFF"/>
                </a:highlight>
              </a:rPr>
              <a:t>main</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contact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firstname[</a:t>
            </a:r>
            <a:r>
              <a:rPr b="1" lang="en" sz="1250">
                <a:solidFill>
                  <a:srgbClr val="098658"/>
                </a:solidFill>
                <a:highlight>
                  <a:srgbClr val="FFFFFF"/>
                </a:highlight>
              </a:rPr>
              <a:t>20</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lastname[</a:t>
            </a:r>
            <a:r>
              <a:rPr b="1" lang="en" sz="1250">
                <a:solidFill>
                  <a:srgbClr val="098658"/>
                </a:solidFill>
                <a:highlight>
                  <a:srgbClr val="FFFFFF"/>
                </a:highlight>
              </a:rPr>
              <a:t>20</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unsigned</a:t>
            </a: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phone;</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contact</a:t>
            </a:r>
            <a:r>
              <a:rPr b="1" lang="en" sz="1250">
                <a:solidFill>
                  <a:schemeClr val="dk1"/>
                </a:solidFill>
                <a:highlight>
                  <a:srgbClr val="FFFFFF"/>
                </a:highlight>
              </a:rPr>
              <a:t> </a:t>
            </a:r>
            <a:r>
              <a:rPr b="1" lang="en" sz="1250">
                <a:solidFill>
                  <a:srgbClr val="1F377F"/>
                </a:solidFill>
                <a:highlight>
                  <a:srgbClr val="FFFFFF"/>
                </a:highlight>
              </a:rPr>
              <a:t>bhuvan</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printf</a:t>
            </a:r>
            <a:r>
              <a:rPr b="1" lang="en" sz="1250">
                <a:solidFill>
                  <a:schemeClr val="dk1"/>
                </a:solidFill>
                <a:highlight>
                  <a:srgbClr val="FFFFFF"/>
                </a:highlight>
              </a:rPr>
              <a:t>(</a:t>
            </a:r>
            <a:r>
              <a:rPr b="1" lang="en" sz="1250">
                <a:solidFill>
                  <a:srgbClr val="E21F1F"/>
                </a:solidFill>
                <a:highlight>
                  <a:srgbClr val="FFFFFF"/>
                </a:highlight>
              </a:rPr>
              <a:t>"</a:t>
            </a:r>
            <a:r>
              <a:rPr b="1" lang="en" sz="1250">
                <a:solidFill>
                  <a:srgbClr val="A31515"/>
                </a:solidFill>
                <a:highlight>
                  <a:srgbClr val="FFFFFF"/>
                </a:highlight>
              </a:rPr>
              <a:t> </a:t>
            </a:r>
            <a:r>
              <a:rPr b="1" lang="en" sz="1250">
                <a:solidFill>
                  <a:srgbClr val="1F377F"/>
                </a:solidFill>
                <a:highlight>
                  <a:srgbClr val="FFFFFF"/>
                </a:highlight>
              </a:rPr>
              <a:t>%p</a:t>
            </a:r>
            <a:r>
              <a:rPr b="1" lang="en" sz="1250">
                <a:solidFill>
                  <a:srgbClr val="B776FB"/>
                </a:solidFill>
                <a:highlight>
                  <a:srgbClr val="FFFFFF"/>
                </a:highlight>
              </a:rPr>
              <a:t>\n</a:t>
            </a:r>
            <a:r>
              <a:rPr b="1" lang="en" sz="1250">
                <a:solidFill>
                  <a:srgbClr val="A31515"/>
                </a:solidFill>
                <a:highlight>
                  <a:srgbClr val="FFFFFF"/>
                </a:highlight>
              </a:rPr>
              <a:t> </a:t>
            </a:r>
            <a:r>
              <a:rPr b="1" lang="en" sz="1250">
                <a:solidFill>
                  <a:srgbClr val="1F377F"/>
                </a:solidFill>
                <a:highlight>
                  <a:srgbClr val="FFFFFF"/>
                </a:highlight>
              </a:rPr>
              <a:t>%p</a:t>
            </a:r>
            <a:r>
              <a:rPr b="1" lang="en" sz="1250">
                <a:solidFill>
                  <a:srgbClr val="B776FB"/>
                </a:solidFill>
                <a:highlight>
                  <a:srgbClr val="FFFFFF"/>
                </a:highlight>
              </a:rPr>
              <a:t>\n</a:t>
            </a:r>
            <a:r>
              <a:rPr b="1" lang="en" sz="1250">
                <a:solidFill>
                  <a:srgbClr val="A31515"/>
                </a:solidFill>
                <a:highlight>
                  <a:srgbClr val="FFFFFF"/>
                </a:highlight>
              </a:rPr>
              <a:t> </a:t>
            </a:r>
            <a:r>
              <a:rPr b="1" lang="en" sz="1250">
                <a:solidFill>
                  <a:srgbClr val="1F377F"/>
                </a:solidFill>
                <a:highlight>
                  <a:srgbClr val="FFFFFF"/>
                </a:highlight>
              </a:rPr>
              <a:t>%p</a:t>
            </a:r>
            <a:r>
              <a:rPr b="1" lang="en" sz="1250">
                <a:solidFill>
                  <a:srgbClr val="B776FB"/>
                </a:solidFill>
                <a:highlight>
                  <a:srgbClr val="FFFFFF"/>
                </a:highlight>
              </a:rPr>
              <a:t>\n</a:t>
            </a:r>
            <a:r>
              <a:rPr b="1" lang="en" sz="1250">
                <a:solidFill>
                  <a:srgbClr val="A31515"/>
                </a:solidFill>
                <a:highlight>
                  <a:srgbClr val="FFFFFF"/>
                </a:highlight>
              </a:rPr>
              <a:t> </a:t>
            </a:r>
            <a:r>
              <a:rPr b="1" lang="en" sz="1250">
                <a:solidFill>
                  <a:srgbClr val="1F377F"/>
                </a:solidFill>
                <a:highlight>
                  <a:srgbClr val="FFFFFF"/>
                </a:highlight>
              </a:rPr>
              <a:t>%p</a:t>
            </a:r>
            <a:r>
              <a:rPr b="1" lang="en" sz="1250">
                <a:solidFill>
                  <a:srgbClr val="B776FB"/>
                </a:solidFill>
                <a:highlight>
                  <a:srgbClr val="FFFFFF"/>
                </a:highlight>
              </a:rPr>
              <a:t>\n</a:t>
            </a:r>
            <a:r>
              <a:rPr b="1" lang="en" sz="1250">
                <a:solidFill>
                  <a:srgbClr val="E21F1F"/>
                </a:solidFill>
                <a:highlight>
                  <a:srgbClr val="FFFFFF"/>
                </a:highlight>
              </a:rPr>
              <a: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&amp;</a:t>
            </a:r>
            <a:r>
              <a:rPr b="1" lang="en" sz="1250">
                <a:solidFill>
                  <a:srgbClr val="1F377F"/>
                </a:solidFill>
                <a:highlight>
                  <a:srgbClr val="FFFFFF"/>
                </a:highlight>
              </a:rPr>
              <a:t>bhuvan</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&amp;</a:t>
            </a:r>
            <a:r>
              <a:rPr b="1" lang="en" sz="1250">
                <a:solidFill>
                  <a:srgbClr val="1F377F"/>
                </a:solidFill>
                <a:highlight>
                  <a:srgbClr val="FFFFFF"/>
                </a:highlight>
              </a:rPr>
              <a:t>bhuvan</a:t>
            </a:r>
            <a:r>
              <a:rPr b="1" lang="en" sz="1250">
                <a:solidFill>
                  <a:schemeClr val="dk1"/>
                </a:solidFill>
                <a:highlight>
                  <a:srgbClr val="FFFFFF"/>
                </a:highlight>
              </a:rPr>
              <a:t>.firstname,</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&amp;</a:t>
            </a:r>
            <a:r>
              <a:rPr b="1" lang="en" sz="1250">
                <a:solidFill>
                  <a:srgbClr val="1F377F"/>
                </a:solidFill>
                <a:highlight>
                  <a:srgbClr val="FFFFFF"/>
                </a:highlight>
              </a:rPr>
              <a:t>bhuvan</a:t>
            </a:r>
            <a:r>
              <a:rPr b="1" lang="en" sz="1250">
                <a:solidFill>
                  <a:schemeClr val="dk1"/>
                </a:solidFill>
                <a:highlight>
                  <a:srgbClr val="FFFFFF"/>
                </a:highlight>
              </a:rPr>
              <a:t>.lastname,</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&amp;</a:t>
            </a:r>
            <a:r>
              <a:rPr b="1" lang="en" sz="1250">
                <a:solidFill>
                  <a:srgbClr val="1F377F"/>
                </a:solidFill>
                <a:highlight>
                  <a:srgbClr val="FFFFFF"/>
                </a:highlight>
              </a:rPr>
              <a:t>bhuvan</a:t>
            </a:r>
            <a:r>
              <a:rPr b="1" lang="en" sz="1250">
                <a:solidFill>
                  <a:schemeClr val="dk1"/>
                </a:solidFill>
                <a:highlight>
                  <a:srgbClr val="FFFFFF"/>
                </a:highlight>
              </a:rPr>
              <a:t>.phone);</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rgbClr val="0000FF"/>
              </a:solidFill>
              <a:highlight>
                <a:srgbClr val="FFFFFF"/>
              </a:highlight>
            </a:endParaRPr>
          </a:p>
          <a:p>
            <a:pPr indent="0" lvl="0" marL="0" rtl="0" algn="l">
              <a:spcBef>
                <a:spcPts val="0"/>
              </a:spcBef>
              <a:spcAft>
                <a:spcPts val="0"/>
              </a:spcAft>
              <a:buClr>
                <a:schemeClr val="dk1"/>
              </a:buClr>
              <a:buSzPts val="1100"/>
              <a:buFont typeface="Arial"/>
              <a:buNone/>
            </a:pPr>
            <a:r>
              <a:t/>
            </a:r>
            <a:endParaRPr b="1" sz="1400"/>
          </a:p>
          <a:p>
            <a:pPr indent="0" lvl="0" marL="0" rtl="0" algn="l">
              <a:spcBef>
                <a:spcPts val="0"/>
              </a:spcBef>
              <a:spcAft>
                <a:spcPts val="0"/>
              </a:spcAft>
              <a:buNone/>
            </a:pPr>
            <a:r>
              <a:t/>
            </a:r>
            <a:endParaRPr b="1" sz="1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C memory model: Alignment requirements</a:t>
            </a:r>
            <a:endParaRPr/>
          </a:p>
        </p:txBody>
      </p:sp>
      <p:sp>
        <p:nvSpPr>
          <p:cNvPr id="302" name="Google Shape;302;p4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u="sng">
                <a:solidFill>
                  <a:schemeClr val="hlink"/>
                </a:solidFill>
                <a:hlinkClick r:id="rId3"/>
              </a:rPr>
              <a:t>The Lost Art of Structure Packing</a:t>
            </a:r>
            <a:r>
              <a:rPr lang="en" sz="1400">
                <a:solidFill>
                  <a:schemeClr val="dk1"/>
                </a:solidFill>
              </a:rPr>
              <a:t> </a:t>
            </a:r>
            <a:endParaRPr sz="1400">
              <a:solidFill>
                <a:schemeClr val="dk1"/>
              </a:solidFill>
            </a:endParaRPr>
          </a:p>
          <a:p>
            <a:pPr indent="0" lvl="0" marL="0" rtl="0" algn="l">
              <a:spcBef>
                <a:spcPts val="0"/>
              </a:spcBef>
              <a:spcAft>
                <a:spcPts val="1600"/>
              </a:spcAft>
              <a:buNone/>
            </a:pPr>
            <a:r>
              <a:t/>
            </a:r>
            <a:endParaRPr/>
          </a:p>
        </p:txBody>
      </p:sp>
      <p:sp>
        <p:nvSpPr>
          <p:cNvPr id="303" name="Google Shape;303;p4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 memory model: A</a:t>
            </a:r>
            <a:r>
              <a:rPr lang="en"/>
              <a:t>lignment requirements</a:t>
            </a:r>
            <a:endParaRPr/>
          </a:p>
        </p:txBody>
      </p:sp>
      <p:sp>
        <p:nvSpPr>
          <p:cNvPr id="309" name="Google Shape;309;p4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a:t>
            </a:r>
            <a:r>
              <a:rPr lang="en"/>
              <a:t>n modern processors, </a:t>
            </a:r>
            <a:endParaRPr/>
          </a:p>
          <a:p>
            <a:pPr indent="-317500" lvl="0" marL="457200" rtl="0" algn="l">
              <a:spcBef>
                <a:spcPts val="1600"/>
              </a:spcBef>
              <a:spcAft>
                <a:spcPts val="0"/>
              </a:spcAft>
              <a:buSzPts val="1400"/>
              <a:buChar char="●"/>
            </a:pPr>
            <a:r>
              <a:rPr lang="en"/>
              <a:t>basic data types </a:t>
            </a:r>
            <a:r>
              <a:rPr lang="en"/>
              <a:t>in memory is laid out in a way to make memory accesses faster.</a:t>
            </a:r>
            <a:endParaRPr/>
          </a:p>
          <a:p>
            <a:pPr indent="0" lvl="0" marL="457200" rtl="0" algn="l">
              <a:spcBef>
                <a:spcPts val="1600"/>
              </a:spcBef>
              <a:spcAft>
                <a:spcPts val="0"/>
              </a:spcAft>
              <a:buNone/>
            </a:pPr>
            <a:r>
              <a:t/>
            </a:r>
            <a:endParaRPr/>
          </a:p>
          <a:p>
            <a:pPr indent="-317500" lvl="0" marL="457200" rtl="0" algn="l">
              <a:spcBef>
                <a:spcPts val="1600"/>
              </a:spcBef>
              <a:spcAft>
                <a:spcPts val="0"/>
              </a:spcAft>
              <a:buSzPts val="1400"/>
              <a:buChar char="●"/>
            </a:pPr>
            <a:r>
              <a:rPr lang="en"/>
              <a:t>the basic C datatypes on a </a:t>
            </a:r>
            <a:r>
              <a:rPr b="1" lang="en"/>
              <a:t>vanilla ISA(instruction set architectures) </a:t>
            </a:r>
            <a:r>
              <a:rPr lang="en"/>
              <a:t>doesn’t normally start at arbitrary byte addresses in memory.</a:t>
            </a:r>
            <a:endParaRPr/>
          </a:p>
          <a:p>
            <a:pPr indent="-304800" lvl="1" marL="914400" rtl="0" algn="l">
              <a:spcBef>
                <a:spcPts val="0"/>
              </a:spcBef>
              <a:spcAft>
                <a:spcPts val="0"/>
              </a:spcAft>
              <a:buSzPts val="1200"/>
              <a:buChar char="○"/>
            </a:pPr>
            <a:r>
              <a:rPr lang="en"/>
              <a:t>These ISAs include Intel, ARM, and RISC-V</a:t>
            </a:r>
            <a:endParaRPr/>
          </a:p>
          <a:p>
            <a:pPr indent="0" lvl="0" marL="0" rtl="0" algn="l">
              <a:spcBef>
                <a:spcPts val="1600"/>
              </a:spcBef>
              <a:spcAft>
                <a:spcPts val="1600"/>
              </a:spcAft>
              <a:buNone/>
            </a:pPr>
            <a:r>
              <a:t/>
            </a:r>
            <a:endParaRPr/>
          </a:p>
        </p:txBody>
      </p:sp>
      <p:sp>
        <p:nvSpPr>
          <p:cNvPr id="310" name="Google Shape;310;p4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each type except char has an alignment requirement (</a:t>
            </a:r>
            <a:r>
              <a:rPr b="1" lang="en"/>
              <a:t>self-aligned)</a:t>
            </a:r>
            <a:r>
              <a:rPr lang="en"/>
              <a:t>;</a:t>
            </a:r>
            <a:endParaRPr/>
          </a:p>
          <a:p>
            <a:pPr indent="-317500" lvl="0" marL="457200" rtl="0" algn="l">
              <a:spcBef>
                <a:spcPts val="1600"/>
              </a:spcBef>
              <a:spcAft>
                <a:spcPts val="0"/>
              </a:spcAft>
              <a:buSzPts val="1400"/>
              <a:buChar char="●"/>
            </a:pPr>
            <a:r>
              <a:rPr b="1" lang="en"/>
              <a:t>chars</a:t>
            </a:r>
            <a:r>
              <a:rPr lang="en"/>
              <a:t> </a:t>
            </a:r>
            <a:endParaRPr/>
          </a:p>
          <a:p>
            <a:pPr indent="-304800" lvl="1" marL="914400" rtl="0" algn="l">
              <a:spcBef>
                <a:spcPts val="0"/>
              </a:spcBef>
              <a:spcAft>
                <a:spcPts val="0"/>
              </a:spcAft>
              <a:buSzPts val="1200"/>
              <a:buChar char="○"/>
            </a:pPr>
            <a:r>
              <a:rPr lang="en"/>
              <a:t>can start on any byte address, </a:t>
            </a:r>
            <a:endParaRPr/>
          </a:p>
          <a:p>
            <a:pPr indent="-317500" lvl="0" marL="457200" rtl="0" algn="l">
              <a:spcBef>
                <a:spcPts val="0"/>
              </a:spcBef>
              <a:spcAft>
                <a:spcPts val="0"/>
              </a:spcAft>
              <a:buSzPts val="1400"/>
              <a:buChar char="●"/>
            </a:pPr>
            <a:r>
              <a:rPr b="1" lang="en"/>
              <a:t>2-byte shorts</a:t>
            </a:r>
            <a:r>
              <a:rPr lang="en"/>
              <a:t> </a:t>
            </a:r>
            <a:endParaRPr/>
          </a:p>
          <a:p>
            <a:pPr indent="-304800" lvl="1" marL="914400" rtl="0" algn="l">
              <a:spcBef>
                <a:spcPts val="0"/>
              </a:spcBef>
              <a:spcAft>
                <a:spcPts val="0"/>
              </a:spcAft>
              <a:buSzPts val="1200"/>
              <a:buChar char="○"/>
            </a:pPr>
            <a:r>
              <a:rPr lang="en"/>
              <a:t>must start on an even address,</a:t>
            </a:r>
            <a:endParaRPr/>
          </a:p>
          <a:p>
            <a:pPr indent="-317500" lvl="0" marL="457200" rtl="0" algn="l">
              <a:spcBef>
                <a:spcPts val="0"/>
              </a:spcBef>
              <a:spcAft>
                <a:spcPts val="0"/>
              </a:spcAft>
              <a:buSzPts val="1400"/>
              <a:buChar char="●"/>
            </a:pPr>
            <a:r>
              <a:rPr b="1" lang="en"/>
              <a:t> 4-byte ints</a:t>
            </a:r>
            <a:r>
              <a:rPr lang="en"/>
              <a:t> or </a:t>
            </a:r>
            <a:r>
              <a:rPr b="1" lang="en"/>
              <a:t>floats</a:t>
            </a:r>
            <a:r>
              <a:rPr lang="en"/>
              <a:t> </a:t>
            </a:r>
            <a:endParaRPr/>
          </a:p>
          <a:p>
            <a:pPr indent="-304800" lvl="1" marL="914400" rtl="0" algn="l">
              <a:spcBef>
                <a:spcPts val="0"/>
              </a:spcBef>
              <a:spcAft>
                <a:spcPts val="0"/>
              </a:spcAft>
              <a:buSzPts val="1200"/>
              <a:buChar char="○"/>
            </a:pPr>
            <a:r>
              <a:rPr lang="en"/>
              <a:t>must start on an address divisible by 4, </a:t>
            </a:r>
            <a:endParaRPr/>
          </a:p>
          <a:p>
            <a:pPr indent="-317500" lvl="0" marL="457200" rtl="0" algn="l">
              <a:spcBef>
                <a:spcPts val="0"/>
              </a:spcBef>
              <a:spcAft>
                <a:spcPts val="0"/>
              </a:spcAft>
              <a:buSzPts val="1400"/>
              <a:buChar char="●"/>
            </a:pPr>
            <a:r>
              <a:rPr b="1" lang="en"/>
              <a:t>8-byte longs</a:t>
            </a:r>
            <a:r>
              <a:rPr lang="en"/>
              <a:t> or </a:t>
            </a:r>
            <a:r>
              <a:rPr b="1" lang="en"/>
              <a:t>doubles</a:t>
            </a:r>
            <a:endParaRPr b="1"/>
          </a:p>
          <a:p>
            <a:pPr indent="-304800" lvl="1" marL="914400" rtl="0" algn="l">
              <a:spcBef>
                <a:spcPts val="0"/>
              </a:spcBef>
              <a:spcAft>
                <a:spcPts val="0"/>
              </a:spcAft>
              <a:buSzPts val="1200"/>
              <a:buChar char="○"/>
            </a:pPr>
            <a:r>
              <a:rPr lang="en"/>
              <a:t>must start on an address divisible by 8. </a:t>
            </a:r>
            <a:endParaRPr/>
          </a:p>
          <a:p>
            <a:pPr indent="-317500" lvl="0" marL="457200" rtl="0" algn="l">
              <a:spcBef>
                <a:spcPts val="0"/>
              </a:spcBef>
              <a:spcAft>
                <a:spcPts val="0"/>
              </a:spcAft>
              <a:buSzPts val="1400"/>
              <a:buChar char="●"/>
            </a:pPr>
            <a:r>
              <a:rPr b="1" lang="en"/>
              <a:t>Pointers</a:t>
            </a:r>
            <a:endParaRPr b="1"/>
          </a:p>
          <a:p>
            <a:pPr indent="-304800" lvl="1" marL="914400" rtl="0" algn="l">
              <a:spcBef>
                <a:spcPts val="0"/>
              </a:spcBef>
              <a:spcAft>
                <a:spcPts val="0"/>
              </a:spcAft>
              <a:buSzPts val="1200"/>
              <a:buChar char="○"/>
            </a:pPr>
            <a:r>
              <a:rPr lang="en"/>
              <a:t>Based on word size</a:t>
            </a:r>
            <a:endParaRPr/>
          </a:p>
          <a:p>
            <a:pPr indent="-304800" lvl="1" marL="914400" rtl="0" algn="l">
              <a:spcBef>
                <a:spcPts val="0"/>
              </a:spcBef>
              <a:spcAft>
                <a:spcPts val="0"/>
              </a:spcAft>
              <a:buSzPts val="1200"/>
              <a:buChar char="○"/>
            </a:pPr>
            <a:r>
              <a:rPr lang="en"/>
              <a:t>4-bytes for 32-bit or 8 bytes for 64 bit</a:t>
            </a:r>
            <a:r>
              <a:rPr b="1" lang="en"/>
              <a:t> </a:t>
            </a:r>
            <a:endParaRPr b="1"/>
          </a:p>
          <a:p>
            <a:pPr indent="-317500" lvl="0" marL="457200" rtl="0" algn="l">
              <a:spcBef>
                <a:spcPts val="0"/>
              </a:spcBef>
              <a:spcAft>
                <a:spcPts val="0"/>
              </a:spcAft>
              <a:buSzPts val="1400"/>
              <a:buChar char="●"/>
            </a:pPr>
            <a:r>
              <a:rPr b="1" lang="en"/>
              <a:t>Signed</a:t>
            </a:r>
            <a:r>
              <a:rPr lang="en"/>
              <a:t> or </a:t>
            </a:r>
            <a:r>
              <a:rPr b="1" lang="en"/>
              <a:t>unsigned</a:t>
            </a:r>
            <a:r>
              <a:rPr lang="en"/>
              <a:t> </a:t>
            </a:r>
            <a:endParaRPr/>
          </a:p>
          <a:p>
            <a:pPr indent="-304800" lvl="1" marL="914400" rtl="0" algn="l">
              <a:spcBef>
                <a:spcPts val="0"/>
              </a:spcBef>
              <a:spcAft>
                <a:spcPts val="0"/>
              </a:spcAft>
              <a:buSzPts val="1200"/>
              <a:buChar char="○"/>
            </a:pPr>
            <a:r>
              <a:rPr lang="en"/>
              <a:t>makes no difference.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9"/>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 memory model: Padding</a:t>
            </a:r>
            <a:endParaRPr/>
          </a:p>
        </p:txBody>
      </p:sp>
      <p:sp>
        <p:nvSpPr>
          <p:cNvPr id="316" name="Google Shape;316;p49"/>
          <p:cNvSpPr txBox="1"/>
          <p:nvPr>
            <p:ph idx="2" type="body"/>
          </p:nvPr>
        </p:nvSpPr>
        <p:spPr>
          <a:xfrm>
            <a:off x="372775" y="1208350"/>
            <a:ext cx="1189500" cy="13980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char</a:t>
            </a:r>
            <a:r>
              <a:rPr b="1" lang="en" sz="1250">
                <a:solidFill>
                  <a:schemeClr val="dk1"/>
                </a:solidFill>
                <a:highlight>
                  <a:srgbClr val="FFFFFF"/>
                </a:highlight>
              </a:rPr>
              <a:t> *p;</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char</a:t>
            </a:r>
            <a:r>
              <a:rPr b="1" lang="en" sz="1250">
                <a:solidFill>
                  <a:schemeClr val="dk1"/>
                </a:solidFill>
                <a:highlight>
                  <a:srgbClr val="FFFFFF"/>
                </a:highlight>
              </a:rPr>
              <a:t> c;</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int</a:t>
            </a:r>
            <a:r>
              <a:rPr b="1" lang="en" sz="1250">
                <a:solidFill>
                  <a:schemeClr val="dk1"/>
                </a:solidFill>
                <a:highlight>
                  <a:srgbClr val="FFFFFF"/>
                </a:highlight>
              </a:rPr>
              <a:t> x;</a:t>
            </a:r>
            <a:endParaRPr b="1" sz="1250">
              <a:solidFill>
                <a:schemeClr val="dk1"/>
              </a:solidFill>
              <a:highlight>
                <a:srgbClr val="FFFFFF"/>
              </a:highlight>
            </a:endParaRPr>
          </a:p>
          <a:p>
            <a:pPr indent="0" lvl="0" marL="0" rtl="0" algn="l">
              <a:spcBef>
                <a:spcPts val="0"/>
              </a:spcBef>
              <a:spcAft>
                <a:spcPts val="0"/>
              </a:spcAft>
              <a:buNone/>
            </a:pPr>
            <a:r>
              <a:t/>
            </a:r>
            <a:endParaRPr b="1" sz="1400"/>
          </a:p>
          <a:p>
            <a:pPr indent="0" lvl="0" marL="0" rtl="0" algn="l">
              <a:spcBef>
                <a:spcPts val="0"/>
              </a:spcBef>
              <a:spcAft>
                <a:spcPts val="0"/>
              </a:spcAft>
              <a:buNone/>
            </a:pPr>
            <a:r>
              <a:t/>
            </a:r>
            <a:endParaRPr b="1" sz="1400"/>
          </a:p>
          <a:p>
            <a:pPr indent="0" lvl="0" marL="0" rtl="0" algn="l">
              <a:lnSpc>
                <a:spcPct val="135714"/>
              </a:lnSpc>
              <a:spcBef>
                <a:spcPts val="0"/>
              </a:spcBef>
              <a:spcAft>
                <a:spcPts val="0"/>
              </a:spcAft>
              <a:buClr>
                <a:schemeClr val="dk1"/>
              </a:buClr>
              <a:buSzPts val="1100"/>
              <a:buFont typeface="Arial"/>
              <a:buNone/>
            </a:pPr>
            <a:r>
              <a:t/>
            </a:r>
            <a:endParaRPr b="1" sz="1450">
              <a:solidFill>
                <a:srgbClr val="008000"/>
              </a:solidFill>
              <a:highlight>
                <a:srgbClr val="FFFFFF"/>
              </a:highlight>
            </a:endParaRPr>
          </a:p>
          <a:p>
            <a:pPr indent="0" lvl="0" marL="0" rtl="0" algn="l">
              <a:spcBef>
                <a:spcPts val="0"/>
              </a:spcBef>
              <a:spcAft>
                <a:spcPts val="0"/>
              </a:spcAft>
              <a:buNone/>
            </a:pPr>
            <a:r>
              <a:t/>
            </a:r>
            <a:endParaRPr b="1" sz="1400"/>
          </a:p>
        </p:txBody>
      </p:sp>
      <p:sp>
        <p:nvSpPr>
          <p:cNvPr id="317" name="Google Shape;317;p49"/>
          <p:cNvSpPr txBox="1"/>
          <p:nvPr/>
        </p:nvSpPr>
        <p:spPr>
          <a:xfrm>
            <a:off x="251750" y="3191125"/>
            <a:ext cx="4236600" cy="1823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350">
                <a:solidFill>
                  <a:srgbClr val="008000"/>
                </a:solidFill>
                <a:highlight>
                  <a:srgbClr val="FFFFFF"/>
                </a:highlight>
                <a:latin typeface="Consolas"/>
                <a:ea typeface="Consolas"/>
                <a:cs typeface="Consolas"/>
                <a:sym typeface="Consolas"/>
              </a:rPr>
              <a:t>/* the 4-byte alignment requirement of x forces a gap in the layout;*/</a:t>
            </a:r>
            <a:endParaRPr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*p;      </a:t>
            </a:r>
            <a:r>
              <a:rPr lang="en" sz="1350">
                <a:solidFill>
                  <a:srgbClr val="008000"/>
                </a:solidFill>
                <a:highlight>
                  <a:srgbClr val="FFFFFF"/>
                </a:highlight>
                <a:latin typeface="Consolas"/>
                <a:ea typeface="Consolas"/>
                <a:cs typeface="Consolas"/>
                <a:sym typeface="Consolas"/>
              </a:rPr>
              <a:t>/* 4 or 8 bytes */</a:t>
            </a:r>
            <a:endParaRPr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c;       </a:t>
            </a:r>
            <a:r>
              <a:rPr lang="en" sz="1350">
                <a:solidFill>
                  <a:srgbClr val="008000"/>
                </a:solidFill>
                <a:highlight>
                  <a:srgbClr val="FFFFFF"/>
                </a:highlight>
                <a:latin typeface="Consolas"/>
                <a:ea typeface="Consolas"/>
                <a:cs typeface="Consolas"/>
                <a:sym typeface="Consolas"/>
              </a:rPr>
              <a:t>/* 1 byte */</a:t>
            </a:r>
            <a:endParaRPr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rgbClr val="0000FF"/>
                </a:solidFill>
                <a:highlight>
                  <a:schemeClr val="accent6"/>
                </a:highlight>
                <a:latin typeface="Consolas"/>
                <a:ea typeface="Consolas"/>
                <a:cs typeface="Consolas"/>
                <a:sym typeface="Consolas"/>
              </a:rPr>
              <a:t>char</a:t>
            </a:r>
            <a:r>
              <a:rPr b="1" lang="en" sz="1450">
                <a:solidFill>
                  <a:schemeClr val="dk1"/>
                </a:solidFill>
                <a:highlight>
                  <a:schemeClr val="accent6"/>
                </a:highlight>
                <a:latin typeface="Consolas"/>
                <a:ea typeface="Consolas"/>
                <a:cs typeface="Consolas"/>
                <a:sym typeface="Consolas"/>
              </a:rPr>
              <a:t> pad[</a:t>
            </a:r>
            <a:r>
              <a:rPr b="1" lang="en" sz="1450">
                <a:solidFill>
                  <a:srgbClr val="098658"/>
                </a:solidFill>
                <a:highlight>
                  <a:schemeClr val="accent6"/>
                </a:highlight>
                <a:latin typeface="Consolas"/>
                <a:ea typeface="Consolas"/>
                <a:cs typeface="Consolas"/>
                <a:sym typeface="Consolas"/>
              </a:rPr>
              <a:t>3</a:t>
            </a:r>
            <a:r>
              <a:rPr b="1" lang="en" sz="1450">
                <a:solidFill>
                  <a:schemeClr val="dk1"/>
                </a:solidFill>
                <a:highlight>
                  <a:schemeClr val="accent6"/>
                </a:highlight>
                <a:latin typeface="Consolas"/>
                <a:ea typeface="Consolas"/>
                <a:cs typeface="Consolas"/>
                <a:sym typeface="Consolas"/>
              </a:rPr>
              <a:t>];  </a:t>
            </a:r>
            <a:r>
              <a:rPr b="1" lang="en" sz="1450">
                <a:solidFill>
                  <a:srgbClr val="008000"/>
                </a:solidFill>
                <a:highlight>
                  <a:schemeClr val="accent6"/>
                </a:highlight>
                <a:latin typeface="Consolas"/>
                <a:ea typeface="Consolas"/>
                <a:cs typeface="Consolas"/>
                <a:sym typeface="Consolas"/>
              </a:rPr>
              <a:t>/* 3 bytes */</a:t>
            </a:r>
            <a:endParaRPr b="1" sz="1450">
              <a:solidFill>
                <a:srgbClr val="008000"/>
              </a:solidFill>
              <a:highlight>
                <a:schemeClr val="accent6"/>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int</a:t>
            </a:r>
            <a:r>
              <a:rPr lang="en" sz="1350">
                <a:solidFill>
                  <a:schemeClr val="dk1"/>
                </a:solidFill>
                <a:highlight>
                  <a:srgbClr val="FFFFFF"/>
                </a:highlight>
                <a:latin typeface="Consolas"/>
                <a:ea typeface="Consolas"/>
                <a:cs typeface="Consolas"/>
                <a:sym typeface="Consolas"/>
              </a:rPr>
              <a:t> x;        </a:t>
            </a:r>
            <a:r>
              <a:rPr lang="en" sz="1350">
                <a:solidFill>
                  <a:srgbClr val="008000"/>
                </a:solidFill>
                <a:highlight>
                  <a:srgbClr val="FFFFFF"/>
                </a:highlight>
                <a:latin typeface="Consolas"/>
                <a:ea typeface="Consolas"/>
                <a:cs typeface="Consolas"/>
                <a:sym typeface="Consolas"/>
              </a:rPr>
              <a:t>/* 4 bytes */</a:t>
            </a:r>
            <a:endParaRPr sz="1500">
              <a:latin typeface="Consolas"/>
              <a:ea typeface="Consolas"/>
              <a:cs typeface="Consolas"/>
              <a:sym typeface="Consolas"/>
            </a:endParaRPr>
          </a:p>
        </p:txBody>
      </p:sp>
      <p:cxnSp>
        <p:nvCxnSpPr>
          <p:cNvPr id="318" name="Google Shape;318;p49"/>
          <p:cNvCxnSpPr>
            <a:stCxn id="316" idx="3"/>
            <a:endCxn id="317" idx="0"/>
          </p:cNvCxnSpPr>
          <p:nvPr/>
        </p:nvCxnSpPr>
        <p:spPr>
          <a:xfrm>
            <a:off x="1562275" y="1907350"/>
            <a:ext cx="807900" cy="1283700"/>
          </a:xfrm>
          <a:prstGeom prst="straightConnector1">
            <a:avLst/>
          </a:prstGeom>
          <a:noFill/>
          <a:ln cap="flat" cmpd="sng" w="9525">
            <a:solidFill>
              <a:schemeClr val="dk2"/>
            </a:solidFill>
            <a:prstDash val="solid"/>
            <a:round/>
            <a:headEnd len="med" w="med" type="none"/>
            <a:tailEnd len="med" w="med" type="triangle"/>
          </a:ln>
        </p:spPr>
      </p:cxnSp>
      <p:sp>
        <p:nvSpPr>
          <p:cNvPr id="319" name="Google Shape;319;p49"/>
          <p:cNvSpPr txBox="1"/>
          <p:nvPr>
            <p:ph idx="2" type="body"/>
          </p:nvPr>
        </p:nvSpPr>
        <p:spPr>
          <a:xfrm>
            <a:off x="4792375" y="1208350"/>
            <a:ext cx="1189500" cy="13980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250">
                <a:solidFill>
                  <a:srgbClr val="0000FF"/>
                </a:solidFill>
                <a:highlight>
                  <a:srgbClr val="FFFFFF"/>
                </a:highlight>
              </a:rPr>
              <a:t>char</a:t>
            </a:r>
            <a:r>
              <a:rPr b="1" lang="en" sz="1250">
                <a:solidFill>
                  <a:schemeClr val="dk1"/>
                </a:solidFill>
                <a:highlight>
                  <a:srgbClr val="FFFFFF"/>
                </a:highlight>
              </a:rPr>
              <a:t> *p;</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rgbClr val="0000FF"/>
                </a:solidFill>
                <a:highlight>
                  <a:srgbClr val="FFFFFF"/>
                </a:highlight>
              </a:rPr>
              <a:t>char</a:t>
            </a:r>
            <a:r>
              <a:rPr b="1" lang="en" sz="1250">
                <a:solidFill>
                  <a:schemeClr val="dk1"/>
                </a:solidFill>
                <a:highlight>
                  <a:srgbClr val="FFFFFF"/>
                </a:highlight>
              </a:rPr>
              <a:t> c;</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rgbClr val="0000FF"/>
                </a:solidFill>
                <a:highlight>
                  <a:srgbClr val="FFFF00"/>
                </a:highlight>
              </a:rPr>
              <a:t>short</a:t>
            </a:r>
            <a:r>
              <a:rPr b="1" lang="en" sz="1250">
                <a:solidFill>
                  <a:schemeClr val="dk1"/>
                </a:solidFill>
                <a:highlight>
                  <a:srgbClr val="FFFF00"/>
                </a:highlight>
              </a:rPr>
              <a:t> x;</a:t>
            </a:r>
            <a:endParaRPr b="1" sz="1250">
              <a:solidFill>
                <a:schemeClr val="dk1"/>
              </a:solidFill>
              <a:highlight>
                <a:srgbClr val="FFFF00"/>
              </a:highlight>
            </a:endParaRPr>
          </a:p>
          <a:p>
            <a:pPr indent="0" lvl="0" marL="0" rtl="0" algn="l">
              <a:spcBef>
                <a:spcPts val="0"/>
              </a:spcBef>
              <a:spcAft>
                <a:spcPts val="0"/>
              </a:spcAft>
              <a:buNone/>
            </a:pPr>
            <a:r>
              <a:t/>
            </a:r>
            <a:endParaRPr b="1" sz="1400"/>
          </a:p>
          <a:p>
            <a:pPr indent="0" lvl="0" marL="0" rtl="0" algn="l">
              <a:spcBef>
                <a:spcPts val="0"/>
              </a:spcBef>
              <a:spcAft>
                <a:spcPts val="0"/>
              </a:spcAft>
              <a:buNone/>
            </a:pPr>
            <a:r>
              <a:t/>
            </a:r>
            <a:endParaRPr b="1" sz="1400"/>
          </a:p>
          <a:p>
            <a:pPr indent="0" lvl="0" marL="0" rtl="0" algn="l">
              <a:lnSpc>
                <a:spcPct val="135714"/>
              </a:lnSpc>
              <a:spcBef>
                <a:spcPts val="0"/>
              </a:spcBef>
              <a:spcAft>
                <a:spcPts val="0"/>
              </a:spcAft>
              <a:buNone/>
            </a:pPr>
            <a:r>
              <a:t/>
            </a:r>
            <a:endParaRPr b="1" sz="1450">
              <a:solidFill>
                <a:srgbClr val="008000"/>
              </a:solidFill>
              <a:highlight>
                <a:srgbClr val="FFFFFF"/>
              </a:highlight>
            </a:endParaRPr>
          </a:p>
          <a:p>
            <a:pPr indent="0" lvl="0" marL="0" rtl="0" algn="l">
              <a:spcBef>
                <a:spcPts val="0"/>
              </a:spcBef>
              <a:spcAft>
                <a:spcPts val="0"/>
              </a:spcAft>
              <a:buNone/>
            </a:pPr>
            <a:r>
              <a:t/>
            </a:r>
            <a:endParaRPr b="1" sz="1400"/>
          </a:p>
        </p:txBody>
      </p:sp>
      <p:sp>
        <p:nvSpPr>
          <p:cNvPr id="320" name="Google Shape;320;p49"/>
          <p:cNvSpPr txBox="1"/>
          <p:nvPr/>
        </p:nvSpPr>
        <p:spPr>
          <a:xfrm>
            <a:off x="4671350" y="3191125"/>
            <a:ext cx="4236600" cy="1823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350">
                <a:solidFill>
                  <a:srgbClr val="008000"/>
                </a:solidFill>
                <a:highlight>
                  <a:srgbClr val="FFFFFF"/>
                </a:highlight>
                <a:latin typeface="Consolas"/>
                <a:ea typeface="Consolas"/>
                <a:cs typeface="Consolas"/>
                <a:sym typeface="Consolas"/>
              </a:rPr>
              <a:t>/* </a:t>
            </a:r>
            <a:r>
              <a:rPr lang="en" sz="1350">
                <a:solidFill>
                  <a:srgbClr val="008000"/>
                </a:solidFill>
                <a:highlight>
                  <a:srgbClr val="FFFFFF"/>
                </a:highlight>
                <a:latin typeface="Consolas"/>
                <a:ea typeface="Consolas"/>
                <a:cs typeface="Consolas"/>
                <a:sym typeface="Consolas"/>
              </a:rPr>
              <a:t>the 4-byte alignment requirement of </a:t>
            </a:r>
            <a:r>
              <a:rPr lang="en" sz="1350">
                <a:solidFill>
                  <a:srgbClr val="008000"/>
                </a:solidFill>
                <a:highlight>
                  <a:srgbClr val="FFFFFF"/>
                </a:highlight>
                <a:latin typeface="Consolas"/>
                <a:ea typeface="Consolas"/>
                <a:cs typeface="Consolas"/>
                <a:sym typeface="Consolas"/>
              </a:rPr>
              <a:t>x</a:t>
            </a:r>
            <a:r>
              <a:rPr lang="en" sz="1350">
                <a:solidFill>
                  <a:srgbClr val="008000"/>
                </a:solidFill>
                <a:highlight>
                  <a:srgbClr val="FFFFFF"/>
                </a:highlight>
                <a:latin typeface="Consolas"/>
                <a:ea typeface="Consolas"/>
                <a:cs typeface="Consolas"/>
                <a:sym typeface="Consolas"/>
              </a:rPr>
              <a:t> forces a gap in the layout</a:t>
            </a:r>
            <a:r>
              <a:rPr lang="en" sz="1350">
                <a:solidFill>
                  <a:srgbClr val="008000"/>
                </a:solidFill>
                <a:highlight>
                  <a:srgbClr val="FFFFFF"/>
                </a:highlight>
                <a:latin typeface="Consolas"/>
                <a:ea typeface="Consolas"/>
                <a:cs typeface="Consolas"/>
                <a:sym typeface="Consolas"/>
              </a:rPr>
              <a:t>;*/</a:t>
            </a:r>
            <a:endParaRPr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*p;      </a:t>
            </a:r>
            <a:r>
              <a:rPr lang="en" sz="1350">
                <a:solidFill>
                  <a:srgbClr val="008000"/>
                </a:solidFill>
                <a:highlight>
                  <a:srgbClr val="FFFFFF"/>
                </a:highlight>
                <a:latin typeface="Consolas"/>
                <a:ea typeface="Consolas"/>
                <a:cs typeface="Consolas"/>
                <a:sym typeface="Consolas"/>
              </a:rPr>
              <a:t>/* 4 or 8 bytes */</a:t>
            </a:r>
            <a:endParaRPr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c;       </a:t>
            </a:r>
            <a:r>
              <a:rPr lang="en" sz="1350">
                <a:solidFill>
                  <a:srgbClr val="008000"/>
                </a:solidFill>
                <a:highlight>
                  <a:srgbClr val="FFFFFF"/>
                </a:highlight>
                <a:latin typeface="Consolas"/>
                <a:ea typeface="Consolas"/>
                <a:cs typeface="Consolas"/>
                <a:sym typeface="Consolas"/>
              </a:rPr>
              <a:t>/* 1 byte */</a:t>
            </a:r>
            <a:endParaRPr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rgbClr val="0000FF"/>
                </a:solidFill>
                <a:highlight>
                  <a:schemeClr val="accent6"/>
                </a:highlight>
                <a:latin typeface="Consolas"/>
                <a:ea typeface="Consolas"/>
                <a:cs typeface="Consolas"/>
                <a:sym typeface="Consolas"/>
              </a:rPr>
              <a:t>char</a:t>
            </a:r>
            <a:r>
              <a:rPr b="1" lang="en" sz="1450">
                <a:solidFill>
                  <a:schemeClr val="dk1"/>
                </a:solidFill>
                <a:highlight>
                  <a:schemeClr val="accent6"/>
                </a:highlight>
                <a:latin typeface="Consolas"/>
                <a:ea typeface="Consolas"/>
                <a:cs typeface="Consolas"/>
                <a:sym typeface="Consolas"/>
              </a:rPr>
              <a:t> pad[</a:t>
            </a:r>
            <a:r>
              <a:rPr b="1" lang="en" sz="1450">
                <a:solidFill>
                  <a:srgbClr val="098658"/>
                </a:solidFill>
                <a:highlight>
                  <a:schemeClr val="accent6"/>
                </a:highlight>
                <a:latin typeface="Consolas"/>
                <a:ea typeface="Consolas"/>
                <a:cs typeface="Consolas"/>
                <a:sym typeface="Consolas"/>
              </a:rPr>
              <a:t>1</a:t>
            </a:r>
            <a:r>
              <a:rPr b="1" lang="en" sz="1450">
                <a:solidFill>
                  <a:schemeClr val="dk1"/>
                </a:solidFill>
                <a:highlight>
                  <a:schemeClr val="accent6"/>
                </a:highlight>
                <a:latin typeface="Consolas"/>
                <a:ea typeface="Consolas"/>
                <a:cs typeface="Consolas"/>
                <a:sym typeface="Consolas"/>
              </a:rPr>
              <a:t>];  </a:t>
            </a:r>
            <a:r>
              <a:rPr b="1" lang="en" sz="1450">
                <a:solidFill>
                  <a:srgbClr val="008000"/>
                </a:solidFill>
                <a:highlight>
                  <a:schemeClr val="accent6"/>
                </a:highlight>
                <a:latin typeface="Consolas"/>
                <a:ea typeface="Consolas"/>
                <a:cs typeface="Consolas"/>
                <a:sym typeface="Consolas"/>
              </a:rPr>
              <a:t>/* 1 bytes */</a:t>
            </a:r>
            <a:endParaRPr b="1" sz="1450">
              <a:solidFill>
                <a:srgbClr val="008000"/>
              </a:solidFill>
              <a:highlight>
                <a:schemeClr val="accent6"/>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short</a:t>
            </a:r>
            <a:r>
              <a:rPr lang="en" sz="1350">
                <a:solidFill>
                  <a:schemeClr val="dk1"/>
                </a:solidFill>
                <a:highlight>
                  <a:srgbClr val="FFFFFF"/>
                </a:highlight>
                <a:latin typeface="Consolas"/>
                <a:ea typeface="Consolas"/>
                <a:cs typeface="Consolas"/>
                <a:sym typeface="Consolas"/>
              </a:rPr>
              <a:t> x;        </a:t>
            </a:r>
            <a:r>
              <a:rPr lang="en" sz="1350">
                <a:solidFill>
                  <a:srgbClr val="008000"/>
                </a:solidFill>
                <a:highlight>
                  <a:srgbClr val="FFFFFF"/>
                </a:highlight>
                <a:latin typeface="Consolas"/>
                <a:ea typeface="Consolas"/>
                <a:cs typeface="Consolas"/>
                <a:sym typeface="Consolas"/>
              </a:rPr>
              <a:t>/* 2 bytes */</a:t>
            </a:r>
            <a:endParaRPr sz="1500">
              <a:latin typeface="Consolas"/>
              <a:ea typeface="Consolas"/>
              <a:cs typeface="Consolas"/>
              <a:sym typeface="Consolas"/>
            </a:endParaRPr>
          </a:p>
        </p:txBody>
      </p:sp>
      <p:cxnSp>
        <p:nvCxnSpPr>
          <p:cNvPr id="321" name="Google Shape;321;p49"/>
          <p:cNvCxnSpPr>
            <a:stCxn id="319" idx="3"/>
            <a:endCxn id="320" idx="0"/>
          </p:cNvCxnSpPr>
          <p:nvPr/>
        </p:nvCxnSpPr>
        <p:spPr>
          <a:xfrm>
            <a:off x="5981875" y="1907350"/>
            <a:ext cx="807900" cy="1283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par>
                                <p:cTn fill="hold" nodeType="with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1000"/>
                                        <p:tgtEl>
                                          <p:spTgt spid="3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0"/>
          <p:cNvSpPr txBox="1"/>
          <p:nvPr>
            <p:ph idx="2" type="body"/>
          </p:nvPr>
        </p:nvSpPr>
        <p:spPr>
          <a:xfrm>
            <a:off x="372775" y="1208350"/>
            <a:ext cx="3750000" cy="1192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450">
                <a:solidFill>
                  <a:srgbClr val="0000FF"/>
                </a:solidFill>
                <a:highlight>
                  <a:srgbClr val="FFFFFF"/>
                </a:highlight>
              </a:rPr>
              <a:t>char</a:t>
            </a:r>
            <a:r>
              <a:rPr lang="en" sz="1450">
                <a:solidFill>
                  <a:schemeClr val="dk1"/>
                </a:solidFill>
                <a:highlight>
                  <a:srgbClr val="FFFFFF"/>
                </a:highlight>
              </a:rPr>
              <a:t> c;</a:t>
            </a:r>
            <a:endParaRPr sz="1450">
              <a:solidFill>
                <a:schemeClr val="dk1"/>
              </a:solidFill>
              <a:highlight>
                <a:srgbClr val="FFFFFF"/>
              </a:highlight>
            </a:endParaRPr>
          </a:p>
          <a:p>
            <a:pPr indent="0" lvl="0" marL="0" rtl="0" algn="l">
              <a:lnSpc>
                <a:spcPct val="135714"/>
              </a:lnSpc>
              <a:spcBef>
                <a:spcPts val="0"/>
              </a:spcBef>
              <a:spcAft>
                <a:spcPts val="0"/>
              </a:spcAft>
              <a:buNone/>
            </a:pPr>
            <a:r>
              <a:rPr lang="en" sz="1450">
                <a:solidFill>
                  <a:srgbClr val="0000FF"/>
                </a:solidFill>
                <a:highlight>
                  <a:srgbClr val="FFFFFF"/>
                </a:highlight>
              </a:rPr>
              <a:t>char</a:t>
            </a:r>
            <a:r>
              <a:rPr lang="en" sz="1450">
                <a:solidFill>
                  <a:schemeClr val="dk1"/>
                </a:solidFill>
                <a:highlight>
                  <a:srgbClr val="FFFFFF"/>
                </a:highlight>
              </a:rPr>
              <a:t> *p;</a:t>
            </a:r>
            <a:endParaRPr sz="1450">
              <a:solidFill>
                <a:schemeClr val="dk1"/>
              </a:solidFill>
              <a:highlight>
                <a:srgbClr val="FFFFFF"/>
              </a:highlight>
            </a:endParaRPr>
          </a:p>
          <a:p>
            <a:pPr indent="0" lvl="0" marL="0" rtl="0" algn="l">
              <a:lnSpc>
                <a:spcPct val="135714"/>
              </a:lnSpc>
              <a:spcBef>
                <a:spcPts val="0"/>
              </a:spcBef>
              <a:spcAft>
                <a:spcPts val="0"/>
              </a:spcAft>
              <a:buNone/>
            </a:pPr>
            <a:r>
              <a:rPr lang="en" sz="1450">
                <a:solidFill>
                  <a:srgbClr val="0000FF"/>
                </a:solidFill>
                <a:highlight>
                  <a:srgbClr val="FFFFFF"/>
                </a:highlight>
              </a:rPr>
              <a:t>int</a:t>
            </a:r>
            <a:r>
              <a:rPr lang="en" sz="1450">
                <a:solidFill>
                  <a:schemeClr val="dk1"/>
                </a:solidFill>
                <a:highlight>
                  <a:srgbClr val="FFFFFF"/>
                </a:highlight>
              </a:rPr>
              <a:t> x;</a:t>
            </a:r>
            <a:endParaRPr sz="1650">
              <a:solidFill>
                <a:srgbClr val="0000FF"/>
              </a:solidFill>
              <a:highlight>
                <a:srgbClr val="FFFFFF"/>
              </a:highlight>
            </a:endParaRPr>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0" rtl="0" algn="l">
              <a:lnSpc>
                <a:spcPct val="135714"/>
              </a:lnSpc>
              <a:spcBef>
                <a:spcPts val="0"/>
              </a:spcBef>
              <a:spcAft>
                <a:spcPts val="0"/>
              </a:spcAft>
              <a:buNone/>
            </a:pPr>
            <a:r>
              <a:t/>
            </a:r>
            <a:endParaRPr sz="1550">
              <a:solidFill>
                <a:srgbClr val="008000"/>
              </a:solidFill>
              <a:highlight>
                <a:srgbClr val="FFFFFF"/>
              </a:highlight>
            </a:endParaRPr>
          </a:p>
          <a:p>
            <a:pPr indent="0" lvl="0" marL="0" rtl="0" algn="l">
              <a:spcBef>
                <a:spcPts val="0"/>
              </a:spcBef>
              <a:spcAft>
                <a:spcPts val="0"/>
              </a:spcAft>
              <a:buNone/>
            </a:pPr>
            <a:r>
              <a:t/>
            </a:r>
            <a:endParaRPr sz="1500"/>
          </a:p>
        </p:txBody>
      </p:sp>
      <p:sp>
        <p:nvSpPr>
          <p:cNvPr id="327" name="Google Shape;327;p50"/>
          <p:cNvSpPr txBox="1"/>
          <p:nvPr/>
        </p:nvSpPr>
        <p:spPr>
          <a:xfrm>
            <a:off x="222150" y="2658025"/>
            <a:ext cx="4236600" cy="1802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350">
                <a:solidFill>
                  <a:srgbClr val="008000"/>
                </a:solidFill>
                <a:highlight>
                  <a:srgbClr val="FFFFFF"/>
                </a:highlight>
                <a:latin typeface="Consolas"/>
                <a:ea typeface="Consolas"/>
                <a:cs typeface="Consolas"/>
                <a:sym typeface="Consolas"/>
              </a:rPr>
              <a:t>/*the actual memory layout*/</a:t>
            </a:r>
            <a:endParaRPr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c;</a:t>
            </a:r>
            <a:endParaRPr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pad1[M];</a:t>
            </a:r>
            <a:endParaRPr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*p;</a:t>
            </a:r>
            <a:endParaRPr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pad2[N];</a:t>
            </a:r>
            <a:endParaRPr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int</a:t>
            </a:r>
            <a:r>
              <a:rPr lang="en" sz="1350">
                <a:solidFill>
                  <a:schemeClr val="dk1"/>
                </a:solidFill>
                <a:highlight>
                  <a:srgbClr val="FFFFFF"/>
                </a:highlight>
                <a:latin typeface="Consolas"/>
                <a:ea typeface="Consolas"/>
                <a:cs typeface="Consolas"/>
                <a:sym typeface="Consolas"/>
              </a:rPr>
              <a:t> x;</a:t>
            </a:r>
            <a:endParaRPr sz="1550">
              <a:solidFill>
                <a:srgbClr val="008000"/>
              </a:solidFill>
              <a:highlight>
                <a:srgbClr val="FFFFFF"/>
              </a:highlight>
              <a:latin typeface="Consolas"/>
              <a:ea typeface="Consolas"/>
              <a:cs typeface="Consolas"/>
              <a:sym typeface="Consolas"/>
            </a:endParaRPr>
          </a:p>
        </p:txBody>
      </p:sp>
      <p:sp>
        <p:nvSpPr>
          <p:cNvPr id="328" name="Google Shape;328;p50"/>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what can we say about M and N?</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 is zero, M depends on the alignment of c.</a:t>
            </a:r>
            <a:endParaRPr/>
          </a:p>
          <a:p>
            <a:pPr indent="-304800" lvl="0" marL="457200" rtl="0" algn="l">
              <a:spcBef>
                <a:spcPts val="0"/>
              </a:spcBef>
              <a:spcAft>
                <a:spcPts val="0"/>
              </a:spcAft>
              <a:buSzPts val="1200"/>
              <a:buChar char="●"/>
            </a:pPr>
            <a:r>
              <a:rPr lang="en"/>
              <a:t>If the compiler happened to map c to the last byte of a machine word, the next byte (the first of p) would be the first byte of the next one and properly pointer-aligned. M would be zero.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10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1"/>
          <p:cNvSpPr txBox="1"/>
          <p:nvPr>
            <p:ph type="title"/>
          </p:nvPr>
        </p:nvSpPr>
        <p:spPr>
          <a:xfrm>
            <a:off x="118475" y="339650"/>
            <a:ext cx="85515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Structure alignment and packing</a:t>
            </a:r>
            <a:endParaRPr/>
          </a:p>
        </p:txBody>
      </p:sp>
      <p:sp>
        <p:nvSpPr>
          <p:cNvPr id="334" name="Google Shape;334;p51"/>
          <p:cNvSpPr txBox="1"/>
          <p:nvPr>
            <p:ph idx="2" type="body"/>
          </p:nvPr>
        </p:nvSpPr>
        <p:spPr>
          <a:xfrm>
            <a:off x="313550" y="1075075"/>
            <a:ext cx="1841100" cy="13980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350">
                <a:solidFill>
                  <a:srgbClr val="0000FF"/>
                </a:solidFill>
                <a:highlight>
                  <a:srgbClr val="FFFFFF"/>
                </a:highlight>
              </a:rPr>
              <a:t>struct</a:t>
            </a:r>
            <a:r>
              <a:rPr lang="en" sz="1350">
                <a:solidFill>
                  <a:schemeClr val="dk1"/>
                </a:solidFill>
                <a:highlight>
                  <a:srgbClr val="FFFFFF"/>
                </a:highlight>
              </a:rPr>
              <a:t> </a:t>
            </a:r>
            <a:r>
              <a:rPr lang="en" sz="1350">
                <a:solidFill>
                  <a:srgbClr val="2B91AF"/>
                </a:solidFill>
                <a:highlight>
                  <a:srgbClr val="FFFFFF"/>
                </a:highlight>
              </a:rPr>
              <a:t>foo1</a:t>
            </a:r>
            <a:r>
              <a:rPr lang="en" sz="1350">
                <a:solidFill>
                  <a:schemeClr val="dk1"/>
                </a:solidFill>
                <a:highlight>
                  <a:srgbClr val="FFFFFF"/>
                </a:highlight>
              </a:rPr>
              <a:t> {</a:t>
            </a:r>
            <a:endParaRPr sz="1350">
              <a:solidFill>
                <a:schemeClr val="dk1"/>
              </a:solidFill>
              <a:highlight>
                <a:srgbClr val="FFFFFF"/>
              </a:highlight>
            </a:endParaRPr>
          </a:p>
          <a:p>
            <a:pPr indent="0" lvl="0" marL="0" rtl="0" algn="l">
              <a:lnSpc>
                <a:spcPct val="135714"/>
              </a:lnSpc>
              <a:spcBef>
                <a:spcPts val="0"/>
              </a:spcBef>
              <a:spcAft>
                <a:spcPts val="0"/>
              </a:spcAft>
              <a:buNone/>
            </a:pPr>
            <a:r>
              <a:rPr lang="en" sz="1350">
                <a:solidFill>
                  <a:schemeClr val="dk1"/>
                </a:solidFill>
                <a:highlight>
                  <a:srgbClr val="FFFFFF"/>
                </a:highlight>
              </a:rPr>
              <a:t>   </a:t>
            </a:r>
            <a:r>
              <a:rPr lang="en" sz="1350">
                <a:solidFill>
                  <a:srgbClr val="0000FF"/>
                </a:solidFill>
                <a:highlight>
                  <a:srgbClr val="FFFFFF"/>
                </a:highlight>
              </a:rPr>
              <a:t>char</a:t>
            </a:r>
            <a:r>
              <a:rPr lang="en" sz="1350">
                <a:solidFill>
                  <a:schemeClr val="dk1"/>
                </a:solidFill>
                <a:highlight>
                  <a:srgbClr val="FFFFFF"/>
                </a:highlight>
              </a:rPr>
              <a:t> *p;</a:t>
            </a:r>
            <a:endParaRPr sz="1350">
              <a:solidFill>
                <a:schemeClr val="dk1"/>
              </a:solidFill>
              <a:highlight>
                <a:srgbClr val="FFFFFF"/>
              </a:highlight>
            </a:endParaRPr>
          </a:p>
          <a:p>
            <a:pPr indent="0" lvl="0" marL="0" rtl="0" algn="l">
              <a:lnSpc>
                <a:spcPct val="135714"/>
              </a:lnSpc>
              <a:spcBef>
                <a:spcPts val="0"/>
              </a:spcBef>
              <a:spcAft>
                <a:spcPts val="0"/>
              </a:spcAft>
              <a:buNone/>
            </a:pPr>
            <a:r>
              <a:rPr lang="en" sz="1350">
                <a:solidFill>
                  <a:schemeClr val="dk1"/>
                </a:solidFill>
                <a:highlight>
                  <a:srgbClr val="FFFFFF"/>
                </a:highlight>
              </a:rPr>
              <a:t>   </a:t>
            </a:r>
            <a:r>
              <a:rPr lang="en" sz="1350">
                <a:solidFill>
                  <a:srgbClr val="0000FF"/>
                </a:solidFill>
                <a:highlight>
                  <a:srgbClr val="FFFFFF"/>
                </a:highlight>
              </a:rPr>
              <a:t>char</a:t>
            </a:r>
            <a:r>
              <a:rPr lang="en" sz="1350">
                <a:solidFill>
                  <a:schemeClr val="dk1"/>
                </a:solidFill>
                <a:highlight>
                  <a:srgbClr val="FFFFFF"/>
                </a:highlight>
              </a:rPr>
              <a:t> c;</a:t>
            </a:r>
            <a:endParaRPr sz="1350">
              <a:solidFill>
                <a:schemeClr val="dk1"/>
              </a:solidFill>
              <a:highlight>
                <a:srgbClr val="FFFFFF"/>
              </a:highlight>
            </a:endParaRPr>
          </a:p>
          <a:p>
            <a:pPr indent="0" lvl="0" marL="0" rtl="0" algn="l">
              <a:lnSpc>
                <a:spcPct val="135714"/>
              </a:lnSpc>
              <a:spcBef>
                <a:spcPts val="0"/>
              </a:spcBef>
              <a:spcAft>
                <a:spcPts val="0"/>
              </a:spcAft>
              <a:buNone/>
            </a:pPr>
            <a:r>
              <a:rPr lang="en" sz="1350">
                <a:solidFill>
                  <a:schemeClr val="dk1"/>
                </a:solidFill>
                <a:highlight>
                  <a:srgbClr val="FFFFFF"/>
                </a:highlight>
              </a:rPr>
              <a:t>   </a:t>
            </a:r>
            <a:r>
              <a:rPr lang="en" sz="1350">
                <a:solidFill>
                  <a:srgbClr val="0000FF"/>
                </a:solidFill>
                <a:highlight>
                  <a:srgbClr val="FFFFFF"/>
                </a:highlight>
              </a:rPr>
              <a:t>long</a:t>
            </a:r>
            <a:r>
              <a:rPr lang="en" sz="1350">
                <a:solidFill>
                  <a:schemeClr val="dk1"/>
                </a:solidFill>
                <a:highlight>
                  <a:srgbClr val="FFFFFF"/>
                </a:highlight>
              </a:rPr>
              <a:t> x;</a:t>
            </a:r>
            <a:endParaRPr sz="1350">
              <a:solidFill>
                <a:schemeClr val="dk1"/>
              </a:solidFill>
              <a:highlight>
                <a:srgbClr val="FFFFFF"/>
              </a:highlight>
            </a:endParaRPr>
          </a:p>
          <a:p>
            <a:pPr indent="0" lvl="0" marL="0" rtl="0" algn="l">
              <a:lnSpc>
                <a:spcPct val="135714"/>
              </a:lnSpc>
              <a:spcBef>
                <a:spcPts val="0"/>
              </a:spcBef>
              <a:spcAft>
                <a:spcPts val="0"/>
              </a:spcAft>
              <a:buNone/>
            </a:pPr>
            <a:r>
              <a:rPr lang="en" sz="1350">
                <a:solidFill>
                  <a:schemeClr val="dk1"/>
                </a:solidFill>
                <a:highlight>
                  <a:srgbClr val="FFFFFF"/>
                </a:highlight>
              </a:rPr>
              <a:t>};</a:t>
            </a:r>
            <a:endParaRPr sz="1350">
              <a:solidFill>
                <a:schemeClr val="dk1"/>
              </a:solidFill>
              <a:highlight>
                <a:srgbClr val="FFFFFF"/>
              </a:highlight>
            </a:endParaRPr>
          </a:p>
          <a:p>
            <a:pPr indent="0" lvl="0" marL="0" rtl="0" algn="l">
              <a:lnSpc>
                <a:spcPct val="135714"/>
              </a:lnSpc>
              <a:spcBef>
                <a:spcPts val="0"/>
              </a:spcBef>
              <a:spcAft>
                <a:spcPts val="0"/>
              </a:spcAft>
              <a:buNone/>
            </a:pPr>
            <a:r>
              <a:t/>
            </a:r>
            <a:endParaRPr sz="1550">
              <a:solidFill>
                <a:srgbClr val="0000FF"/>
              </a:solidFill>
              <a:highlight>
                <a:srgbClr val="FFFFFF"/>
              </a:highlight>
            </a:endParaRPr>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a:p>
            <a:pPr indent="0" lvl="0" marL="0" rtl="0" algn="l">
              <a:lnSpc>
                <a:spcPct val="135714"/>
              </a:lnSpc>
              <a:spcBef>
                <a:spcPts val="0"/>
              </a:spcBef>
              <a:spcAft>
                <a:spcPts val="0"/>
              </a:spcAft>
              <a:buNone/>
            </a:pPr>
            <a:r>
              <a:t/>
            </a:r>
            <a:endParaRPr sz="1750">
              <a:solidFill>
                <a:srgbClr val="008000"/>
              </a:solidFill>
              <a:highlight>
                <a:srgbClr val="FFFFFF"/>
              </a:highlight>
            </a:endParaRPr>
          </a:p>
          <a:p>
            <a:pPr indent="0" lvl="0" marL="0" rtl="0" algn="l">
              <a:spcBef>
                <a:spcPts val="0"/>
              </a:spcBef>
              <a:spcAft>
                <a:spcPts val="0"/>
              </a:spcAft>
              <a:buNone/>
            </a:pPr>
            <a:r>
              <a:t/>
            </a:r>
            <a:endParaRPr sz="1700"/>
          </a:p>
        </p:txBody>
      </p:sp>
      <p:sp>
        <p:nvSpPr>
          <p:cNvPr id="335" name="Google Shape;335;p51"/>
          <p:cNvSpPr txBox="1"/>
          <p:nvPr/>
        </p:nvSpPr>
        <p:spPr>
          <a:xfrm>
            <a:off x="3650200" y="2571750"/>
            <a:ext cx="4236600" cy="2466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rgbClr val="008000"/>
                </a:solidFill>
                <a:highlight>
                  <a:srgbClr val="FFFFFF"/>
                </a:highlight>
                <a:latin typeface="Consolas"/>
                <a:ea typeface="Consolas"/>
                <a:cs typeface="Consolas"/>
                <a:sym typeface="Consolas"/>
              </a:rPr>
              <a:t>x is 8-byte</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struct foo1 will have</a:t>
            </a:r>
            <a:r>
              <a:rPr b="1" lang="en" sz="1250">
                <a:solidFill>
                  <a:srgbClr val="008000"/>
                </a:solidFill>
                <a:highlight>
                  <a:srgbClr val="FFFFFF"/>
                </a:highlight>
                <a:latin typeface="Consolas"/>
                <a:ea typeface="Consolas"/>
                <a:cs typeface="Consolas"/>
                <a:sym typeface="Consolas"/>
              </a:rPr>
              <a:t> </a:t>
            </a:r>
            <a:r>
              <a:rPr b="1" lang="en" sz="1250">
                <a:solidFill>
                  <a:srgbClr val="008000"/>
                </a:solidFill>
                <a:highlight>
                  <a:schemeClr val="accent6"/>
                </a:highlight>
                <a:latin typeface="Consolas"/>
                <a:ea typeface="Consolas"/>
                <a:cs typeface="Consolas"/>
                <a:sym typeface="Consolas"/>
              </a:rPr>
              <a:t>8 byte</a:t>
            </a:r>
            <a:r>
              <a:rPr lang="en" sz="1250">
                <a:solidFill>
                  <a:srgbClr val="008000"/>
                </a:solidFill>
                <a:highlight>
                  <a:srgbClr val="FFFFFF"/>
                </a:highlight>
                <a:latin typeface="Consolas"/>
                <a:ea typeface="Consolas"/>
                <a:cs typeface="Consolas"/>
                <a:sym typeface="Consolas"/>
              </a:rPr>
              <a:t> alignment*/</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00FF"/>
                </a:solidFill>
                <a:highlight>
                  <a:srgbClr val="FFFFFF"/>
                </a:highlight>
                <a:latin typeface="Consolas"/>
                <a:ea typeface="Consolas"/>
                <a:cs typeface="Consolas"/>
                <a:sym typeface="Consolas"/>
              </a:rPr>
              <a:t>struct</a:t>
            </a:r>
            <a:r>
              <a:rPr lang="en" sz="1250">
                <a:solidFill>
                  <a:schemeClr val="dk1"/>
                </a:solidFill>
                <a:highlight>
                  <a:srgbClr val="FFFFFF"/>
                </a:highlight>
                <a:latin typeface="Consolas"/>
                <a:ea typeface="Consolas"/>
                <a:cs typeface="Consolas"/>
                <a:sym typeface="Consolas"/>
              </a:rPr>
              <a:t> </a:t>
            </a:r>
            <a:r>
              <a:rPr lang="en" sz="1250">
                <a:solidFill>
                  <a:srgbClr val="2B91AF"/>
                </a:solidFill>
                <a:highlight>
                  <a:srgbClr val="FFFFFF"/>
                </a:highlight>
                <a:latin typeface="Consolas"/>
                <a:ea typeface="Consolas"/>
                <a:cs typeface="Consolas"/>
                <a:sym typeface="Consolas"/>
              </a:rPr>
              <a:t>foo1</a:t>
            </a:r>
            <a:r>
              <a:rPr lang="en" sz="1250">
                <a:solidFill>
                  <a:schemeClr val="dk1"/>
                </a:solidFill>
                <a:highlight>
                  <a:srgbClr val="FFFFFF"/>
                </a:highlight>
                <a:latin typeface="Consolas"/>
                <a:ea typeface="Consolas"/>
                <a:cs typeface="Consolas"/>
                <a:sym typeface="Consolas"/>
              </a:rPr>
              <a:t> {</a:t>
            </a:r>
            <a:endParaRPr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char</a:t>
            </a:r>
            <a:r>
              <a:rPr lang="en" sz="1250">
                <a:solidFill>
                  <a:schemeClr val="dk1"/>
                </a:solidFill>
                <a:highlight>
                  <a:srgbClr val="FFFFFF"/>
                </a:highlight>
                <a:latin typeface="Consolas"/>
                <a:ea typeface="Consolas"/>
                <a:cs typeface="Consolas"/>
                <a:sym typeface="Consolas"/>
              </a:rPr>
              <a:t> *p;     </a:t>
            </a:r>
            <a:r>
              <a:rPr lang="en" sz="1250">
                <a:solidFill>
                  <a:srgbClr val="008000"/>
                </a:solidFill>
                <a:highlight>
                  <a:srgbClr val="FFFFFF"/>
                </a:highlight>
                <a:latin typeface="Consolas"/>
                <a:ea typeface="Consolas"/>
                <a:cs typeface="Consolas"/>
                <a:sym typeface="Consolas"/>
              </a:rPr>
              <a:t>/* 8 bytes */</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char</a:t>
            </a:r>
            <a:r>
              <a:rPr lang="en" sz="1250">
                <a:solidFill>
                  <a:schemeClr val="dk1"/>
                </a:solidFill>
                <a:highlight>
                  <a:srgbClr val="FFFFFF"/>
                </a:highlight>
                <a:latin typeface="Consolas"/>
                <a:ea typeface="Consolas"/>
                <a:cs typeface="Consolas"/>
                <a:sym typeface="Consolas"/>
              </a:rPr>
              <a:t> c;      </a:t>
            </a:r>
            <a:r>
              <a:rPr lang="en" sz="1250">
                <a:solidFill>
                  <a:srgbClr val="008000"/>
                </a:solidFill>
                <a:highlight>
                  <a:srgbClr val="FFFFFF"/>
                </a:highlight>
                <a:latin typeface="Consolas"/>
                <a:ea typeface="Consolas"/>
                <a:cs typeface="Consolas"/>
                <a:sym typeface="Consolas"/>
              </a:rPr>
              <a:t>/* 1 byte */</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char</a:t>
            </a:r>
            <a:r>
              <a:rPr lang="en" sz="1250">
                <a:solidFill>
                  <a:schemeClr val="dk1"/>
                </a:solidFill>
                <a:highlight>
                  <a:srgbClr val="FFFFFF"/>
                </a:highlight>
                <a:latin typeface="Consolas"/>
                <a:ea typeface="Consolas"/>
                <a:cs typeface="Consolas"/>
                <a:sym typeface="Consolas"/>
              </a:rPr>
              <a:t> pad[</a:t>
            </a:r>
            <a:r>
              <a:rPr lang="en" sz="1250">
                <a:solidFill>
                  <a:srgbClr val="098658"/>
                </a:solidFill>
                <a:highlight>
                  <a:srgbClr val="FFFFFF"/>
                </a:highlight>
                <a:latin typeface="Consolas"/>
                <a:ea typeface="Consolas"/>
                <a:cs typeface="Consolas"/>
                <a:sym typeface="Consolas"/>
              </a:rPr>
              <a:t>7</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7 bytes */</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long</a:t>
            </a:r>
            <a:r>
              <a:rPr lang="en" sz="1250">
                <a:solidFill>
                  <a:schemeClr val="dk1"/>
                </a:solidFill>
                <a:highlight>
                  <a:srgbClr val="FFFFFF"/>
                </a:highlight>
                <a:latin typeface="Consolas"/>
                <a:ea typeface="Consolas"/>
                <a:cs typeface="Consolas"/>
                <a:sym typeface="Consolas"/>
              </a:rPr>
              <a:t> x;      </a:t>
            </a:r>
            <a:r>
              <a:rPr lang="en" sz="1250">
                <a:solidFill>
                  <a:srgbClr val="008000"/>
                </a:solidFill>
                <a:highlight>
                  <a:srgbClr val="FFFFFF"/>
                </a:highlight>
                <a:latin typeface="Consolas"/>
                <a:ea typeface="Consolas"/>
                <a:cs typeface="Consolas"/>
                <a:sym typeface="Consolas"/>
              </a:rPr>
              <a:t>/* 8 bytes */</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a:t>
            </a:r>
            <a:endParaRPr sz="1450">
              <a:solidFill>
                <a:srgbClr val="008000"/>
              </a:solidFill>
              <a:highlight>
                <a:srgbClr val="FFFFFF"/>
              </a:highlight>
              <a:latin typeface="Consolas"/>
              <a:ea typeface="Consolas"/>
              <a:cs typeface="Consolas"/>
              <a:sym typeface="Consolas"/>
            </a:endParaRPr>
          </a:p>
        </p:txBody>
      </p:sp>
      <p:cxnSp>
        <p:nvCxnSpPr>
          <p:cNvPr id="336" name="Google Shape;336;p51"/>
          <p:cNvCxnSpPr>
            <a:stCxn id="337" idx="2"/>
            <a:endCxn id="335" idx="0"/>
          </p:cNvCxnSpPr>
          <p:nvPr/>
        </p:nvCxnSpPr>
        <p:spPr>
          <a:xfrm>
            <a:off x="4159900" y="2043600"/>
            <a:ext cx="1608600" cy="528300"/>
          </a:xfrm>
          <a:prstGeom prst="straightConnector1">
            <a:avLst/>
          </a:prstGeom>
          <a:noFill/>
          <a:ln cap="flat" cmpd="sng" w="9525">
            <a:solidFill>
              <a:schemeClr val="dk2"/>
            </a:solidFill>
            <a:prstDash val="solid"/>
            <a:round/>
            <a:headEnd len="med" w="med" type="none"/>
            <a:tailEnd len="med" w="med" type="triangle"/>
          </a:ln>
        </p:spPr>
      </p:cxnSp>
      <p:sp>
        <p:nvSpPr>
          <p:cNvPr id="337" name="Google Shape;337;p51"/>
          <p:cNvSpPr txBox="1"/>
          <p:nvPr/>
        </p:nvSpPr>
        <p:spPr>
          <a:xfrm>
            <a:off x="2191600" y="1458600"/>
            <a:ext cx="3936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Georgia"/>
                <a:ea typeface="Georgia"/>
                <a:cs typeface="Georgia"/>
                <a:sym typeface="Georgia"/>
              </a:rPr>
              <a:t>a struct instance will have the alignment of its widest scalar member.</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1000"/>
                                        <p:tgtEl>
                                          <p:spTgt spid="335"/>
                                        </p:tgtEl>
                                      </p:cBhvr>
                                    </p:animEffect>
                                  </p:childTnLst>
                                </p:cTn>
                              </p:par>
                              <p:par>
                                <p:cTn fill="hold" nodeType="with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2"/>
          <p:cNvSpPr txBox="1"/>
          <p:nvPr>
            <p:ph type="title"/>
          </p:nvPr>
        </p:nvSpPr>
        <p:spPr>
          <a:xfrm>
            <a:off x="118475" y="339650"/>
            <a:ext cx="85515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Structure alignment and packing</a:t>
            </a:r>
            <a:endParaRPr/>
          </a:p>
        </p:txBody>
      </p:sp>
      <p:sp>
        <p:nvSpPr>
          <p:cNvPr id="343" name="Google Shape;343;p52"/>
          <p:cNvSpPr txBox="1"/>
          <p:nvPr>
            <p:ph idx="2" type="body"/>
          </p:nvPr>
        </p:nvSpPr>
        <p:spPr>
          <a:xfrm>
            <a:off x="313550" y="1075075"/>
            <a:ext cx="1841100" cy="13980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50">
                <a:solidFill>
                  <a:srgbClr val="0000FF"/>
                </a:solidFill>
                <a:highlight>
                  <a:srgbClr val="FFFFFF"/>
                </a:highlight>
              </a:rPr>
              <a:t>struct</a:t>
            </a:r>
            <a:r>
              <a:rPr lang="en" sz="1250">
                <a:solidFill>
                  <a:schemeClr val="dk1"/>
                </a:solidFill>
                <a:highlight>
                  <a:srgbClr val="FFFFFF"/>
                </a:highlight>
              </a:rPr>
              <a:t> </a:t>
            </a:r>
            <a:r>
              <a:rPr lang="en" sz="1250">
                <a:solidFill>
                  <a:srgbClr val="2B91AF"/>
                </a:solidFill>
                <a:highlight>
                  <a:srgbClr val="FFFFFF"/>
                </a:highlight>
              </a:rPr>
              <a:t>foo2</a:t>
            </a:r>
            <a:r>
              <a:rPr lang="en" sz="1250">
                <a:solidFill>
                  <a:schemeClr val="dk1"/>
                </a:solidFill>
                <a:highlight>
                  <a:srgbClr val="FFFFFF"/>
                </a:highlight>
              </a:rPr>
              <a:t> {</a:t>
            </a:r>
            <a:endParaRPr sz="1250">
              <a:solidFill>
                <a:schemeClr val="dk1"/>
              </a:solidFill>
              <a:highlight>
                <a:srgbClr val="FFFFFF"/>
              </a:highlight>
            </a:endParaRPr>
          </a:p>
          <a:p>
            <a:pPr indent="0" lvl="0" marL="0" rtl="0" algn="l">
              <a:lnSpc>
                <a:spcPct val="135714"/>
              </a:lnSpc>
              <a:spcBef>
                <a:spcPts val="0"/>
              </a:spcBef>
              <a:spcAft>
                <a:spcPts val="0"/>
              </a:spcAft>
              <a:buNone/>
            </a:pPr>
            <a:r>
              <a:rPr lang="en" sz="1250">
                <a:solidFill>
                  <a:schemeClr val="dk1"/>
                </a:solidFill>
                <a:highlight>
                  <a:schemeClr val="accent6"/>
                </a:highlight>
              </a:rPr>
              <a:t>   </a:t>
            </a:r>
            <a:r>
              <a:rPr lang="en" sz="1250">
                <a:solidFill>
                  <a:srgbClr val="0000FF"/>
                </a:solidFill>
                <a:highlight>
                  <a:schemeClr val="accent6"/>
                </a:highlight>
              </a:rPr>
              <a:t>char</a:t>
            </a:r>
            <a:r>
              <a:rPr lang="en" sz="1250">
                <a:solidFill>
                  <a:schemeClr val="dk1"/>
                </a:solidFill>
                <a:highlight>
                  <a:schemeClr val="accent6"/>
                </a:highlight>
              </a:rPr>
              <a:t> c;</a:t>
            </a:r>
            <a:endParaRPr sz="1250">
              <a:solidFill>
                <a:schemeClr val="dk1"/>
              </a:solidFill>
              <a:highlight>
                <a:schemeClr val="accent6"/>
              </a:highlight>
            </a:endParaRPr>
          </a:p>
          <a:p>
            <a:pPr indent="0" lvl="0" marL="0" rtl="0" algn="l">
              <a:lnSpc>
                <a:spcPct val="135714"/>
              </a:lnSpc>
              <a:spcBef>
                <a:spcPts val="0"/>
              </a:spcBef>
              <a:spcAft>
                <a:spcPts val="0"/>
              </a:spcAft>
              <a:buNone/>
            </a:pPr>
            <a:r>
              <a:rPr lang="en" sz="1250">
                <a:solidFill>
                  <a:srgbClr val="0000FF"/>
                </a:solidFill>
                <a:highlight>
                  <a:schemeClr val="accent6"/>
                </a:highlight>
              </a:rPr>
              <a:t>   char</a:t>
            </a:r>
            <a:r>
              <a:rPr lang="en" sz="1250">
                <a:solidFill>
                  <a:schemeClr val="dk1"/>
                </a:solidFill>
                <a:highlight>
                  <a:schemeClr val="accent6"/>
                </a:highlight>
              </a:rPr>
              <a:t> *p;</a:t>
            </a:r>
            <a:endParaRPr sz="1250">
              <a:solidFill>
                <a:schemeClr val="dk1"/>
              </a:solidFill>
              <a:highlight>
                <a:schemeClr val="accent6"/>
              </a:highlight>
            </a:endParaRPr>
          </a:p>
          <a:p>
            <a:pPr indent="0" lvl="0" marL="0" rtl="0" algn="l">
              <a:lnSpc>
                <a:spcPct val="135714"/>
              </a:lnSpc>
              <a:spcBef>
                <a:spcPts val="0"/>
              </a:spcBef>
              <a:spcAft>
                <a:spcPts val="0"/>
              </a:spcAft>
              <a:buNone/>
            </a:pPr>
            <a:r>
              <a:rPr lang="en" sz="1250">
                <a:solidFill>
                  <a:schemeClr val="dk1"/>
                </a:solidFill>
                <a:highlight>
                  <a:srgbClr val="FFFFFF"/>
                </a:highlight>
              </a:rPr>
              <a:t>   </a:t>
            </a:r>
            <a:r>
              <a:rPr lang="en" sz="1250">
                <a:solidFill>
                  <a:srgbClr val="0000FF"/>
                </a:solidFill>
                <a:highlight>
                  <a:srgbClr val="FFFFFF"/>
                </a:highlight>
              </a:rPr>
              <a:t>long</a:t>
            </a:r>
            <a:r>
              <a:rPr lang="en" sz="1250">
                <a:solidFill>
                  <a:schemeClr val="dk1"/>
                </a:solidFill>
                <a:highlight>
                  <a:srgbClr val="FFFFFF"/>
                </a:highlight>
              </a:rPr>
              <a:t> x;</a:t>
            </a:r>
            <a:endParaRPr sz="1250">
              <a:solidFill>
                <a:schemeClr val="dk1"/>
              </a:solidFill>
              <a:highlight>
                <a:srgbClr val="FFFFFF"/>
              </a:highlight>
            </a:endParaRPr>
          </a:p>
          <a:p>
            <a:pPr indent="0" lvl="0" marL="0" rtl="0" algn="l">
              <a:lnSpc>
                <a:spcPct val="135714"/>
              </a:lnSpc>
              <a:spcBef>
                <a:spcPts val="0"/>
              </a:spcBef>
              <a:spcAft>
                <a:spcPts val="0"/>
              </a:spcAft>
              <a:buNone/>
            </a:pPr>
            <a:r>
              <a:rPr lang="en" sz="1250">
                <a:solidFill>
                  <a:schemeClr val="dk1"/>
                </a:solidFill>
                <a:highlight>
                  <a:srgbClr val="FFFFFF"/>
                </a:highlight>
              </a:rPr>
              <a:t>};</a:t>
            </a:r>
            <a:endParaRPr sz="1250">
              <a:solidFill>
                <a:schemeClr val="dk1"/>
              </a:solidFill>
              <a:highlight>
                <a:srgbClr val="FFFFFF"/>
              </a:highlight>
            </a:endParaRPr>
          </a:p>
          <a:p>
            <a:pPr indent="0" lvl="0" marL="0" rtl="0" algn="l">
              <a:lnSpc>
                <a:spcPct val="135714"/>
              </a:lnSpc>
              <a:spcBef>
                <a:spcPts val="0"/>
              </a:spcBef>
              <a:spcAft>
                <a:spcPts val="0"/>
              </a:spcAft>
              <a:buNone/>
            </a:pPr>
            <a:r>
              <a:t/>
            </a:r>
            <a:endParaRPr sz="1450">
              <a:solidFill>
                <a:srgbClr val="0000FF"/>
              </a:solidFill>
              <a:highlight>
                <a:srgbClr val="FFFFFF"/>
              </a:highlight>
            </a:endParaRPr>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lnSpc>
                <a:spcPct val="135714"/>
              </a:lnSpc>
              <a:spcBef>
                <a:spcPts val="0"/>
              </a:spcBef>
              <a:spcAft>
                <a:spcPts val="0"/>
              </a:spcAft>
              <a:buNone/>
            </a:pPr>
            <a:r>
              <a:t/>
            </a:r>
            <a:endParaRPr sz="1650">
              <a:solidFill>
                <a:srgbClr val="008000"/>
              </a:solidFill>
              <a:highlight>
                <a:srgbClr val="FFFFFF"/>
              </a:highlight>
            </a:endParaRPr>
          </a:p>
          <a:p>
            <a:pPr indent="0" lvl="0" marL="0" rtl="0" algn="l">
              <a:spcBef>
                <a:spcPts val="0"/>
              </a:spcBef>
              <a:spcAft>
                <a:spcPts val="0"/>
              </a:spcAft>
              <a:buNone/>
            </a:pPr>
            <a:r>
              <a:t/>
            </a:r>
            <a:endParaRPr sz="1600"/>
          </a:p>
        </p:txBody>
      </p:sp>
      <p:sp>
        <p:nvSpPr>
          <p:cNvPr id="344" name="Google Shape;344;p52"/>
          <p:cNvSpPr txBox="1"/>
          <p:nvPr/>
        </p:nvSpPr>
        <p:spPr>
          <a:xfrm>
            <a:off x="3650200" y="2571750"/>
            <a:ext cx="4236600" cy="2805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rgbClr val="008000"/>
                </a:solidFill>
                <a:highlight>
                  <a:srgbClr val="FFFFFF"/>
                </a:highlight>
                <a:latin typeface="Consolas"/>
                <a:ea typeface="Consolas"/>
                <a:cs typeface="Consolas"/>
                <a:sym typeface="Consolas"/>
              </a:rPr>
              <a:t>/*</a:t>
            </a:r>
            <a:endParaRPr b="1"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rgbClr val="008000"/>
                </a:solidFill>
                <a:highlight>
                  <a:srgbClr val="FFFFFF"/>
                </a:highlight>
                <a:latin typeface="Consolas"/>
                <a:ea typeface="Consolas"/>
                <a:cs typeface="Consolas"/>
                <a:sym typeface="Consolas"/>
              </a:rPr>
              <a:t>x is 8-byte</a:t>
            </a:r>
            <a:endParaRPr b="1"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rgbClr val="008000"/>
                </a:solidFill>
                <a:highlight>
                  <a:srgbClr val="FFFFFF"/>
                </a:highlight>
                <a:latin typeface="Consolas"/>
                <a:ea typeface="Consolas"/>
                <a:cs typeface="Consolas"/>
                <a:sym typeface="Consolas"/>
              </a:rPr>
              <a:t>struct foo2 will have </a:t>
            </a:r>
            <a:r>
              <a:rPr b="1" lang="en" sz="1350">
                <a:solidFill>
                  <a:srgbClr val="008000"/>
                </a:solidFill>
                <a:highlight>
                  <a:schemeClr val="accent6"/>
                </a:highlight>
                <a:latin typeface="Consolas"/>
                <a:ea typeface="Consolas"/>
                <a:cs typeface="Consolas"/>
                <a:sym typeface="Consolas"/>
              </a:rPr>
              <a:t>8 byte</a:t>
            </a:r>
            <a:r>
              <a:rPr b="1" lang="en" sz="1350">
                <a:solidFill>
                  <a:srgbClr val="008000"/>
                </a:solidFill>
                <a:highlight>
                  <a:srgbClr val="FFFFFF"/>
                </a:highlight>
                <a:latin typeface="Consolas"/>
                <a:ea typeface="Consolas"/>
                <a:cs typeface="Consolas"/>
                <a:sym typeface="Consolas"/>
              </a:rPr>
              <a:t> alignment*/</a:t>
            </a:r>
            <a:endParaRPr b="1"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rgbClr val="0000FF"/>
                </a:solidFill>
                <a:highlight>
                  <a:srgbClr val="FFFFFF"/>
                </a:highlight>
                <a:latin typeface="Consolas"/>
                <a:ea typeface="Consolas"/>
                <a:cs typeface="Consolas"/>
                <a:sym typeface="Consolas"/>
              </a:rPr>
              <a:t>struct</a:t>
            </a: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foo2</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c;      </a:t>
            </a:r>
            <a:r>
              <a:rPr b="1" lang="en" sz="1250">
                <a:solidFill>
                  <a:srgbClr val="008000"/>
                </a:solidFill>
                <a:highlight>
                  <a:srgbClr val="FFFFFF"/>
                </a:highlight>
                <a:latin typeface="Consolas"/>
                <a:ea typeface="Consolas"/>
                <a:cs typeface="Consolas"/>
                <a:sym typeface="Consolas"/>
              </a:rPr>
              <a:t>/* 1 byte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pad[</a:t>
            </a:r>
            <a:r>
              <a:rPr b="1" lang="en" sz="1250">
                <a:solidFill>
                  <a:srgbClr val="098658"/>
                </a:solidFill>
                <a:highlight>
                  <a:srgbClr val="FFFFFF"/>
                </a:highlight>
                <a:latin typeface="Consolas"/>
                <a:ea typeface="Consolas"/>
                <a:cs typeface="Consolas"/>
                <a:sym typeface="Consolas"/>
              </a:rPr>
              <a:t>7</a:t>
            </a: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7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*p;     </a:t>
            </a:r>
            <a:r>
              <a:rPr b="1" lang="en" sz="1250">
                <a:solidFill>
                  <a:srgbClr val="008000"/>
                </a:solidFill>
                <a:highlight>
                  <a:srgbClr val="FFFFFF"/>
                </a:highlight>
                <a:latin typeface="Consolas"/>
                <a:ea typeface="Consolas"/>
                <a:cs typeface="Consolas"/>
                <a:sym typeface="Consolas"/>
              </a:rPr>
              <a:t>/* 8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long</a:t>
            </a:r>
            <a:r>
              <a:rPr b="1" lang="en" sz="1250">
                <a:solidFill>
                  <a:schemeClr val="dk1"/>
                </a:solidFill>
                <a:highlight>
                  <a:srgbClr val="FFFFFF"/>
                </a:highlight>
                <a:latin typeface="Consolas"/>
                <a:ea typeface="Consolas"/>
                <a:cs typeface="Consolas"/>
                <a:sym typeface="Consolas"/>
              </a:rPr>
              <a:t> x;      </a:t>
            </a:r>
            <a:r>
              <a:rPr b="1" lang="en" sz="1250">
                <a:solidFill>
                  <a:srgbClr val="008000"/>
                </a:solidFill>
                <a:highlight>
                  <a:srgbClr val="FFFFFF"/>
                </a:highlight>
                <a:latin typeface="Consolas"/>
                <a:ea typeface="Consolas"/>
                <a:cs typeface="Consolas"/>
                <a:sym typeface="Consolas"/>
              </a:rPr>
              <a:t>/* 8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sz="1350">
              <a:solidFill>
                <a:srgbClr val="0000FF"/>
              </a:solidFill>
              <a:highlight>
                <a:srgbClr val="FFFFFF"/>
              </a:highlight>
              <a:latin typeface="Consolas"/>
              <a:ea typeface="Consolas"/>
              <a:cs typeface="Consolas"/>
              <a:sym typeface="Consolas"/>
            </a:endParaRPr>
          </a:p>
        </p:txBody>
      </p:sp>
      <p:cxnSp>
        <p:nvCxnSpPr>
          <p:cNvPr id="345" name="Google Shape;345;p52"/>
          <p:cNvCxnSpPr>
            <a:stCxn id="346" idx="2"/>
          </p:cNvCxnSpPr>
          <p:nvPr/>
        </p:nvCxnSpPr>
        <p:spPr>
          <a:xfrm>
            <a:off x="3691600" y="1981800"/>
            <a:ext cx="1750500" cy="1105800"/>
          </a:xfrm>
          <a:prstGeom prst="straightConnector1">
            <a:avLst/>
          </a:prstGeom>
          <a:noFill/>
          <a:ln cap="flat" cmpd="sng" w="9525">
            <a:solidFill>
              <a:schemeClr val="dk2"/>
            </a:solidFill>
            <a:prstDash val="solid"/>
            <a:round/>
            <a:headEnd len="med" w="med" type="none"/>
            <a:tailEnd len="med" w="med" type="triangle"/>
          </a:ln>
        </p:spPr>
      </p:cxnSp>
      <p:sp>
        <p:nvSpPr>
          <p:cNvPr id="346" name="Google Shape;346;p52"/>
          <p:cNvSpPr txBox="1"/>
          <p:nvPr/>
        </p:nvSpPr>
        <p:spPr>
          <a:xfrm>
            <a:off x="2191600" y="145860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Georgia"/>
                <a:ea typeface="Georgia"/>
                <a:cs typeface="Georgia"/>
                <a:sym typeface="Georgia"/>
              </a:rPr>
              <a:t>Changing the order of the members will change the alignment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par>
                                <p:cTn fill="hold" nodeType="with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3"/>
          <p:cNvSpPr txBox="1"/>
          <p:nvPr>
            <p:ph idx="1" type="body"/>
          </p:nvPr>
        </p:nvSpPr>
        <p:spPr>
          <a:xfrm>
            <a:off x="5528375" y="1208350"/>
            <a:ext cx="3451800" cy="32841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150">
                <a:solidFill>
                  <a:srgbClr val="0000FF"/>
                </a:solidFill>
                <a:highlight>
                  <a:srgbClr val="FFFFFF"/>
                </a:highlight>
                <a:latin typeface="Consolas"/>
                <a:ea typeface="Consolas"/>
                <a:cs typeface="Consolas"/>
                <a:sym typeface="Consolas"/>
              </a:rPr>
              <a:t>sizeof</a:t>
            </a:r>
            <a:r>
              <a:rPr b="1" lang="en" sz="1150">
                <a:solidFill>
                  <a:schemeClr val="dk1"/>
                </a:solidFill>
                <a:highlight>
                  <a:srgbClr val="FFFFFF"/>
                </a:highlight>
                <a:latin typeface="Consolas"/>
                <a:ea typeface="Consolas"/>
                <a:cs typeface="Consolas"/>
                <a:sym typeface="Consolas"/>
              </a:rPr>
              <a:t>(</a:t>
            </a: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foo3)</a:t>
            </a:r>
            <a:endParaRPr b="1" sz="11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t/>
            </a:r>
            <a:endParaRPr b="1" sz="11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foo3 {</a:t>
            </a:r>
            <a:endParaRPr b="1" sz="11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*p;     </a:t>
            </a:r>
            <a:r>
              <a:rPr b="1" lang="en" sz="1150">
                <a:solidFill>
                  <a:srgbClr val="008000"/>
                </a:solidFill>
                <a:highlight>
                  <a:srgbClr val="FFFFFF"/>
                </a:highlight>
                <a:latin typeface="Consolas"/>
                <a:ea typeface="Consolas"/>
                <a:cs typeface="Consolas"/>
                <a:sym typeface="Consolas"/>
              </a:rPr>
              <a:t>/* 8 bytes */</a:t>
            </a:r>
            <a:endParaRPr b="1" sz="11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c;      </a:t>
            </a:r>
            <a:r>
              <a:rPr b="1" lang="en" sz="1150">
                <a:solidFill>
                  <a:srgbClr val="008000"/>
                </a:solidFill>
                <a:highlight>
                  <a:srgbClr val="FFFFFF"/>
                </a:highlight>
                <a:latin typeface="Consolas"/>
                <a:ea typeface="Consolas"/>
                <a:cs typeface="Consolas"/>
                <a:sym typeface="Consolas"/>
              </a:rPr>
              <a:t>/* 1 byte */</a:t>
            </a:r>
            <a:endParaRPr b="1" sz="11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a:t>
            </a:r>
            <a:r>
              <a:rPr b="1" lang="en" sz="1150">
                <a:solidFill>
                  <a:srgbClr val="1F377F"/>
                </a:solidFill>
                <a:highlight>
                  <a:srgbClr val="FFFFFF"/>
                </a:highlight>
                <a:latin typeface="Consolas"/>
                <a:ea typeface="Consolas"/>
                <a:cs typeface="Consolas"/>
                <a:sym typeface="Consolas"/>
              </a:rPr>
              <a:t>pad</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7</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b="1" sz="1300">
              <a:latin typeface="Consolas"/>
              <a:ea typeface="Consolas"/>
              <a:cs typeface="Consolas"/>
              <a:sym typeface="Consolas"/>
            </a:endParaRPr>
          </a:p>
        </p:txBody>
      </p:sp>
      <p:sp>
        <p:nvSpPr>
          <p:cNvPr id="352" name="Google Shape;352;p53"/>
          <p:cNvSpPr txBox="1"/>
          <p:nvPr>
            <p:ph idx="2" type="body"/>
          </p:nvPr>
        </p:nvSpPr>
        <p:spPr>
          <a:xfrm>
            <a:off x="372775" y="1124375"/>
            <a:ext cx="3964500" cy="3856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stdio.h</a:t>
            </a:r>
            <a:r>
              <a:rPr b="1" lang="en" sz="1250">
                <a:solidFill>
                  <a:srgbClr val="E21F1F"/>
                </a:solidFill>
                <a:highlight>
                  <a:srgbClr val="FFFFFF"/>
                </a:highlight>
              </a:rPr>
              <a:t>&gt;</a:t>
            </a:r>
            <a:endParaRPr b="1" sz="12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foo3 </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*p; </a:t>
            </a:r>
            <a:r>
              <a:rPr b="1" lang="en" sz="1250">
                <a:solidFill>
                  <a:srgbClr val="008000"/>
                </a:solidFill>
                <a:highlight>
                  <a:srgbClr val="FFFFFF"/>
                </a:highlight>
              </a:rPr>
              <a:t>/* 8 bytes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c;  </a:t>
            </a:r>
            <a:r>
              <a:rPr b="1" lang="en" sz="1250">
                <a:solidFill>
                  <a:srgbClr val="008000"/>
                </a:solidFill>
                <a:highlight>
                  <a:srgbClr val="FFFFFF"/>
                </a:highlight>
              </a:rPr>
              <a:t>/* 1 byte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int</a:t>
            </a:r>
            <a:r>
              <a:rPr b="1" lang="en" sz="1250">
                <a:solidFill>
                  <a:schemeClr val="dk1"/>
                </a:solidFill>
                <a:highlight>
                  <a:srgbClr val="FFFFFF"/>
                </a:highlight>
              </a:rPr>
              <a:t> </a:t>
            </a:r>
            <a:r>
              <a:rPr b="1" lang="en" sz="1250">
                <a:solidFill>
                  <a:srgbClr val="74531F"/>
                </a:solidFill>
                <a:highlight>
                  <a:srgbClr val="FFFFFF"/>
                </a:highlight>
              </a:rPr>
              <a:t>main</a:t>
            </a: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foo3</a:t>
            </a:r>
            <a:r>
              <a:rPr b="1" lang="en" sz="1250">
                <a:solidFill>
                  <a:schemeClr val="dk1"/>
                </a:solidFill>
                <a:highlight>
                  <a:srgbClr val="FFFFFF"/>
                </a:highlight>
              </a:rPr>
              <a:t> </a:t>
            </a:r>
            <a:r>
              <a:rPr b="1" lang="en" sz="1250">
                <a:solidFill>
                  <a:srgbClr val="1F377F"/>
                </a:solidFill>
                <a:highlight>
                  <a:srgbClr val="FFFFFF"/>
                </a:highlight>
              </a:rPr>
              <a:t>singleton</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foo3</a:t>
            </a:r>
            <a:r>
              <a:rPr b="1" lang="en" sz="1250">
                <a:solidFill>
                  <a:schemeClr val="dk1"/>
                </a:solidFill>
                <a:highlight>
                  <a:srgbClr val="FFFFFF"/>
                </a:highlight>
              </a:rPr>
              <a:t> </a:t>
            </a:r>
            <a:r>
              <a:rPr b="1" lang="en" sz="1250">
                <a:solidFill>
                  <a:srgbClr val="1F377F"/>
                </a:solidFill>
                <a:highlight>
                  <a:srgbClr val="FFFFFF"/>
                </a:highlight>
              </a:rPr>
              <a:t>quad</a:t>
            </a:r>
            <a:r>
              <a:rPr b="1" lang="en" sz="1250">
                <a:solidFill>
                  <a:schemeClr val="dk1"/>
                </a:solidFill>
                <a:highlight>
                  <a:srgbClr val="FFFFFF"/>
                </a:highlight>
              </a:rPr>
              <a:t>[</a:t>
            </a:r>
            <a:r>
              <a:rPr b="1" lang="en" sz="1250">
                <a:solidFill>
                  <a:srgbClr val="098658"/>
                </a:solidFill>
                <a:highlight>
                  <a:srgbClr val="FFFFFF"/>
                </a:highlight>
              </a:rPr>
              <a:t>4</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None/>
            </a:pPr>
            <a:r>
              <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rgbClr val="008000"/>
                </a:solidFill>
                <a:highlight>
                  <a:srgbClr val="FFFFFF"/>
                </a:highlight>
              </a:rPr>
              <a:t>   /*on 64 bit machine,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printf</a:t>
            </a:r>
            <a:r>
              <a:rPr b="1" lang="en" sz="1250">
                <a:solidFill>
                  <a:schemeClr val="dk1"/>
                </a:solidFill>
                <a:highlight>
                  <a:srgbClr val="FFFFFF"/>
                </a:highlight>
              </a:rPr>
              <a:t>(</a:t>
            </a:r>
            <a:r>
              <a:rPr b="1" lang="en" sz="1250">
                <a:solidFill>
                  <a:srgbClr val="E21F1F"/>
                </a:solidFill>
                <a:highlight>
                  <a:srgbClr val="FFFFFF"/>
                </a:highlight>
              </a:rPr>
              <a:t>"</a:t>
            </a:r>
            <a:r>
              <a:rPr b="1" lang="en" sz="1250">
                <a:solidFill>
                  <a:srgbClr val="1F377F"/>
                </a:solidFill>
                <a:highlight>
                  <a:srgbClr val="FFFFFF"/>
                </a:highlight>
              </a:rPr>
              <a:t>%lu</a:t>
            </a:r>
            <a:r>
              <a:rPr b="1" lang="en" sz="1250">
                <a:solidFill>
                  <a:srgbClr val="B776FB"/>
                </a:solidFill>
                <a:highlight>
                  <a:srgbClr val="FFFFFF"/>
                </a:highlight>
              </a:rPr>
              <a:t>\n</a:t>
            </a:r>
            <a:r>
              <a:rPr b="1" lang="en" sz="1250">
                <a:solidFill>
                  <a:srgbClr val="E21F1F"/>
                </a:solidFill>
                <a:highlight>
                  <a:srgbClr val="FFFFFF"/>
                </a:highlight>
              </a:rPr>
              <a:t>"</a:t>
            </a:r>
            <a:r>
              <a:rPr b="1" lang="en" sz="1250">
                <a:solidFill>
                  <a:schemeClr val="dk1"/>
                </a:solidFill>
                <a:highlight>
                  <a:srgbClr val="FFFFFF"/>
                </a:highlight>
              </a:rPr>
              <a:t>, </a:t>
            </a:r>
            <a:r>
              <a:rPr b="1" lang="en" sz="1250">
                <a:solidFill>
                  <a:srgbClr val="0000FF"/>
                </a:solidFill>
                <a:highlight>
                  <a:schemeClr val="accent6"/>
                </a:highlight>
              </a:rPr>
              <a:t>sizeof</a:t>
            </a:r>
            <a:r>
              <a:rPr b="1" lang="en" sz="1250">
                <a:solidFill>
                  <a:schemeClr val="dk1"/>
                </a:solidFill>
                <a:highlight>
                  <a:schemeClr val="accent6"/>
                </a:highlight>
              </a:rPr>
              <a:t>(</a:t>
            </a:r>
            <a:r>
              <a:rPr b="1" lang="en" sz="1250">
                <a:solidFill>
                  <a:srgbClr val="1F377F"/>
                </a:solidFill>
                <a:highlight>
                  <a:schemeClr val="accent6"/>
                </a:highlight>
              </a:rPr>
              <a:t>singleton</a:t>
            </a:r>
            <a:r>
              <a:rPr b="1" lang="en" sz="1250">
                <a:solidFill>
                  <a:schemeClr val="dk1"/>
                </a:solidFill>
                <a:highlight>
                  <a:schemeClr val="accent6"/>
                </a:highlight>
              </a:rPr>
              <a: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printf</a:t>
            </a:r>
            <a:r>
              <a:rPr b="1" lang="en" sz="1250">
                <a:solidFill>
                  <a:schemeClr val="dk1"/>
                </a:solidFill>
                <a:highlight>
                  <a:srgbClr val="FFFFFF"/>
                </a:highlight>
              </a:rPr>
              <a:t>(</a:t>
            </a:r>
            <a:r>
              <a:rPr b="1" lang="en" sz="1250">
                <a:solidFill>
                  <a:srgbClr val="E21F1F"/>
                </a:solidFill>
                <a:highlight>
                  <a:srgbClr val="FFFFFF"/>
                </a:highlight>
              </a:rPr>
              <a:t>"</a:t>
            </a:r>
            <a:r>
              <a:rPr b="1" lang="en" sz="1250">
                <a:solidFill>
                  <a:srgbClr val="1F377F"/>
                </a:solidFill>
                <a:highlight>
                  <a:srgbClr val="FFFFFF"/>
                </a:highlight>
              </a:rPr>
              <a:t>%lu</a:t>
            </a:r>
            <a:r>
              <a:rPr b="1" lang="en" sz="1250">
                <a:solidFill>
                  <a:srgbClr val="B776FB"/>
                </a:solidFill>
                <a:highlight>
                  <a:srgbClr val="FFFFFF"/>
                </a:highlight>
              </a:rPr>
              <a:t>\n</a:t>
            </a:r>
            <a:r>
              <a:rPr b="1" lang="en" sz="1250">
                <a:solidFill>
                  <a:srgbClr val="E21F1F"/>
                </a:solidFill>
                <a:highlight>
                  <a:srgbClr val="FFFFFF"/>
                </a:highlight>
              </a:rPr>
              <a:t>"</a:t>
            </a:r>
            <a:r>
              <a:rPr b="1" lang="en" sz="1250">
                <a:solidFill>
                  <a:schemeClr val="dk1"/>
                </a:solidFill>
                <a:highlight>
                  <a:srgbClr val="FFFFFF"/>
                </a:highlight>
              </a:rPr>
              <a:t>, </a:t>
            </a:r>
            <a:r>
              <a:rPr b="1" lang="en" sz="1250">
                <a:solidFill>
                  <a:srgbClr val="0000FF"/>
                </a:solidFill>
                <a:highlight>
                  <a:schemeClr val="accent6"/>
                </a:highlight>
              </a:rPr>
              <a:t>sizeof</a:t>
            </a:r>
            <a:r>
              <a:rPr b="1" lang="en" sz="1250">
                <a:solidFill>
                  <a:schemeClr val="dk1"/>
                </a:solidFill>
                <a:highlight>
                  <a:schemeClr val="accent6"/>
                </a:highlight>
              </a:rPr>
              <a:t>(</a:t>
            </a:r>
            <a:r>
              <a:rPr b="1" lang="en" sz="1250">
                <a:solidFill>
                  <a:srgbClr val="1F377F"/>
                </a:solidFill>
                <a:highlight>
                  <a:schemeClr val="accent6"/>
                </a:highlight>
              </a:rPr>
              <a:t>quad</a:t>
            </a:r>
            <a:r>
              <a:rPr b="1" lang="en" sz="1250">
                <a:solidFill>
                  <a:schemeClr val="dk1"/>
                </a:solidFill>
                <a:highlight>
                  <a:schemeClr val="accent6"/>
                </a:highlight>
              </a:rPr>
              <a: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8F08C4"/>
                </a:solidFill>
                <a:highlight>
                  <a:srgbClr val="FFFFFF"/>
                </a:highlight>
              </a:rPr>
              <a:t>return</a:t>
            </a:r>
            <a:r>
              <a:rPr b="1" lang="en" sz="1250">
                <a:solidFill>
                  <a:schemeClr val="dk1"/>
                </a:solidFill>
                <a:highlight>
                  <a:srgbClr val="FFFFFF"/>
                </a:highlight>
              </a:rPr>
              <a:t> </a:t>
            </a:r>
            <a:r>
              <a:rPr b="1" lang="en" sz="1250">
                <a:solidFill>
                  <a:srgbClr val="098658"/>
                </a:solidFill>
                <a:highlight>
                  <a:srgbClr val="FFFFFF"/>
                </a:highlight>
              </a:rPr>
              <a:t>0</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4"/>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More examples</a:t>
            </a:r>
            <a:endParaRPr/>
          </a:p>
        </p:txBody>
      </p:sp>
      <p:sp>
        <p:nvSpPr>
          <p:cNvPr id="358" name="Google Shape;358;p54"/>
          <p:cNvSpPr txBox="1"/>
          <p:nvPr>
            <p:ph idx="1" type="body"/>
          </p:nvPr>
        </p:nvSpPr>
        <p:spPr>
          <a:xfrm>
            <a:off x="3797250" y="377600"/>
            <a:ext cx="5182800" cy="4543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150">
                <a:solidFill>
                  <a:srgbClr val="0000FF"/>
                </a:solidFill>
                <a:highlight>
                  <a:srgbClr val="FFFFFF"/>
                </a:highlight>
                <a:latin typeface="Consolas"/>
                <a:ea typeface="Consolas"/>
                <a:cs typeface="Consolas"/>
                <a:sym typeface="Consolas"/>
              </a:rPr>
              <a:t>sizeof</a:t>
            </a:r>
            <a:r>
              <a:rPr b="1" lang="en" sz="1150">
                <a:solidFill>
                  <a:schemeClr val="dk1"/>
                </a:solidFill>
                <a:highlight>
                  <a:srgbClr val="FFFFFF"/>
                </a:highlight>
                <a:latin typeface="Consolas"/>
                <a:ea typeface="Consolas"/>
                <a:cs typeface="Consolas"/>
                <a:sym typeface="Consolas"/>
              </a:rPr>
              <a:t>(</a:t>
            </a: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foo4)?</a:t>
            </a:r>
            <a:endParaRPr b="1" sz="1150">
              <a:solidFill>
                <a:schemeClr val="dk1"/>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None/>
            </a:pP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a:t>
            </a:r>
            <a:r>
              <a:rPr b="1" lang="en" sz="1150">
                <a:solidFill>
                  <a:srgbClr val="2B91AF"/>
                </a:solidFill>
                <a:highlight>
                  <a:srgbClr val="FFFFFF"/>
                </a:highlight>
                <a:latin typeface="Consolas"/>
                <a:ea typeface="Consolas"/>
                <a:cs typeface="Consolas"/>
                <a:sym typeface="Consolas"/>
              </a:rPr>
              <a:t>foo4</a:t>
            </a:r>
            <a:r>
              <a:rPr b="1" lang="en" sz="1150">
                <a:solidFill>
                  <a:schemeClr val="dk1"/>
                </a:solidFill>
                <a:highlight>
                  <a:srgbClr val="FFFFFF"/>
                </a:highlight>
                <a:latin typeface="Consolas"/>
                <a:ea typeface="Consolas"/>
                <a:cs typeface="Consolas"/>
                <a:sym typeface="Consolas"/>
              </a:rPr>
              <a:t> {</a:t>
            </a:r>
            <a:endParaRPr b="1" sz="1150">
              <a:solidFill>
                <a:schemeClr val="dk1"/>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short</a:t>
            </a:r>
            <a:r>
              <a:rPr b="1" lang="en" sz="1150">
                <a:solidFill>
                  <a:schemeClr val="dk1"/>
                </a:solidFill>
                <a:highlight>
                  <a:srgbClr val="FFFFFF"/>
                </a:highlight>
                <a:latin typeface="Consolas"/>
                <a:ea typeface="Consolas"/>
                <a:cs typeface="Consolas"/>
                <a:sym typeface="Consolas"/>
              </a:rPr>
              <a:t> s;     </a:t>
            </a:r>
            <a:r>
              <a:rPr b="1" lang="en" sz="1150">
                <a:solidFill>
                  <a:srgbClr val="008000"/>
                </a:solidFill>
                <a:highlight>
                  <a:srgbClr val="FFFFFF"/>
                </a:highlight>
                <a:latin typeface="Consolas"/>
                <a:ea typeface="Consolas"/>
                <a:cs typeface="Consolas"/>
                <a:sym typeface="Consolas"/>
              </a:rPr>
              <a:t>/* 2 bytes */</a:t>
            </a:r>
            <a:endParaRPr b="1" sz="1150">
              <a:solidFill>
                <a:srgbClr val="008000"/>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c;      </a:t>
            </a:r>
            <a:r>
              <a:rPr b="1" lang="en" sz="1150">
                <a:solidFill>
                  <a:srgbClr val="008000"/>
                </a:solidFill>
                <a:highlight>
                  <a:srgbClr val="FFFFFF"/>
                </a:highlight>
                <a:latin typeface="Consolas"/>
                <a:ea typeface="Consolas"/>
                <a:cs typeface="Consolas"/>
                <a:sym typeface="Consolas"/>
              </a:rPr>
              <a:t>/* 1 byte */</a:t>
            </a:r>
            <a:endParaRPr b="1" sz="1150">
              <a:solidFill>
                <a:srgbClr val="008000"/>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pad[</a:t>
            </a:r>
            <a:r>
              <a:rPr b="1" lang="en" sz="1150">
                <a:solidFill>
                  <a:srgbClr val="098658"/>
                </a:solidFill>
                <a:highlight>
                  <a:srgbClr val="FFFFFF"/>
                </a:highlight>
                <a:latin typeface="Consolas"/>
                <a:ea typeface="Consolas"/>
                <a:cs typeface="Consolas"/>
                <a:sym typeface="Consolas"/>
              </a:rPr>
              <a:t>1</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50">
                <a:solidFill>
                  <a:srgbClr val="0000FF"/>
                </a:solidFill>
                <a:highlight>
                  <a:srgbClr val="FFFFFF"/>
                </a:highlight>
                <a:latin typeface="Consolas"/>
                <a:ea typeface="Consolas"/>
                <a:cs typeface="Consolas"/>
                <a:sym typeface="Consolas"/>
              </a:rPr>
              <a:t>sizeof</a:t>
            </a:r>
            <a:r>
              <a:rPr b="1" lang="en" sz="1150">
                <a:solidFill>
                  <a:schemeClr val="dk1"/>
                </a:solidFill>
                <a:highlight>
                  <a:srgbClr val="FFFFFF"/>
                </a:highlight>
                <a:latin typeface="Consolas"/>
                <a:ea typeface="Consolas"/>
                <a:cs typeface="Consolas"/>
                <a:sym typeface="Consolas"/>
              </a:rPr>
              <a:t>(</a:t>
            </a: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foo5)?</a:t>
            </a:r>
            <a:endParaRPr b="1" sz="1150">
              <a:solidFill>
                <a:schemeClr val="dk1"/>
              </a:solidFill>
              <a:highlight>
                <a:srgbClr val="FFFFFF"/>
              </a:highlight>
              <a:latin typeface="Consolas"/>
              <a:ea typeface="Consolas"/>
              <a:cs typeface="Consolas"/>
              <a:sym typeface="Consolas"/>
            </a:endParaRPr>
          </a:p>
          <a:p>
            <a:pPr indent="-304800" lvl="0" marL="457200" rtl="0" algn="l">
              <a:lnSpc>
                <a:spcPct val="135714"/>
              </a:lnSpc>
              <a:spcBef>
                <a:spcPts val="0"/>
              </a:spcBef>
              <a:spcAft>
                <a:spcPts val="0"/>
              </a:spcAft>
              <a:buSzPts val="1200"/>
              <a:buChar char="●"/>
            </a:pP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*p </a:t>
            </a:r>
            <a:r>
              <a:rPr b="1" lang="en" sz="1300">
                <a:latin typeface="Consolas"/>
                <a:ea typeface="Consolas"/>
                <a:cs typeface="Consolas"/>
                <a:sym typeface="Consolas"/>
              </a:rPr>
              <a:t>member in the inner struct forces the outer struct to be pointer-aligned as well as the inner.</a:t>
            </a:r>
            <a:endParaRPr b="1" sz="1150">
              <a:solidFill>
                <a:schemeClr val="dk1"/>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foo5 {</a:t>
            </a:r>
            <a:endParaRPr b="1" sz="1150">
              <a:solidFill>
                <a:schemeClr val="dk1"/>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c;           </a:t>
            </a:r>
            <a:r>
              <a:rPr b="1" lang="en" sz="1150">
                <a:solidFill>
                  <a:srgbClr val="008000"/>
                </a:solidFill>
                <a:highlight>
                  <a:srgbClr val="FFFFFF"/>
                </a:highlight>
                <a:latin typeface="Consolas"/>
                <a:ea typeface="Consolas"/>
                <a:cs typeface="Consolas"/>
                <a:sym typeface="Consolas"/>
              </a:rPr>
              <a:t>/* 1 byte*/</a:t>
            </a:r>
            <a:endParaRPr b="1" sz="1150">
              <a:solidFill>
                <a:srgbClr val="008000"/>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a:t>
            </a:r>
            <a:r>
              <a:rPr b="1" lang="en" sz="1150">
                <a:solidFill>
                  <a:srgbClr val="1F377F"/>
                </a:solidFill>
                <a:highlight>
                  <a:srgbClr val="FFFFFF"/>
                </a:highlight>
                <a:latin typeface="Consolas"/>
                <a:ea typeface="Consolas"/>
                <a:cs typeface="Consolas"/>
                <a:sym typeface="Consolas"/>
              </a:rPr>
              <a:t>pad1</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7</a:t>
            </a:r>
            <a:r>
              <a:rPr b="1" lang="en" sz="1150">
                <a:solidFill>
                  <a:schemeClr val="dk1"/>
                </a:solidFill>
                <a:highlight>
                  <a:srgbClr val="FFFFFF"/>
                </a:highlight>
                <a:latin typeface="Consolas"/>
                <a:ea typeface="Consolas"/>
                <a:cs typeface="Consolas"/>
                <a:sym typeface="Consolas"/>
              </a:rPr>
              <a:t>];     </a:t>
            </a:r>
            <a:r>
              <a:rPr b="1" lang="en" sz="1150">
                <a:solidFill>
                  <a:srgbClr val="008000"/>
                </a:solidFill>
                <a:highlight>
                  <a:srgbClr val="FFFFFF"/>
                </a:highlight>
                <a:latin typeface="Consolas"/>
                <a:ea typeface="Consolas"/>
                <a:cs typeface="Consolas"/>
                <a:sym typeface="Consolas"/>
              </a:rPr>
              <a:t>/* 7 bytes */</a:t>
            </a:r>
            <a:endParaRPr b="1" sz="1150">
              <a:solidFill>
                <a:srgbClr val="008000"/>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foo5_inner {</a:t>
            </a:r>
            <a:endParaRPr b="1" sz="1150">
              <a:solidFill>
                <a:schemeClr val="dk1"/>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*p;      </a:t>
            </a:r>
            <a:r>
              <a:rPr b="1" lang="en" sz="1150">
                <a:solidFill>
                  <a:srgbClr val="008000"/>
                </a:solidFill>
                <a:highlight>
                  <a:srgbClr val="FFFFFF"/>
                </a:highlight>
                <a:latin typeface="Consolas"/>
                <a:ea typeface="Consolas"/>
                <a:cs typeface="Consolas"/>
                <a:sym typeface="Consolas"/>
              </a:rPr>
              <a:t>/* 8 bytes */</a:t>
            </a:r>
            <a:endParaRPr b="1" sz="1150">
              <a:solidFill>
                <a:srgbClr val="008000"/>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short</a:t>
            </a:r>
            <a:r>
              <a:rPr b="1" lang="en" sz="1150">
                <a:solidFill>
                  <a:schemeClr val="dk1"/>
                </a:solidFill>
                <a:highlight>
                  <a:srgbClr val="FFFFFF"/>
                </a:highlight>
                <a:latin typeface="Consolas"/>
                <a:ea typeface="Consolas"/>
                <a:cs typeface="Consolas"/>
                <a:sym typeface="Consolas"/>
              </a:rPr>
              <a:t> x;      </a:t>
            </a:r>
            <a:r>
              <a:rPr b="1" lang="en" sz="1150">
                <a:solidFill>
                  <a:srgbClr val="008000"/>
                </a:solidFill>
                <a:highlight>
                  <a:srgbClr val="FFFFFF"/>
                </a:highlight>
                <a:latin typeface="Consolas"/>
                <a:ea typeface="Consolas"/>
                <a:cs typeface="Consolas"/>
                <a:sym typeface="Consolas"/>
              </a:rPr>
              <a:t>/* 2 bytes */</a:t>
            </a:r>
            <a:endParaRPr b="1" sz="1150">
              <a:solidFill>
                <a:srgbClr val="008000"/>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a:t>
            </a:r>
            <a:r>
              <a:rPr b="1" lang="en" sz="1150">
                <a:solidFill>
                  <a:srgbClr val="1F377F"/>
                </a:solidFill>
                <a:highlight>
                  <a:srgbClr val="FFFFFF"/>
                </a:highlight>
                <a:latin typeface="Consolas"/>
                <a:ea typeface="Consolas"/>
                <a:cs typeface="Consolas"/>
                <a:sym typeface="Consolas"/>
              </a:rPr>
              <a:t>pad2</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6</a:t>
            </a:r>
            <a:r>
              <a:rPr b="1" lang="en" sz="1150">
                <a:solidFill>
                  <a:schemeClr val="dk1"/>
                </a:solidFill>
                <a:highlight>
                  <a:srgbClr val="FFFFFF"/>
                </a:highlight>
                <a:latin typeface="Consolas"/>
                <a:ea typeface="Consolas"/>
                <a:cs typeface="Consolas"/>
                <a:sym typeface="Consolas"/>
              </a:rPr>
              <a:t>]; </a:t>
            </a:r>
            <a:r>
              <a:rPr b="1" lang="en" sz="1150">
                <a:solidFill>
                  <a:srgbClr val="008000"/>
                </a:solidFill>
                <a:highlight>
                  <a:srgbClr val="FFFFFF"/>
                </a:highlight>
                <a:latin typeface="Consolas"/>
                <a:ea typeface="Consolas"/>
                <a:cs typeface="Consolas"/>
                <a:sym typeface="Consolas"/>
              </a:rPr>
              <a:t>/* 6 bytes */</a:t>
            </a:r>
            <a:endParaRPr b="1" sz="1150">
              <a:solidFill>
                <a:srgbClr val="008000"/>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 inner;</a:t>
            </a:r>
            <a:endParaRPr b="1" sz="1150">
              <a:solidFill>
                <a:schemeClr val="dk1"/>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b="1" sz="1300">
              <a:latin typeface="Consolas"/>
              <a:ea typeface="Consolas"/>
              <a:cs typeface="Consolas"/>
              <a:sym typeface="Consolas"/>
            </a:endParaRPr>
          </a:p>
        </p:txBody>
      </p:sp>
      <p:sp>
        <p:nvSpPr>
          <p:cNvPr id="359" name="Google Shape;359;p54"/>
          <p:cNvSpPr txBox="1"/>
          <p:nvPr>
            <p:ph idx="2" type="body"/>
          </p:nvPr>
        </p:nvSpPr>
        <p:spPr>
          <a:xfrm>
            <a:off x="372775" y="1208350"/>
            <a:ext cx="42222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foo4</a:t>
            </a: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short</a:t>
            </a:r>
            <a:r>
              <a:rPr b="1" lang="en" sz="1250">
                <a:solidFill>
                  <a:schemeClr val="dk1"/>
                </a:solidFill>
                <a:highlight>
                  <a:srgbClr val="FFFFFF"/>
                </a:highlight>
              </a:rPr>
              <a:t> s;     </a:t>
            </a:r>
            <a:r>
              <a:rPr b="1" lang="en" sz="1250">
                <a:solidFill>
                  <a:srgbClr val="008000"/>
                </a:solidFill>
                <a:highlight>
                  <a:srgbClr val="FFFFFF"/>
                </a:highlight>
              </a:rPr>
              <a:t>/* 2 bytes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c;      </a:t>
            </a:r>
            <a:r>
              <a:rPr b="1" lang="en" sz="1250">
                <a:solidFill>
                  <a:srgbClr val="008000"/>
                </a:solidFill>
                <a:highlight>
                  <a:srgbClr val="FFFFFF"/>
                </a:highlight>
              </a:rPr>
              <a:t>/* 1 byte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spcBef>
                <a:spcPts val="0"/>
              </a:spcBef>
              <a:spcAft>
                <a:spcPts val="0"/>
              </a:spcAft>
              <a:buNone/>
            </a:pPr>
            <a:r>
              <a:t/>
            </a:r>
            <a:endParaRPr b="1" sz="1400"/>
          </a:p>
          <a:p>
            <a:pPr indent="0" lvl="0" marL="0" rtl="0" algn="l">
              <a:spcBef>
                <a:spcPts val="0"/>
              </a:spcBef>
              <a:spcAft>
                <a:spcPts val="0"/>
              </a:spcAft>
              <a:buNone/>
            </a:pPr>
            <a:r>
              <a:t/>
            </a:r>
            <a:endParaRPr b="1" sz="1400"/>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foo5</a:t>
            </a: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c;</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foo5_inner</a:t>
            </a: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*p;</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short</a:t>
            </a:r>
            <a:r>
              <a:rPr b="1" lang="en" sz="1250">
                <a:solidFill>
                  <a:schemeClr val="dk1"/>
                </a:solidFill>
                <a:highlight>
                  <a:srgbClr val="FFFFFF"/>
                </a:highlight>
              </a:rPr>
              <a:t> x;</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 inner;</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spcBef>
                <a:spcPts val="0"/>
              </a:spcBef>
              <a:spcAft>
                <a:spcPts val="0"/>
              </a:spcAft>
              <a:buNone/>
            </a:pPr>
            <a:r>
              <a:t/>
            </a:r>
            <a:endParaRPr b="1"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10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5"/>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Structure reordering</a:t>
            </a:r>
            <a:endParaRPr/>
          </a:p>
        </p:txBody>
      </p:sp>
      <p:sp>
        <p:nvSpPr>
          <p:cNvPr id="365" name="Google Shape;365;p55"/>
          <p:cNvSpPr txBox="1"/>
          <p:nvPr>
            <p:ph idx="2" type="body"/>
          </p:nvPr>
        </p:nvSpPr>
        <p:spPr>
          <a:xfrm>
            <a:off x="372775" y="1208350"/>
            <a:ext cx="42222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foo10</a:t>
            </a: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c;</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foo10</a:t>
            </a:r>
            <a:r>
              <a:rPr b="1" lang="en" sz="1250">
                <a:solidFill>
                  <a:schemeClr val="dk1"/>
                </a:solidFill>
                <a:highlight>
                  <a:srgbClr val="FFFFFF"/>
                </a:highlight>
              </a:rPr>
              <a:t> *p;</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short</a:t>
            </a:r>
            <a:r>
              <a:rPr b="1" lang="en" sz="1250">
                <a:solidFill>
                  <a:schemeClr val="dk1"/>
                </a:solidFill>
                <a:highlight>
                  <a:srgbClr val="FFFFFF"/>
                </a:highlight>
              </a:rPr>
              <a:t> x;</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None/>
            </a:pPr>
            <a:r>
              <a:t/>
            </a:r>
            <a:endParaRPr b="1" sz="1250">
              <a:solidFill>
                <a:schemeClr val="dk1"/>
              </a:solidFill>
              <a:highlight>
                <a:srgbClr val="FFFFFF"/>
              </a:highlight>
            </a:endParaRPr>
          </a:p>
          <a:p>
            <a:pPr indent="0" lvl="0" marL="0" rtl="0" algn="l">
              <a:lnSpc>
                <a:spcPct val="135714"/>
              </a:lnSpc>
              <a:spcBef>
                <a:spcPts val="0"/>
              </a:spcBef>
              <a:spcAft>
                <a:spcPts val="0"/>
              </a:spcAft>
              <a:buNone/>
            </a:pPr>
            <a:r>
              <a:t/>
            </a:r>
            <a:endParaRPr b="1" sz="1250">
              <a:solidFill>
                <a:schemeClr val="dk1"/>
              </a:solidFill>
              <a:highlight>
                <a:srgbClr val="FFFFFF"/>
              </a:highlight>
            </a:endParaRPr>
          </a:p>
          <a:p>
            <a:pPr indent="0" lvl="0" marL="0" rtl="0" algn="l">
              <a:lnSpc>
                <a:spcPct val="135714"/>
              </a:lnSpc>
              <a:spcBef>
                <a:spcPts val="0"/>
              </a:spcBef>
              <a:spcAft>
                <a:spcPts val="0"/>
              </a:spcAft>
              <a:buNone/>
            </a:pPr>
            <a:r>
              <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foo11</a:t>
            </a: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foo11</a:t>
            </a:r>
            <a:r>
              <a:rPr b="1" lang="en" sz="1250">
                <a:solidFill>
                  <a:schemeClr val="dk1"/>
                </a:solidFill>
                <a:highlight>
                  <a:srgbClr val="FFFFFF"/>
                </a:highlight>
              </a:rPr>
              <a:t> *p;</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chemeClr val="dk1"/>
                </a:solidFill>
                <a:highlight>
                  <a:srgbClr val="FFFFFF"/>
                </a:highlight>
              </a:rPr>
              <a:t>   </a:t>
            </a:r>
            <a:r>
              <a:rPr b="1" lang="en" sz="1250">
                <a:solidFill>
                  <a:srgbClr val="0000FF"/>
                </a:solidFill>
                <a:highlight>
                  <a:srgbClr val="FFFFFF"/>
                </a:highlight>
              </a:rPr>
              <a:t>short</a:t>
            </a:r>
            <a:r>
              <a:rPr b="1" lang="en" sz="1250">
                <a:solidFill>
                  <a:schemeClr val="dk1"/>
                </a:solidFill>
                <a:highlight>
                  <a:srgbClr val="FFFFFF"/>
                </a:highlight>
              </a:rPr>
              <a:t> x;</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c;</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spcBef>
                <a:spcPts val="0"/>
              </a:spcBef>
              <a:spcAft>
                <a:spcPts val="0"/>
              </a:spcAft>
              <a:buNone/>
            </a:pPr>
            <a:r>
              <a:t/>
            </a:r>
            <a:endParaRPr b="1" sz="1400"/>
          </a:p>
        </p:txBody>
      </p:sp>
      <p:sp>
        <p:nvSpPr>
          <p:cNvPr id="366" name="Google Shape;366;p55"/>
          <p:cNvSpPr txBox="1"/>
          <p:nvPr/>
        </p:nvSpPr>
        <p:spPr>
          <a:xfrm>
            <a:off x="4498525" y="272400"/>
            <a:ext cx="4272300" cy="42939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250">
                <a:solidFill>
                  <a:srgbClr val="008000"/>
                </a:solidFill>
                <a:highlight>
                  <a:schemeClr val="accent6"/>
                </a:highlight>
                <a:latin typeface="Consolas"/>
                <a:ea typeface="Consolas"/>
                <a:cs typeface="Consolas"/>
                <a:sym typeface="Consolas"/>
              </a:rPr>
              <a:t>/*24 byte*/</a:t>
            </a:r>
            <a:endParaRPr b="1" sz="1250">
              <a:solidFill>
                <a:srgbClr val="0000FF"/>
              </a:solidFill>
              <a:highlight>
                <a:schemeClr val="accent6"/>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rgbClr val="0000FF"/>
                </a:solidFill>
                <a:highlight>
                  <a:srgbClr val="FFFFFF"/>
                </a:highlight>
                <a:latin typeface="Consolas"/>
                <a:ea typeface="Consolas"/>
                <a:cs typeface="Consolas"/>
                <a:sym typeface="Consolas"/>
              </a:rPr>
              <a:t>struct</a:t>
            </a: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foo10</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c;          </a:t>
            </a:r>
            <a:r>
              <a:rPr b="1" lang="en" sz="1250">
                <a:solidFill>
                  <a:srgbClr val="008000"/>
                </a:solidFill>
                <a:highlight>
                  <a:srgbClr val="FFFFFF"/>
                </a:highlight>
                <a:latin typeface="Consolas"/>
                <a:ea typeface="Consolas"/>
                <a:cs typeface="Consolas"/>
                <a:sym typeface="Consolas"/>
              </a:rPr>
              <a:t>/* 1 byte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pad1[</a:t>
            </a:r>
            <a:r>
              <a:rPr b="1" lang="en" sz="1250">
                <a:solidFill>
                  <a:srgbClr val="098658"/>
                </a:solidFill>
                <a:highlight>
                  <a:srgbClr val="FFFFFF"/>
                </a:highlight>
                <a:latin typeface="Consolas"/>
                <a:ea typeface="Consolas"/>
                <a:cs typeface="Consolas"/>
                <a:sym typeface="Consolas"/>
              </a:rPr>
              <a:t>7</a:t>
            </a: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7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struct</a:t>
            </a: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foo10</a:t>
            </a:r>
            <a:r>
              <a:rPr b="1" lang="en" sz="1250">
                <a:solidFill>
                  <a:schemeClr val="dk1"/>
                </a:solidFill>
                <a:highlight>
                  <a:srgbClr val="FFFFFF"/>
                </a:highlight>
                <a:latin typeface="Consolas"/>
                <a:ea typeface="Consolas"/>
                <a:cs typeface="Consolas"/>
                <a:sym typeface="Consolas"/>
              </a:rPr>
              <a:t> *p; </a:t>
            </a:r>
            <a:r>
              <a:rPr b="1" lang="en" sz="1250">
                <a:solidFill>
                  <a:srgbClr val="008000"/>
                </a:solidFill>
                <a:highlight>
                  <a:srgbClr val="FFFFFF"/>
                </a:highlight>
                <a:latin typeface="Consolas"/>
                <a:ea typeface="Consolas"/>
                <a:cs typeface="Consolas"/>
                <a:sym typeface="Consolas"/>
              </a:rPr>
              <a:t>/* 8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short</a:t>
            </a:r>
            <a:r>
              <a:rPr b="1" lang="en" sz="1250">
                <a:solidFill>
                  <a:schemeClr val="dk1"/>
                </a:solidFill>
                <a:highlight>
                  <a:srgbClr val="FFFFFF"/>
                </a:highlight>
                <a:latin typeface="Consolas"/>
                <a:ea typeface="Consolas"/>
                <a:cs typeface="Consolas"/>
                <a:sym typeface="Consolas"/>
              </a:rPr>
              <a:t> x;         </a:t>
            </a:r>
            <a:r>
              <a:rPr b="1" lang="en" sz="1250">
                <a:solidFill>
                  <a:srgbClr val="008000"/>
                </a:solidFill>
                <a:highlight>
                  <a:srgbClr val="FFFFFF"/>
                </a:highlight>
                <a:latin typeface="Consolas"/>
                <a:ea typeface="Consolas"/>
                <a:cs typeface="Consolas"/>
                <a:sym typeface="Consolas"/>
              </a:rPr>
              <a:t>/* 2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pad2[</a:t>
            </a:r>
            <a:r>
              <a:rPr b="1" lang="en" sz="1250">
                <a:solidFill>
                  <a:srgbClr val="098658"/>
                </a:solidFill>
                <a:highlight>
                  <a:srgbClr val="FFFFFF"/>
                </a:highlight>
                <a:latin typeface="Consolas"/>
                <a:ea typeface="Consolas"/>
                <a:cs typeface="Consolas"/>
                <a:sym typeface="Consolas"/>
              </a:rPr>
              <a:t>6</a:t>
            </a: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6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rgbClr val="008000"/>
                </a:solidFill>
                <a:highlight>
                  <a:schemeClr val="accent6"/>
                </a:highlight>
                <a:latin typeface="Consolas"/>
                <a:ea typeface="Consolas"/>
                <a:cs typeface="Consolas"/>
                <a:sym typeface="Consolas"/>
              </a:rPr>
              <a:t>/*16 byte*/</a:t>
            </a:r>
            <a:endParaRPr b="1" sz="1250">
              <a:solidFill>
                <a:schemeClr val="dk1"/>
              </a:solidFill>
              <a:highlight>
                <a:schemeClr val="accent6"/>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rgbClr val="0000FF"/>
                </a:solidFill>
                <a:highlight>
                  <a:srgbClr val="FFFFFF"/>
                </a:highlight>
                <a:latin typeface="Consolas"/>
                <a:ea typeface="Consolas"/>
                <a:cs typeface="Consolas"/>
                <a:sym typeface="Consolas"/>
              </a:rPr>
              <a:t>struct</a:t>
            </a: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foo11</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struct</a:t>
            </a: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foo11</a:t>
            </a:r>
            <a:r>
              <a:rPr b="1" lang="en" sz="1250">
                <a:solidFill>
                  <a:schemeClr val="dk1"/>
                </a:solidFill>
                <a:highlight>
                  <a:srgbClr val="FFFFFF"/>
                </a:highlight>
                <a:latin typeface="Consolas"/>
                <a:ea typeface="Consolas"/>
                <a:cs typeface="Consolas"/>
                <a:sym typeface="Consolas"/>
              </a:rPr>
              <a:t> *p; </a:t>
            </a:r>
            <a:r>
              <a:rPr b="1" lang="en" sz="1250">
                <a:solidFill>
                  <a:srgbClr val="008000"/>
                </a:solidFill>
                <a:highlight>
                  <a:srgbClr val="FFFFFF"/>
                </a:highlight>
                <a:latin typeface="Consolas"/>
                <a:ea typeface="Consolas"/>
                <a:cs typeface="Consolas"/>
                <a:sym typeface="Consolas"/>
              </a:rPr>
              <a:t>/* 8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short</a:t>
            </a:r>
            <a:r>
              <a:rPr b="1" lang="en" sz="1250">
                <a:solidFill>
                  <a:schemeClr val="dk1"/>
                </a:solidFill>
                <a:highlight>
                  <a:srgbClr val="FFFFFF"/>
                </a:highlight>
                <a:latin typeface="Consolas"/>
                <a:ea typeface="Consolas"/>
                <a:cs typeface="Consolas"/>
                <a:sym typeface="Consolas"/>
              </a:rPr>
              <a:t> x;         </a:t>
            </a:r>
            <a:r>
              <a:rPr b="1" lang="en" sz="1250">
                <a:solidFill>
                  <a:srgbClr val="008000"/>
                </a:solidFill>
                <a:highlight>
                  <a:srgbClr val="FFFFFF"/>
                </a:highlight>
                <a:latin typeface="Consolas"/>
                <a:ea typeface="Consolas"/>
                <a:cs typeface="Consolas"/>
                <a:sym typeface="Consolas"/>
              </a:rPr>
              <a:t>/* 2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c;          </a:t>
            </a:r>
            <a:r>
              <a:rPr b="1" lang="en" sz="1250">
                <a:solidFill>
                  <a:srgbClr val="008000"/>
                </a:solidFill>
                <a:highlight>
                  <a:srgbClr val="FFFFFF"/>
                </a:highlight>
                <a:latin typeface="Consolas"/>
                <a:ea typeface="Consolas"/>
                <a:cs typeface="Consolas"/>
                <a:sym typeface="Consolas"/>
              </a:rPr>
              <a:t>/* 1 byte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pad[</a:t>
            </a:r>
            <a:r>
              <a:rPr b="1" lang="en" sz="1250">
                <a:solidFill>
                  <a:srgbClr val="098658"/>
                </a:solidFill>
                <a:highlight>
                  <a:srgbClr val="FFFFFF"/>
                </a:highlight>
                <a:latin typeface="Consolas"/>
                <a:ea typeface="Consolas"/>
                <a:cs typeface="Consolas"/>
                <a:sym typeface="Consolas"/>
              </a:rPr>
              <a:t>5</a:t>
            </a: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5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p:txBody>
      </p:sp>
      <p:sp>
        <p:nvSpPr>
          <p:cNvPr id="367" name="Google Shape;367;p55"/>
          <p:cNvSpPr txBox="1"/>
          <p:nvPr/>
        </p:nvSpPr>
        <p:spPr>
          <a:xfrm>
            <a:off x="4768225" y="4375800"/>
            <a:ext cx="3850200" cy="692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Georgia"/>
              <a:buChar char="➔"/>
            </a:pPr>
            <a:r>
              <a:rPr lang="en" sz="1100">
                <a:solidFill>
                  <a:schemeClr val="dk1"/>
                </a:solidFill>
                <a:latin typeface="Georgia"/>
                <a:ea typeface="Georgia"/>
                <a:cs typeface="Georgia"/>
                <a:sym typeface="Georgia"/>
              </a:rPr>
              <a:t>In general, </a:t>
            </a:r>
            <a:r>
              <a:rPr lang="en" sz="1100">
                <a:solidFill>
                  <a:schemeClr val="dk1"/>
                </a:solidFill>
                <a:latin typeface="Georgia"/>
                <a:ea typeface="Georgia"/>
                <a:cs typeface="Georgia"/>
                <a:sym typeface="Georgia"/>
              </a:rPr>
              <a:t>ordering structure fields </a:t>
            </a:r>
            <a:r>
              <a:rPr b="1" lang="en" sz="1100">
                <a:solidFill>
                  <a:schemeClr val="dk1"/>
                </a:solidFill>
                <a:latin typeface="Georgia"/>
                <a:ea typeface="Georgia"/>
                <a:cs typeface="Georgia"/>
                <a:sym typeface="Georgia"/>
              </a:rPr>
              <a:t>by </a:t>
            </a:r>
            <a:r>
              <a:rPr b="1" i="1" lang="en" sz="1100">
                <a:solidFill>
                  <a:schemeClr val="dk1"/>
                </a:solidFill>
                <a:latin typeface="Georgia"/>
                <a:ea typeface="Georgia"/>
                <a:cs typeface="Georgia"/>
                <a:sym typeface="Georgia"/>
              </a:rPr>
              <a:t>increasing</a:t>
            </a:r>
            <a:r>
              <a:rPr b="1" lang="en" sz="1100">
                <a:solidFill>
                  <a:schemeClr val="dk1"/>
                </a:solidFill>
                <a:latin typeface="Georgia"/>
                <a:ea typeface="Georgia"/>
                <a:cs typeface="Georgia"/>
                <a:sym typeface="Georgia"/>
              </a:rPr>
              <a:t> size</a:t>
            </a:r>
            <a:r>
              <a:rPr lang="en" sz="1100">
                <a:solidFill>
                  <a:schemeClr val="dk1"/>
                </a:solidFill>
                <a:latin typeface="Georgia"/>
                <a:ea typeface="Georgia"/>
                <a:cs typeface="Georgia"/>
                <a:sym typeface="Georgia"/>
              </a:rPr>
              <a:t> minimize padding.</a:t>
            </a:r>
            <a:endParaRPr sz="1100">
              <a:solidFill>
                <a:schemeClr val="dk1"/>
              </a:solidFill>
              <a:latin typeface="Georgia"/>
              <a:ea typeface="Georgia"/>
              <a:cs typeface="Georgia"/>
              <a:sym typeface="Georgia"/>
            </a:endParaRPr>
          </a:p>
          <a:p>
            <a:pPr indent="-298450" lvl="0" marL="457200" rtl="0" algn="l">
              <a:spcBef>
                <a:spcPts val="0"/>
              </a:spcBef>
              <a:spcAft>
                <a:spcPts val="0"/>
              </a:spcAft>
              <a:buClr>
                <a:schemeClr val="dk1"/>
              </a:buClr>
              <a:buSzPts val="1100"/>
              <a:buFont typeface="Georgia"/>
              <a:buChar char="➔"/>
            </a:pPr>
            <a:r>
              <a:rPr lang="en" sz="1100">
                <a:solidFill>
                  <a:schemeClr val="dk1"/>
                </a:solidFill>
                <a:latin typeface="Georgia"/>
                <a:ea typeface="Georgia"/>
                <a:cs typeface="Georgia"/>
                <a:sym typeface="Georgia"/>
              </a:rPr>
              <a:t>C compilers don’t do this automatically</a:t>
            </a:r>
            <a:endParaRPr sz="1100">
              <a:solidFill>
                <a:schemeClr val="dk1"/>
              </a:solidFill>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1000"/>
                                        <p:tgtEl>
                                          <p:spTgt spid="3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1000"/>
                                        <p:tgtEl>
                                          <p:spTgt spid="3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6"/>
          <p:cNvSpPr txBox="1"/>
          <p:nvPr>
            <p:ph type="title"/>
          </p:nvPr>
        </p:nvSpPr>
        <p:spPr>
          <a:xfrm>
            <a:off x="311700" y="250800"/>
            <a:ext cx="8428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Since c11, </a:t>
            </a:r>
            <a:r>
              <a:rPr lang="en" u="sng"/>
              <a:t>compile time</a:t>
            </a:r>
            <a:r>
              <a:rPr lang="en"/>
              <a:t> static_assert</a:t>
            </a:r>
            <a:endParaRPr/>
          </a:p>
        </p:txBody>
      </p:sp>
      <p:sp>
        <p:nvSpPr>
          <p:cNvPr id="373" name="Google Shape;373;p56"/>
          <p:cNvSpPr txBox="1"/>
          <p:nvPr>
            <p:ph idx="2" type="body"/>
          </p:nvPr>
        </p:nvSpPr>
        <p:spPr>
          <a:xfrm>
            <a:off x="372775" y="1208350"/>
            <a:ext cx="71130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assert.h</a:t>
            </a:r>
            <a:r>
              <a:rPr b="1" lang="en" sz="1250">
                <a:solidFill>
                  <a:srgbClr val="E21F1F"/>
                </a:solidFill>
                <a:highlight>
                  <a:srgbClr val="FFFFFF"/>
                </a:highlight>
              </a:rPr>
              <a:t>&gt;</a:t>
            </a:r>
            <a:endParaRPr b="1" sz="12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foo4</a:t>
            </a: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short</a:t>
            </a:r>
            <a:r>
              <a:rPr b="1" lang="en" sz="1250">
                <a:solidFill>
                  <a:schemeClr val="dk1"/>
                </a:solidFill>
                <a:highlight>
                  <a:srgbClr val="FFFFFF"/>
                </a:highlight>
              </a:rPr>
              <a:t> s;     </a:t>
            </a:r>
            <a:r>
              <a:rPr b="1" lang="en" sz="1250">
                <a:solidFill>
                  <a:srgbClr val="008000"/>
                </a:solidFill>
                <a:highlight>
                  <a:srgbClr val="FFFFFF"/>
                </a:highlight>
              </a:rPr>
              <a:t>/* 2 bytes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c;      </a:t>
            </a:r>
            <a:r>
              <a:rPr b="1" lang="en" sz="1250">
                <a:solidFill>
                  <a:srgbClr val="008000"/>
                </a:solidFill>
                <a:highlight>
                  <a:srgbClr val="FFFFFF"/>
                </a:highlight>
              </a:rPr>
              <a:t>/* 1 byte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8A1BFF"/>
                </a:solidFill>
                <a:highlight>
                  <a:srgbClr val="FFFFFF"/>
                </a:highlight>
              </a:rPr>
              <a:t>static_assert</a:t>
            </a:r>
            <a:r>
              <a:rPr b="1" lang="en" sz="1250">
                <a:solidFill>
                  <a:schemeClr val="dk1"/>
                </a:solidFill>
                <a:highlight>
                  <a:srgbClr val="FFFFFF"/>
                </a:highlight>
              </a:rPr>
              <a:t>(</a:t>
            </a:r>
            <a:r>
              <a:rPr b="1" lang="en" sz="1250">
                <a:solidFill>
                  <a:srgbClr val="0000FF"/>
                </a:solidFill>
                <a:highlight>
                  <a:srgbClr val="FFFFFF"/>
                </a:highlight>
              </a:rPr>
              <a:t>sizeof</a:t>
            </a:r>
            <a:r>
              <a:rPr b="1" lang="en" sz="1250">
                <a:solidFill>
                  <a:schemeClr val="dk1"/>
                </a:solidFill>
                <a:highlight>
                  <a:srgbClr val="FFFFFF"/>
                </a:highlight>
              </a:rPr>
              <a:t>(</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foo4</a:t>
            </a:r>
            <a:r>
              <a:rPr b="1" lang="en" sz="1250">
                <a:solidFill>
                  <a:schemeClr val="dk1"/>
                </a:solidFill>
                <a:highlight>
                  <a:srgbClr val="FFFFFF"/>
                </a:highlight>
              </a:rPr>
              <a:t>) == </a:t>
            </a:r>
            <a:r>
              <a:rPr b="1" lang="en" sz="1250">
                <a:solidFill>
                  <a:srgbClr val="098658"/>
                </a:solidFill>
                <a:highlight>
                  <a:srgbClr val="FFFFFF"/>
                </a:highlight>
              </a:rPr>
              <a:t>4</a:t>
            </a:r>
            <a:r>
              <a:rPr b="1" lang="en" sz="1250">
                <a:solidFill>
                  <a:schemeClr val="dk1"/>
                </a:solidFill>
                <a:highlight>
                  <a:srgbClr val="FFFFFF"/>
                </a:highlight>
              </a:rPr>
              <a:t>, </a:t>
            </a:r>
            <a:r>
              <a:rPr b="1" lang="en" sz="1250">
                <a:solidFill>
                  <a:srgbClr val="E21F1F"/>
                </a:solidFill>
                <a:highlight>
                  <a:srgbClr val="FFFFFF"/>
                </a:highlight>
              </a:rPr>
              <a:t>"</a:t>
            </a:r>
            <a:r>
              <a:rPr b="1" lang="en" sz="1250">
                <a:solidFill>
                  <a:srgbClr val="A31515"/>
                </a:solidFill>
                <a:highlight>
                  <a:srgbClr val="FFFFFF"/>
                </a:highlight>
              </a:rPr>
              <a:t>Check your assumptions</a:t>
            </a:r>
            <a:r>
              <a:rPr b="1" lang="en" sz="1250">
                <a:solidFill>
                  <a:srgbClr val="E21F1F"/>
                </a:solidFill>
                <a:highlight>
                  <a:srgbClr val="FFFFFF"/>
                </a:highlight>
              </a:rPr>
              <a: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spcBef>
                <a:spcPts val="0"/>
              </a:spcBef>
              <a:spcAft>
                <a:spcPts val="0"/>
              </a:spcAft>
              <a:buNone/>
            </a:pPr>
            <a:r>
              <a:t/>
            </a:r>
            <a:endParaRPr b="1" sz="14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7"/>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7"/>
          <p:cNvSpPr txBox="1"/>
          <p:nvPr>
            <p:ph idx="2" type="body"/>
          </p:nvPr>
        </p:nvSpPr>
        <p:spPr>
          <a:xfrm>
            <a:off x="653075" y="1132150"/>
            <a:ext cx="4222200" cy="360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struct picture{</a:t>
            </a:r>
            <a:endParaRPr/>
          </a:p>
          <a:p>
            <a:pPr indent="0" lvl="0" marL="457200" rtl="0" algn="l">
              <a:spcBef>
                <a:spcPts val="0"/>
              </a:spcBef>
              <a:spcAft>
                <a:spcPts val="0"/>
              </a:spcAft>
              <a:buNone/>
            </a:pPr>
            <a:r>
              <a:rPr lang="en"/>
              <a:t>int height;</a:t>
            </a:r>
            <a:endParaRPr/>
          </a:p>
          <a:p>
            <a:pPr indent="0" lvl="0" marL="457200" rtl="0" algn="l">
              <a:spcBef>
                <a:spcPts val="0"/>
              </a:spcBef>
              <a:spcAft>
                <a:spcPts val="0"/>
              </a:spcAft>
              <a:buNone/>
            </a:pPr>
            <a:r>
              <a:rPr lang="en"/>
              <a:t>pixel** data;</a:t>
            </a:r>
            <a:endParaRPr/>
          </a:p>
          <a:p>
            <a:pPr indent="0" lvl="0" marL="457200" rtl="0" algn="l">
              <a:spcBef>
                <a:spcPts val="0"/>
              </a:spcBef>
              <a:spcAft>
                <a:spcPts val="0"/>
              </a:spcAft>
              <a:buNone/>
            </a:pPr>
            <a:r>
              <a:rPr lang="en"/>
              <a:t>int width;</a:t>
            </a:r>
            <a:endParaRPr/>
          </a:p>
          <a:p>
            <a:pPr indent="0" lvl="0" marL="457200" rtl="0" algn="l">
              <a:spcBef>
                <a:spcPts val="0"/>
              </a:spcBef>
              <a:spcAft>
                <a:spcPts val="0"/>
              </a:spcAft>
              <a:buNone/>
            </a:pPr>
            <a:r>
              <a:rPr lang="en"/>
              <a:t>char* encoding;</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struct packing*/</a:t>
            </a:r>
            <a:endParaRPr/>
          </a:p>
          <a:p>
            <a:pPr indent="0" lvl="0" marL="0" rtl="0" algn="l">
              <a:spcBef>
                <a:spcPts val="0"/>
              </a:spcBef>
              <a:spcAft>
                <a:spcPts val="0"/>
              </a:spcAft>
              <a:buNone/>
            </a:pPr>
            <a:r>
              <a:rPr lang="en"/>
              <a:t>struct picture{</a:t>
            </a:r>
            <a:endParaRPr/>
          </a:p>
          <a:p>
            <a:pPr indent="0" lvl="0" marL="457200" rtl="0" algn="l">
              <a:spcBef>
                <a:spcPts val="0"/>
              </a:spcBef>
              <a:spcAft>
                <a:spcPts val="0"/>
              </a:spcAft>
              <a:buNone/>
            </a:pPr>
            <a:r>
              <a:rPr lang="en"/>
              <a:t>int height;</a:t>
            </a:r>
            <a:endParaRPr/>
          </a:p>
          <a:p>
            <a:pPr indent="0" lvl="0" marL="457200" rtl="0" algn="l">
              <a:spcBef>
                <a:spcPts val="0"/>
              </a:spcBef>
              <a:spcAft>
                <a:spcPts val="0"/>
              </a:spcAft>
              <a:buNone/>
            </a:pPr>
            <a:r>
              <a:rPr lang="en"/>
              <a:t>char slop1[4];</a:t>
            </a:r>
            <a:endParaRPr/>
          </a:p>
          <a:p>
            <a:pPr indent="0" lvl="0" marL="457200" rtl="0" algn="l">
              <a:spcBef>
                <a:spcPts val="0"/>
              </a:spcBef>
              <a:spcAft>
                <a:spcPts val="0"/>
              </a:spcAft>
              <a:buNone/>
            </a:pPr>
            <a:r>
              <a:rPr lang="en"/>
              <a:t>pixel** data;</a:t>
            </a:r>
            <a:endParaRPr/>
          </a:p>
          <a:p>
            <a:pPr indent="0" lvl="0" marL="457200" rtl="0" algn="l">
              <a:spcBef>
                <a:spcPts val="0"/>
              </a:spcBef>
              <a:spcAft>
                <a:spcPts val="0"/>
              </a:spcAft>
              <a:buNone/>
            </a:pPr>
            <a:r>
              <a:rPr lang="en"/>
              <a:t>int width;</a:t>
            </a:r>
            <a:endParaRPr/>
          </a:p>
          <a:p>
            <a:pPr indent="0" lvl="0" marL="457200" rtl="0" algn="l">
              <a:spcBef>
                <a:spcPts val="0"/>
              </a:spcBef>
              <a:spcAft>
                <a:spcPts val="0"/>
              </a:spcAft>
              <a:buNone/>
            </a:pPr>
            <a:r>
              <a:rPr lang="en"/>
              <a:t>char slop2[4];</a:t>
            </a:r>
            <a:endParaRPr/>
          </a:p>
          <a:p>
            <a:pPr indent="0" lvl="0" marL="457200" rtl="0" algn="l">
              <a:spcBef>
                <a:spcPts val="0"/>
              </a:spcBef>
              <a:spcAft>
                <a:spcPts val="0"/>
              </a:spcAft>
              <a:buNone/>
            </a:pPr>
            <a:r>
              <a:rPr lang="en"/>
              <a:t>char* encoding;</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380" name="Google Shape;380;p57"/>
          <p:cNvPicPr preferRelativeResize="0"/>
          <p:nvPr/>
        </p:nvPicPr>
        <p:blipFill>
          <a:blip r:embed="rId3">
            <a:alphaModFix/>
          </a:blip>
          <a:stretch>
            <a:fillRect/>
          </a:stretch>
        </p:blipFill>
        <p:spPr>
          <a:xfrm>
            <a:off x="3489320" y="3100820"/>
            <a:ext cx="4116375" cy="1562625"/>
          </a:xfrm>
          <a:prstGeom prst="rect">
            <a:avLst/>
          </a:prstGeom>
          <a:noFill/>
          <a:ln>
            <a:noFill/>
          </a:ln>
        </p:spPr>
      </p:pic>
      <p:pic>
        <p:nvPicPr>
          <p:cNvPr id="381" name="Google Shape;381;p57"/>
          <p:cNvPicPr preferRelativeResize="0"/>
          <p:nvPr/>
        </p:nvPicPr>
        <p:blipFill>
          <a:blip r:embed="rId4">
            <a:alphaModFix/>
          </a:blip>
          <a:stretch>
            <a:fillRect/>
          </a:stretch>
        </p:blipFill>
        <p:spPr>
          <a:xfrm>
            <a:off x="4509369" y="1312119"/>
            <a:ext cx="3600350" cy="1591344"/>
          </a:xfrm>
          <a:prstGeom prst="rect">
            <a:avLst/>
          </a:prstGeom>
          <a:noFill/>
          <a:ln>
            <a:noFill/>
          </a:ln>
        </p:spPr>
      </p:pic>
      <p:grpSp>
        <p:nvGrpSpPr>
          <p:cNvPr id="382" name="Google Shape;382;p57"/>
          <p:cNvGrpSpPr/>
          <p:nvPr/>
        </p:nvGrpSpPr>
        <p:grpSpPr>
          <a:xfrm>
            <a:off x="5263325" y="250800"/>
            <a:ext cx="2810100" cy="1306500"/>
            <a:chOff x="5263325" y="250800"/>
            <a:chExt cx="2810100" cy="1306500"/>
          </a:xfrm>
        </p:grpSpPr>
        <p:sp>
          <p:nvSpPr>
            <p:cNvPr id="383" name="Google Shape;383;p57"/>
            <p:cNvSpPr txBox="1"/>
            <p:nvPr/>
          </p:nvSpPr>
          <p:spPr>
            <a:xfrm>
              <a:off x="5263325" y="250800"/>
              <a:ext cx="2810100" cy="7389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There are compiler options to enforce this</a:t>
              </a:r>
              <a:endParaRPr sz="1800">
                <a:solidFill>
                  <a:schemeClr val="dk2"/>
                </a:solidFill>
              </a:endParaRPr>
            </a:p>
          </p:txBody>
        </p:sp>
        <p:cxnSp>
          <p:nvCxnSpPr>
            <p:cNvPr id="384" name="Google Shape;384;p57"/>
            <p:cNvCxnSpPr>
              <a:stCxn id="383" idx="2"/>
            </p:cNvCxnSpPr>
            <p:nvPr/>
          </p:nvCxnSpPr>
          <p:spPr>
            <a:xfrm flipH="1">
              <a:off x="6557075" y="989700"/>
              <a:ext cx="111300" cy="567600"/>
            </a:xfrm>
            <a:prstGeom prst="straightConnector1">
              <a:avLst/>
            </a:prstGeom>
            <a:noFill/>
            <a:ln cap="flat" cmpd="sng" w="19050">
              <a:solidFill>
                <a:schemeClr val="accent1"/>
              </a:solidFill>
              <a:prstDash val="solid"/>
              <a:round/>
              <a:headEnd len="med" w="med" type="none"/>
              <a:tailEnd len="med" w="med" type="triangle"/>
            </a:ln>
          </p:spPr>
        </p:cxn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8"/>
          <p:cNvSpPr txBox="1"/>
          <p:nvPr>
            <p:ph type="title"/>
          </p:nvPr>
        </p:nvSpPr>
        <p:spPr>
          <a:xfrm>
            <a:off x="5780075" y="156000"/>
            <a:ext cx="2543400" cy="40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900">
                <a:highlight>
                  <a:schemeClr val="accent6"/>
                </a:highlight>
              </a:rPr>
              <a:t>Gcc attributes </a:t>
            </a:r>
            <a:endParaRPr sz="1900"/>
          </a:p>
        </p:txBody>
      </p:sp>
      <p:sp>
        <p:nvSpPr>
          <p:cNvPr id="390" name="Google Shape;390;p58"/>
          <p:cNvSpPr txBox="1"/>
          <p:nvPr>
            <p:ph idx="1" type="body"/>
          </p:nvPr>
        </p:nvSpPr>
        <p:spPr>
          <a:xfrm>
            <a:off x="5805625" y="557050"/>
            <a:ext cx="3244200" cy="135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Consolas"/>
                <a:ea typeface="Consolas"/>
                <a:cs typeface="Consolas"/>
                <a:sym typeface="Consolas"/>
              </a:rPr>
              <a:t>packed</a:t>
            </a:r>
            <a:r>
              <a:rPr lang="en"/>
              <a:t> means it will use the smallest possible space for struct</a:t>
            </a:r>
            <a:endParaRPr/>
          </a:p>
          <a:p>
            <a:pPr indent="0" lvl="0" marL="0" rtl="0" algn="l">
              <a:spcBef>
                <a:spcPts val="0"/>
              </a:spcBef>
              <a:spcAft>
                <a:spcPts val="0"/>
              </a:spcAft>
              <a:buNone/>
            </a:pPr>
            <a:r>
              <a:rPr lang="en">
                <a:solidFill>
                  <a:schemeClr val="dk1"/>
                </a:solidFill>
                <a:latin typeface="Consolas"/>
                <a:ea typeface="Consolas"/>
                <a:cs typeface="Consolas"/>
                <a:sym typeface="Consolas"/>
              </a:rPr>
              <a:t>aligned(4)</a:t>
            </a:r>
            <a:r>
              <a:rPr lang="en"/>
              <a:t> its address can be divided by 4</a:t>
            </a:r>
            <a:endParaRPr/>
          </a:p>
          <a:p>
            <a:pPr indent="0" lvl="0" marL="0" rtl="0" algn="l">
              <a:spcBef>
                <a:spcPts val="0"/>
              </a:spcBef>
              <a:spcAft>
                <a:spcPts val="0"/>
              </a:spcAft>
              <a:buNone/>
            </a:pPr>
            <a:r>
              <a:t/>
            </a:r>
            <a:endParaRPr/>
          </a:p>
        </p:txBody>
      </p:sp>
      <p:sp>
        <p:nvSpPr>
          <p:cNvPr id="391" name="Google Shape;391;p58"/>
          <p:cNvSpPr txBox="1"/>
          <p:nvPr>
            <p:ph idx="2" type="body"/>
          </p:nvPr>
        </p:nvSpPr>
        <p:spPr>
          <a:xfrm>
            <a:off x="215075" y="274925"/>
            <a:ext cx="7929600" cy="47574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stdio.h</a:t>
            </a:r>
            <a:r>
              <a:rPr b="1" lang="en" sz="1250">
                <a:solidFill>
                  <a:srgbClr val="E21F1F"/>
                </a:solidFill>
                <a:highlight>
                  <a:srgbClr val="FFFFFF"/>
                </a:highlight>
              </a:rPr>
              <a:t>&gt;</a:t>
            </a:r>
            <a:endParaRPr b="1" sz="12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74531F"/>
                </a:solidFill>
                <a:highlight>
                  <a:srgbClr val="FFFFFF"/>
                </a:highlight>
              </a:rPr>
              <a:t>__attribute__</a:t>
            </a:r>
            <a:r>
              <a:rPr b="1" lang="en" sz="1250">
                <a:solidFill>
                  <a:schemeClr val="dk1"/>
                </a:solidFill>
                <a:highlight>
                  <a:srgbClr val="FFFFFF"/>
                </a:highlight>
              </a:rPr>
              <a:t>((packed)) </a:t>
            </a:r>
            <a:r>
              <a:rPr b="1" lang="en" sz="1250">
                <a:solidFill>
                  <a:srgbClr val="2B91AF"/>
                </a:solidFill>
                <a:highlight>
                  <a:srgbClr val="FFFFFF"/>
                </a:highlight>
              </a:rPr>
              <a:t>picture</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height;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data;</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width;</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encoding;</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74531F"/>
                </a:solidFill>
                <a:highlight>
                  <a:srgbClr val="FFFFFF"/>
                </a:highlight>
              </a:rPr>
              <a:t>__attribute__</a:t>
            </a:r>
            <a:r>
              <a:rPr b="1" lang="en" sz="1250">
                <a:solidFill>
                  <a:schemeClr val="dk1"/>
                </a:solidFill>
                <a:highlight>
                  <a:srgbClr val="FFFFFF"/>
                </a:highlight>
              </a:rPr>
              <a:t>((packed, </a:t>
            </a:r>
            <a:r>
              <a:rPr b="1" lang="en" sz="1250">
                <a:solidFill>
                  <a:srgbClr val="74531F"/>
                </a:solidFill>
                <a:highlight>
                  <a:srgbClr val="FFFFFF"/>
                </a:highlight>
              </a:rPr>
              <a:t>aligned</a:t>
            </a:r>
            <a:r>
              <a:rPr b="1" lang="en" sz="1250">
                <a:solidFill>
                  <a:schemeClr val="dk1"/>
                </a:solidFill>
                <a:highlight>
                  <a:srgbClr val="FFFFFF"/>
                </a:highlight>
              </a:rPr>
              <a:t>(</a:t>
            </a:r>
            <a:r>
              <a:rPr b="1" lang="en" sz="1250">
                <a:solidFill>
                  <a:srgbClr val="098658"/>
                </a:solidFill>
                <a:highlight>
                  <a:srgbClr val="FFFFFF"/>
                </a:highlight>
              </a:rPr>
              <a:t>4</a:t>
            </a:r>
            <a:r>
              <a:rPr b="1" lang="en" sz="1250">
                <a:solidFill>
                  <a:schemeClr val="dk1"/>
                </a:solidFill>
                <a:highlight>
                  <a:srgbClr val="FFFFFF"/>
                </a:highlight>
              </a:rPr>
              <a:t>))) </a:t>
            </a:r>
            <a:r>
              <a:rPr b="1" lang="en" sz="1250">
                <a:solidFill>
                  <a:srgbClr val="2B91AF"/>
                </a:solidFill>
                <a:highlight>
                  <a:srgbClr val="FFFFFF"/>
                </a:highlight>
              </a:rPr>
              <a:t>picture2</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height;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data;</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width;</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encoding;</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int</a:t>
            </a:r>
            <a:r>
              <a:rPr b="1" lang="en" sz="1250">
                <a:solidFill>
                  <a:schemeClr val="dk1"/>
                </a:solidFill>
                <a:highlight>
                  <a:srgbClr val="FFFFFF"/>
                </a:highlight>
              </a:rPr>
              <a:t> </a:t>
            </a:r>
            <a:r>
              <a:rPr b="1" lang="en" sz="1250">
                <a:solidFill>
                  <a:srgbClr val="74531F"/>
                </a:solidFill>
                <a:highlight>
                  <a:srgbClr val="FFFFFF"/>
                </a:highlight>
              </a:rPr>
              <a:t>main</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printf</a:t>
            </a:r>
            <a:r>
              <a:rPr b="1" lang="en" sz="1250">
                <a:solidFill>
                  <a:schemeClr val="dk1"/>
                </a:solidFill>
                <a:highlight>
                  <a:srgbClr val="FFFFFF"/>
                </a:highlight>
              </a:rPr>
              <a:t>(</a:t>
            </a:r>
            <a:r>
              <a:rPr b="1" lang="en" sz="1250">
                <a:solidFill>
                  <a:srgbClr val="E21F1F"/>
                </a:solidFill>
                <a:highlight>
                  <a:srgbClr val="FFFFFF"/>
                </a:highlight>
              </a:rPr>
              <a:t>"</a:t>
            </a:r>
            <a:r>
              <a:rPr b="1" lang="en" sz="1250">
                <a:solidFill>
                  <a:srgbClr val="A31515"/>
                </a:solidFill>
                <a:highlight>
                  <a:srgbClr val="FFFFFF"/>
                </a:highlight>
              </a:rPr>
              <a:t>sizes: </a:t>
            </a:r>
            <a:r>
              <a:rPr b="1" lang="en" sz="1250">
                <a:solidFill>
                  <a:srgbClr val="1F377F"/>
                </a:solidFill>
                <a:highlight>
                  <a:srgbClr val="FFFFFF"/>
                </a:highlight>
              </a:rPr>
              <a:t>%ld</a:t>
            </a:r>
            <a:r>
              <a:rPr b="1" lang="en" sz="1250">
                <a:solidFill>
                  <a:srgbClr val="A31515"/>
                </a:solidFill>
                <a:highlight>
                  <a:srgbClr val="FFFFFF"/>
                </a:highlight>
              </a:rPr>
              <a:t>-</a:t>
            </a:r>
            <a:r>
              <a:rPr b="1" lang="en" sz="1250">
                <a:solidFill>
                  <a:srgbClr val="1F377F"/>
                </a:solidFill>
                <a:highlight>
                  <a:srgbClr val="FFFFFF"/>
                </a:highlight>
              </a:rPr>
              <a:t>%ld</a:t>
            </a:r>
            <a:r>
              <a:rPr b="1" lang="en" sz="1250">
                <a:solidFill>
                  <a:srgbClr val="B776FB"/>
                </a:solidFill>
                <a:highlight>
                  <a:srgbClr val="FFFFFF"/>
                </a:highlight>
              </a:rPr>
              <a:t>\n</a:t>
            </a:r>
            <a:r>
              <a:rPr b="1" lang="en" sz="1250">
                <a:solidFill>
                  <a:srgbClr val="E21F1F"/>
                </a:solidFill>
                <a:highlight>
                  <a:srgbClr val="FFFFFF"/>
                </a:highlight>
              </a:rPr>
              <a:t>"</a:t>
            </a:r>
            <a:r>
              <a:rPr b="1" lang="en" sz="1250">
                <a:solidFill>
                  <a:schemeClr val="dk1"/>
                </a:solidFill>
                <a:highlight>
                  <a:srgbClr val="FFFFFF"/>
                </a:highlight>
              </a:rPr>
              <a:t>, </a:t>
            </a:r>
            <a:r>
              <a:rPr b="1" lang="en" sz="1250">
                <a:solidFill>
                  <a:srgbClr val="0000FF"/>
                </a:solidFill>
                <a:highlight>
                  <a:srgbClr val="FFFFFF"/>
                </a:highlight>
              </a:rPr>
              <a:t>sizeof</a:t>
            </a:r>
            <a:r>
              <a:rPr b="1" lang="en" sz="1250">
                <a:solidFill>
                  <a:schemeClr val="dk1"/>
                </a:solidFill>
                <a:highlight>
                  <a:srgbClr val="FFFFFF"/>
                </a:highlight>
              </a:rPr>
              <a:t>(</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picture</a:t>
            </a:r>
            <a:r>
              <a:rPr b="1" lang="en" sz="1250">
                <a:solidFill>
                  <a:schemeClr val="dk1"/>
                </a:solidFill>
                <a:highlight>
                  <a:srgbClr val="FFFFFF"/>
                </a:highlight>
              </a:rPr>
              <a:t>), </a:t>
            </a:r>
            <a:r>
              <a:rPr b="1" lang="en" sz="1250">
                <a:solidFill>
                  <a:srgbClr val="0000FF"/>
                </a:solidFill>
                <a:highlight>
                  <a:srgbClr val="FFFFFF"/>
                </a:highlight>
              </a:rPr>
              <a:t>sizeof</a:t>
            </a:r>
            <a:r>
              <a:rPr b="1" lang="en" sz="1250">
                <a:solidFill>
                  <a:schemeClr val="dk1"/>
                </a:solidFill>
                <a:highlight>
                  <a:srgbClr val="FFFFFF"/>
                </a:highlight>
              </a:rPr>
              <a:t>(</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picture2</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spcBef>
                <a:spcPts val="0"/>
              </a:spcBef>
              <a:spcAft>
                <a:spcPts val="0"/>
              </a:spcAft>
              <a:buNone/>
            </a:pPr>
            <a:r>
              <a:t/>
            </a:r>
            <a:endParaRPr b="1" sz="1400"/>
          </a:p>
          <a:p>
            <a:pPr indent="0" lvl="0" marL="0" rtl="0" algn="l">
              <a:spcBef>
                <a:spcPts val="0"/>
              </a:spcBef>
              <a:spcAft>
                <a:spcPts val="0"/>
              </a:spcAft>
              <a:buNone/>
            </a:pPr>
            <a:r>
              <a:t/>
            </a:r>
            <a:endParaRPr b="1" sz="1400"/>
          </a:p>
        </p:txBody>
      </p:sp>
      <p:sp>
        <p:nvSpPr>
          <p:cNvPr id="392" name="Google Shape;392;p58"/>
          <p:cNvSpPr txBox="1"/>
          <p:nvPr/>
        </p:nvSpPr>
        <p:spPr>
          <a:xfrm>
            <a:off x="7393750" y="3902100"/>
            <a:ext cx="1458600" cy="400200"/>
          </a:xfrm>
          <a:prstGeom prst="rect">
            <a:avLst/>
          </a:prstGeom>
          <a:solidFill>
            <a:srgbClr val="80808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sizes: 21-24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9"/>
          <p:cNvSpPr txBox="1"/>
          <p:nvPr>
            <p:ph type="title"/>
          </p:nvPr>
        </p:nvSpPr>
        <p:spPr>
          <a:xfrm>
            <a:off x="311700" y="250800"/>
            <a:ext cx="72033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Flexible array member </a:t>
            </a:r>
            <a:endParaRPr/>
          </a:p>
        </p:txBody>
      </p:sp>
      <p:sp>
        <p:nvSpPr>
          <p:cNvPr id="398" name="Google Shape;398;p59"/>
          <p:cNvSpPr txBox="1"/>
          <p:nvPr>
            <p:ph idx="1" type="body"/>
          </p:nvPr>
        </p:nvSpPr>
        <p:spPr>
          <a:xfrm>
            <a:off x="3691700" y="940425"/>
            <a:ext cx="5540400" cy="4056000"/>
          </a:xfrm>
          <a:prstGeom prst="rect">
            <a:avLst/>
          </a:prstGeom>
        </p:spPr>
        <p:txBody>
          <a:bodyPr anchorCtr="0" anchor="t" bIns="91425" lIns="91425" spcFirstLastPara="1" rIns="91425" wrap="square" tIns="91425">
            <a:noAutofit/>
          </a:bodyPr>
          <a:lstStyle/>
          <a:p>
            <a:pPr indent="0" lvl="0" marL="0" rtl="0" algn="l">
              <a:lnSpc>
                <a:spcPct val="125714"/>
              </a:lnSpc>
              <a:spcBef>
                <a:spcPts val="0"/>
              </a:spcBef>
              <a:spcAft>
                <a:spcPts val="0"/>
              </a:spcAft>
              <a:buClr>
                <a:schemeClr val="dk1"/>
              </a:buClr>
              <a:buSzPts val="1100"/>
              <a:buFont typeface="Arial"/>
              <a:buNone/>
            </a:pPr>
            <a:r>
              <a:rPr b="1" lang="en" sz="1150">
                <a:solidFill>
                  <a:srgbClr val="AF00DB"/>
                </a:solidFill>
                <a:highlight>
                  <a:srgbClr val="FFFFFF"/>
                </a:highlight>
                <a:latin typeface="Consolas"/>
                <a:ea typeface="Consolas"/>
                <a:cs typeface="Consolas"/>
                <a:sym typeface="Consolas"/>
              </a:rPr>
              <a:t>#include</a:t>
            </a:r>
            <a:r>
              <a:rPr b="1" lang="en" sz="1150">
                <a:solidFill>
                  <a:srgbClr val="0000FF"/>
                </a:solidFill>
                <a:highlight>
                  <a:srgbClr val="FFFFFF"/>
                </a:highlight>
                <a:latin typeface="Consolas"/>
                <a:ea typeface="Consolas"/>
                <a:cs typeface="Consolas"/>
                <a:sym typeface="Consolas"/>
              </a:rPr>
              <a:t> </a:t>
            </a:r>
            <a:r>
              <a:rPr b="1" lang="en" sz="1150">
                <a:solidFill>
                  <a:srgbClr val="A31515"/>
                </a:solidFill>
                <a:highlight>
                  <a:srgbClr val="FFFFFF"/>
                </a:highlight>
                <a:latin typeface="Consolas"/>
                <a:ea typeface="Consolas"/>
                <a:cs typeface="Consolas"/>
                <a:sym typeface="Consolas"/>
              </a:rPr>
              <a:t>&lt;stdio.h&gt;</a:t>
            </a:r>
            <a:endParaRPr b="1" sz="1150">
              <a:solidFill>
                <a:srgbClr val="A31515"/>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rgbClr val="AF00DB"/>
                </a:solidFill>
                <a:highlight>
                  <a:srgbClr val="FFFFFF"/>
                </a:highlight>
                <a:latin typeface="Consolas"/>
                <a:ea typeface="Consolas"/>
                <a:cs typeface="Consolas"/>
                <a:sym typeface="Consolas"/>
              </a:rPr>
              <a:t>#include</a:t>
            </a:r>
            <a:r>
              <a:rPr b="1" lang="en" sz="1150">
                <a:solidFill>
                  <a:srgbClr val="0000FF"/>
                </a:solidFill>
                <a:highlight>
                  <a:srgbClr val="FFFFFF"/>
                </a:highlight>
                <a:latin typeface="Consolas"/>
                <a:ea typeface="Consolas"/>
                <a:cs typeface="Consolas"/>
                <a:sym typeface="Consolas"/>
              </a:rPr>
              <a:t> </a:t>
            </a:r>
            <a:r>
              <a:rPr b="1" lang="en" sz="1150">
                <a:solidFill>
                  <a:srgbClr val="A31515"/>
                </a:solidFill>
                <a:highlight>
                  <a:srgbClr val="FFFFFF"/>
                </a:highlight>
                <a:latin typeface="Consolas"/>
                <a:ea typeface="Consolas"/>
                <a:cs typeface="Consolas"/>
                <a:sym typeface="Consolas"/>
              </a:rPr>
              <a:t>&lt;stdlib.h&gt;</a:t>
            </a:r>
            <a:endParaRPr b="1" sz="1150">
              <a:solidFill>
                <a:srgbClr val="A31515"/>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rgbClr val="0000FF"/>
                </a:solidFill>
                <a:highlight>
                  <a:srgbClr val="FFFFFF"/>
                </a:highlight>
                <a:latin typeface="Consolas"/>
                <a:ea typeface="Consolas"/>
                <a:cs typeface="Consolas"/>
                <a:sym typeface="Consolas"/>
              </a:rPr>
              <a:t>int</a:t>
            </a:r>
            <a:r>
              <a:rPr b="1" lang="en" sz="1150">
                <a:solidFill>
                  <a:schemeClr val="dk1"/>
                </a:solidFill>
                <a:highlight>
                  <a:srgbClr val="FFFFFF"/>
                </a:highlight>
                <a:latin typeface="Consolas"/>
                <a:ea typeface="Consolas"/>
                <a:cs typeface="Consolas"/>
                <a:sym typeface="Consolas"/>
              </a:rPr>
              <a:t> </a:t>
            </a:r>
            <a:r>
              <a:rPr b="1" lang="en" sz="1150">
                <a:solidFill>
                  <a:srgbClr val="795E26"/>
                </a:solidFill>
                <a:highlight>
                  <a:srgbClr val="FFFFFF"/>
                </a:highlight>
                <a:latin typeface="Consolas"/>
                <a:ea typeface="Consolas"/>
                <a:cs typeface="Consolas"/>
                <a:sym typeface="Consolas"/>
              </a:rPr>
              <a:t>main</a:t>
            </a:r>
            <a:r>
              <a:rPr b="1" lang="en" sz="1150">
                <a:solidFill>
                  <a:schemeClr val="dk1"/>
                </a:solidFill>
                <a:highlight>
                  <a:srgbClr val="FFFFFF"/>
                </a:highlight>
                <a:latin typeface="Consolas"/>
                <a:ea typeface="Consolas"/>
                <a:cs typeface="Consolas"/>
                <a:sym typeface="Consolas"/>
              </a:rPr>
              <a:t>() {</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a:t>
            </a:r>
            <a:r>
              <a:rPr b="1" lang="en" sz="1150">
                <a:solidFill>
                  <a:srgbClr val="267F99"/>
                </a:solidFill>
                <a:highlight>
                  <a:srgbClr val="FFFFFF"/>
                </a:highlight>
                <a:latin typeface="Consolas"/>
                <a:ea typeface="Consolas"/>
                <a:cs typeface="Consolas"/>
                <a:sym typeface="Consolas"/>
              </a:rPr>
              <a:t>array</a:t>
            </a:r>
            <a:r>
              <a:rPr b="1" lang="en" sz="1150">
                <a:solidFill>
                  <a:schemeClr val="dk1"/>
                </a:solidFill>
                <a:highlight>
                  <a:srgbClr val="FFFFFF"/>
                </a:highlight>
                <a:latin typeface="Consolas"/>
                <a:ea typeface="Consolas"/>
                <a:cs typeface="Consolas"/>
                <a:sym typeface="Consolas"/>
              </a:rPr>
              <a:t> {</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int</a:t>
            </a: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size</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data</a:t>
            </a:r>
            <a:r>
              <a:rPr b="1" lang="en" sz="1150">
                <a:solidFill>
                  <a:srgbClr val="0000FF"/>
                </a:solidFill>
                <a:highlight>
                  <a:srgbClr val="FFFFFF"/>
                </a:highlight>
                <a:latin typeface="Consolas"/>
                <a:ea typeface="Consolas"/>
                <a:cs typeface="Consolas"/>
                <a:sym typeface="Consolas"/>
              </a:rPr>
              <a:t>[]</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a:t>
            </a:r>
            <a:r>
              <a:rPr b="1" lang="en" sz="1150">
                <a:solidFill>
                  <a:srgbClr val="267F99"/>
                </a:solidFill>
                <a:highlight>
                  <a:srgbClr val="FFFFFF"/>
                </a:highlight>
                <a:latin typeface="Consolas"/>
                <a:ea typeface="Consolas"/>
                <a:cs typeface="Consolas"/>
                <a:sym typeface="Consolas"/>
              </a:rPr>
              <a:t>array</a:t>
            </a: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 =</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795E26"/>
                </a:solidFill>
                <a:highlight>
                  <a:srgbClr val="FFFFFF"/>
                </a:highlight>
                <a:latin typeface="Consolas"/>
                <a:ea typeface="Consolas"/>
                <a:cs typeface="Consolas"/>
                <a:sym typeface="Consolas"/>
              </a:rPr>
              <a:t>malloc</a:t>
            </a:r>
            <a:r>
              <a:rPr b="1" lang="en" sz="1150">
                <a:solidFill>
                  <a:schemeClr val="dk1"/>
                </a:solidFill>
                <a:highlight>
                  <a:srgbClr val="FFFFFF"/>
                </a:highlight>
                <a:latin typeface="Consolas"/>
                <a:ea typeface="Consolas"/>
                <a:cs typeface="Consolas"/>
                <a:sym typeface="Consolas"/>
              </a:rPr>
              <a:t>(</a:t>
            </a:r>
            <a:r>
              <a:rPr b="1" lang="en" sz="1150">
                <a:solidFill>
                  <a:srgbClr val="0000FF"/>
                </a:solidFill>
                <a:highlight>
                  <a:srgbClr val="FFFFFF"/>
                </a:highlight>
                <a:latin typeface="Consolas"/>
                <a:ea typeface="Consolas"/>
                <a:cs typeface="Consolas"/>
                <a:sym typeface="Consolas"/>
              </a:rPr>
              <a:t>sizeof</a:t>
            </a:r>
            <a:r>
              <a:rPr b="1" lang="en" sz="1150">
                <a:solidFill>
                  <a:schemeClr val="dk1"/>
                </a:solidFill>
                <a:highlight>
                  <a:srgbClr val="FFFFFF"/>
                </a:highlight>
                <a:latin typeface="Consolas"/>
                <a:ea typeface="Consolas"/>
                <a:cs typeface="Consolas"/>
                <a:sym typeface="Consolas"/>
              </a:rPr>
              <a:t>(</a:t>
            </a:r>
            <a:r>
              <a:rPr b="1" lang="en" sz="1150">
                <a:solidFill>
                  <a:schemeClr val="dk1"/>
                </a:solidFill>
                <a:highlight>
                  <a:srgbClr val="FFFFFF"/>
                </a:highlight>
                <a:latin typeface="Consolas"/>
                <a:ea typeface="Consolas"/>
                <a:cs typeface="Consolas"/>
                <a:sym typeface="Consolas"/>
              </a:rPr>
              <a:t>*</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 + </a:t>
            </a:r>
            <a:r>
              <a:rPr b="1" lang="en" sz="1150">
                <a:solidFill>
                  <a:srgbClr val="098658"/>
                </a:solidFill>
                <a:highlight>
                  <a:srgbClr val="FFFFFF"/>
                </a:highlight>
                <a:latin typeface="Consolas"/>
                <a:ea typeface="Consolas"/>
                <a:cs typeface="Consolas"/>
                <a:sym typeface="Consolas"/>
              </a:rPr>
              <a:t>32</a:t>
            </a:r>
            <a:r>
              <a:rPr b="1" lang="en" sz="1150">
                <a:solidFill>
                  <a:schemeClr val="dk1"/>
                </a:solidFill>
                <a:highlight>
                  <a:srgbClr val="FFFFFF"/>
                </a:highlight>
                <a:latin typeface="Consolas"/>
                <a:ea typeface="Consolas"/>
                <a:cs typeface="Consolas"/>
                <a:sym typeface="Consolas"/>
              </a:rPr>
              <a:t> * </a:t>
            </a:r>
            <a:r>
              <a:rPr b="1" lang="en" sz="1150">
                <a:solidFill>
                  <a:srgbClr val="0000FF"/>
                </a:solidFill>
                <a:highlight>
                  <a:srgbClr val="FFFFFF"/>
                </a:highlight>
                <a:latin typeface="Consolas"/>
                <a:ea typeface="Consolas"/>
                <a:cs typeface="Consolas"/>
                <a:sym typeface="Consolas"/>
              </a:rPr>
              <a:t>sizeof</a:t>
            </a:r>
            <a:r>
              <a:rPr b="1" lang="en" sz="1150">
                <a:solidFill>
                  <a:schemeClr val="dk1"/>
                </a:solidFill>
                <a:highlight>
                  <a:srgbClr val="FFFFFF"/>
                </a:highlight>
                <a:latin typeface="Consolas"/>
                <a:ea typeface="Consolas"/>
                <a:cs typeface="Consolas"/>
                <a:sym typeface="Consolas"/>
              </a:rPr>
              <a:t>(</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-&gt;</a:t>
            </a:r>
            <a:r>
              <a:rPr b="1" lang="en" sz="1150">
                <a:solidFill>
                  <a:srgbClr val="001080"/>
                </a:solidFill>
                <a:highlight>
                  <a:srgbClr val="FFFFFF"/>
                </a:highlight>
                <a:latin typeface="Consolas"/>
                <a:ea typeface="Consolas"/>
                <a:cs typeface="Consolas"/>
                <a:sym typeface="Consolas"/>
              </a:rPr>
              <a:t>size</a:t>
            </a:r>
            <a:r>
              <a:rPr b="1" lang="en" sz="1150">
                <a:solidFill>
                  <a:schemeClr val="dk1"/>
                </a:solidFill>
                <a:highlight>
                  <a:srgbClr val="FFFFFF"/>
                </a:highlight>
                <a:latin typeface="Consolas"/>
                <a:ea typeface="Consolas"/>
                <a:cs typeface="Consolas"/>
                <a:sym typeface="Consolas"/>
              </a:rPr>
              <a:t> = </a:t>
            </a:r>
            <a:r>
              <a:rPr b="1" lang="en" sz="1150">
                <a:solidFill>
                  <a:srgbClr val="098658"/>
                </a:solidFill>
                <a:highlight>
                  <a:srgbClr val="FFFFFF"/>
                </a:highlight>
                <a:latin typeface="Consolas"/>
                <a:ea typeface="Consolas"/>
                <a:cs typeface="Consolas"/>
                <a:sym typeface="Consolas"/>
              </a:rPr>
              <a:t>32</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-&gt;</a:t>
            </a:r>
            <a:r>
              <a:rPr b="1" lang="en" sz="1150">
                <a:solidFill>
                  <a:srgbClr val="001080"/>
                </a:solidFill>
                <a:highlight>
                  <a:srgbClr val="FFFFFF"/>
                </a:highlight>
                <a:latin typeface="Consolas"/>
                <a:ea typeface="Consolas"/>
                <a:cs typeface="Consolas"/>
                <a:sym typeface="Consolas"/>
              </a:rPr>
              <a:t>data</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0</a:t>
            </a:r>
            <a:r>
              <a:rPr b="1" lang="en" sz="1150">
                <a:solidFill>
                  <a:schemeClr val="dk1"/>
                </a:solidFill>
                <a:highlight>
                  <a:srgbClr val="FFFFFF"/>
                </a:highlight>
                <a:latin typeface="Consolas"/>
                <a:ea typeface="Consolas"/>
                <a:cs typeface="Consolas"/>
                <a:sym typeface="Consolas"/>
              </a:rPr>
              <a:t>] = </a:t>
            </a:r>
            <a:r>
              <a:rPr b="1" lang="en" sz="1150">
                <a:solidFill>
                  <a:srgbClr val="098658"/>
                </a:solidFill>
                <a:highlight>
                  <a:srgbClr val="FFFFFF"/>
                </a:highlight>
                <a:latin typeface="Consolas"/>
                <a:ea typeface="Consolas"/>
                <a:cs typeface="Consolas"/>
                <a:sym typeface="Consolas"/>
              </a:rPr>
              <a:t>5</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-&gt;</a:t>
            </a:r>
            <a:r>
              <a:rPr b="1" lang="en" sz="1150">
                <a:solidFill>
                  <a:srgbClr val="001080"/>
                </a:solidFill>
                <a:highlight>
                  <a:srgbClr val="FFFFFF"/>
                </a:highlight>
                <a:latin typeface="Consolas"/>
                <a:ea typeface="Consolas"/>
                <a:cs typeface="Consolas"/>
                <a:sym typeface="Consolas"/>
              </a:rPr>
              <a:t>data</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31</a:t>
            </a:r>
            <a:r>
              <a:rPr b="1" lang="en" sz="1150">
                <a:solidFill>
                  <a:schemeClr val="dk1"/>
                </a:solidFill>
                <a:highlight>
                  <a:srgbClr val="FFFFFF"/>
                </a:highlight>
                <a:latin typeface="Consolas"/>
                <a:ea typeface="Consolas"/>
                <a:cs typeface="Consolas"/>
                <a:sym typeface="Consolas"/>
              </a:rPr>
              <a:t>] = </a:t>
            </a:r>
            <a:r>
              <a:rPr b="1" lang="en" sz="1150">
                <a:solidFill>
                  <a:srgbClr val="098658"/>
                </a:solidFill>
                <a:highlight>
                  <a:srgbClr val="FFFFFF"/>
                </a:highlight>
                <a:latin typeface="Consolas"/>
                <a:ea typeface="Consolas"/>
                <a:cs typeface="Consolas"/>
                <a:sym typeface="Consolas"/>
              </a:rPr>
              <a:t>2</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795E26"/>
                </a:solidFill>
                <a:highlight>
                  <a:srgbClr val="FFFFFF"/>
                </a:highlight>
                <a:latin typeface="Consolas"/>
                <a:ea typeface="Consolas"/>
                <a:cs typeface="Consolas"/>
                <a:sym typeface="Consolas"/>
              </a:rPr>
              <a:t>printf</a:t>
            </a:r>
            <a:r>
              <a:rPr b="1" lang="en" sz="1150">
                <a:solidFill>
                  <a:schemeClr val="dk1"/>
                </a:solidFill>
                <a:highlight>
                  <a:srgbClr val="FFFFFF"/>
                </a:highlight>
                <a:latin typeface="Consolas"/>
                <a:ea typeface="Consolas"/>
                <a:cs typeface="Consolas"/>
                <a:sym typeface="Consolas"/>
              </a:rPr>
              <a:t>(</a:t>
            </a:r>
            <a:r>
              <a:rPr b="1" lang="en" sz="1150">
                <a:solidFill>
                  <a:srgbClr val="A31515"/>
                </a:solidFill>
                <a:highlight>
                  <a:srgbClr val="FFFFFF"/>
                </a:highlight>
                <a:latin typeface="Consolas"/>
                <a:ea typeface="Consolas"/>
                <a:cs typeface="Consolas"/>
                <a:sym typeface="Consolas"/>
              </a:rPr>
              <a:t>"</a:t>
            </a:r>
            <a:r>
              <a:rPr b="1" lang="en" sz="1150">
                <a:solidFill>
                  <a:srgbClr val="001080"/>
                </a:solidFill>
                <a:highlight>
                  <a:srgbClr val="FFFFFF"/>
                </a:highlight>
                <a:latin typeface="Consolas"/>
                <a:ea typeface="Consolas"/>
                <a:cs typeface="Consolas"/>
                <a:sym typeface="Consolas"/>
              </a:rPr>
              <a:t>%lu</a:t>
            </a:r>
            <a:r>
              <a:rPr b="1" lang="en" sz="1150">
                <a:solidFill>
                  <a:srgbClr val="A31515"/>
                </a:solidFill>
                <a:highlight>
                  <a:srgbClr val="FFFFFF"/>
                </a:highlight>
                <a:latin typeface="Consolas"/>
                <a:ea typeface="Consolas"/>
                <a:cs typeface="Consolas"/>
                <a:sym typeface="Consolas"/>
              </a:rPr>
              <a:t>-</a:t>
            </a:r>
            <a:r>
              <a:rPr b="1" lang="en" sz="1150">
                <a:solidFill>
                  <a:srgbClr val="001080"/>
                </a:solidFill>
                <a:highlight>
                  <a:srgbClr val="FFFFFF"/>
                </a:highlight>
                <a:latin typeface="Consolas"/>
                <a:ea typeface="Consolas"/>
                <a:cs typeface="Consolas"/>
                <a:sym typeface="Consolas"/>
              </a:rPr>
              <a:t>%lu</a:t>
            </a:r>
            <a:r>
              <a:rPr b="1" lang="en" sz="1150">
                <a:solidFill>
                  <a:srgbClr val="EE0000"/>
                </a:solidFill>
                <a:highlight>
                  <a:srgbClr val="FFFFFF"/>
                </a:highlight>
                <a:latin typeface="Consolas"/>
                <a:ea typeface="Consolas"/>
                <a:cs typeface="Consolas"/>
                <a:sym typeface="Consolas"/>
              </a:rPr>
              <a:t>\n</a:t>
            </a:r>
            <a:r>
              <a:rPr b="1" lang="en" sz="1150">
                <a:solidFill>
                  <a:srgbClr val="A31515"/>
                </a:solidFill>
                <a:highlight>
                  <a:srgbClr val="FFFFFF"/>
                </a:highlight>
                <a:latin typeface="Consolas"/>
                <a:ea typeface="Consolas"/>
                <a:cs typeface="Consolas"/>
                <a:sym typeface="Consolas"/>
              </a:rPr>
              <a:t>"</a:t>
            </a: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sizeof</a:t>
            </a:r>
            <a:r>
              <a:rPr b="1" lang="en" sz="1150">
                <a:solidFill>
                  <a:schemeClr val="dk1"/>
                </a:solidFill>
                <a:highlight>
                  <a:srgbClr val="FFFFFF"/>
                </a:highlight>
                <a:latin typeface="Consolas"/>
                <a:ea typeface="Consolas"/>
                <a:cs typeface="Consolas"/>
                <a:sym typeface="Consolas"/>
              </a:rPr>
              <a:t>(</a:t>
            </a: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a:t>
            </a:r>
            <a:r>
              <a:rPr b="1" lang="en" sz="1150">
                <a:solidFill>
                  <a:srgbClr val="267F99"/>
                </a:solidFill>
                <a:highlight>
                  <a:srgbClr val="FFFFFF"/>
                </a:highlight>
                <a:latin typeface="Consolas"/>
                <a:ea typeface="Consolas"/>
                <a:cs typeface="Consolas"/>
                <a:sym typeface="Consolas"/>
              </a:rPr>
              <a:t>array</a:t>
            </a: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sizeof</a:t>
            </a:r>
            <a:r>
              <a:rPr b="1" lang="en" sz="1150">
                <a:solidFill>
                  <a:schemeClr val="dk1"/>
                </a:solidFill>
                <a:highlight>
                  <a:srgbClr val="FFFFFF"/>
                </a:highlight>
                <a:latin typeface="Consolas"/>
                <a:ea typeface="Consolas"/>
                <a:cs typeface="Consolas"/>
                <a:sym typeface="Consolas"/>
              </a:rPr>
              <a:t>(*</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795E26"/>
                </a:solidFill>
                <a:highlight>
                  <a:srgbClr val="FFFFFF"/>
                </a:highlight>
                <a:latin typeface="Consolas"/>
                <a:ea typeface="Consolas"/>
                <a:cs typeface="Consolas"/>
                <a:sym typeface="Consolas"/>
              </a:rPr>
              <a:t>printf</a:t>
            </a:r>
            <a:r>
              <a:rPr b="1" lang="en" sz="1150">
                <a:solidFill>
                  <a:schemeClr val="dk1"/>
                </a:solidFill>
                <a:highlight>
                  <a:srgbClr val="FFFFFF"/>
                </a:highlight>
                <a:latin typeface="Consolas"/>
                <a:ea typeface="Consolas"/>
                <a:cs typeface="Consolas"/>
                <a:sym typeface="Consolas"/>
              </a:rPr>
              <a:t>(</a:t>
            </a:r>
            <a:r>
              <a:rPr b="1" lang="en" sz="1150">
                <a:solidFill>
                  <a:srgbClr val="A31515"/>
                </a:solidFill>
                <a:highlight>
                  <a:srgbClr val="FFFFFF"/>
                </a:highlight>
                <a:latin typeface="Consolas"/>
                <a:ea typeface="Consolas"/>
                <a:cs typeface="Consolas"/>
                <a:sym typeface="Consolas"/>
              </a:rPr>
              <a:t>"size:</a:t>
            </a:r>
            <a:r>
              <a:rPr b="1" lang="en" sz="1150">
                <a:solidFill>
                  <a:srgbClr val="001080"/>
                </a:solidFill>
                <a:highlight>
                  <a:srgbClr val="FFFFFF"/>
                </a:highlight>
                <a:latin typeface="Consolas"/>
                <a:ea typeface="Consolas"/>
                <a:cs typeface="Consolas"/>
                <a:sym typeface="Consolas"/>
              </a:rPr>
              <a:t>%d</a:t>
            </a:r>
            <a:r>
              <a:rPr b="1" lang="en" sz="1150">
                <a:solidFill>
                  <a:srgbClr val="A31515"/>
                </a:solidFill>
                <a:highlight>
                  <a:srgbClr val="FFFFFF"/>
                </a:highlight>
                <a:latin typeface="Consolas"/>
                <a:ea typeface="Consolas"/>
                <a:cs typeface="Consolas"/>
                <a:sym typeface="Consolas"/>
              </a:rPr>
              <a:t> </a:t>
            </a:r>
            <a:r>
              <a:rPr b="1" lang="en" sz="1150">
                <a:solidFill>
                  <a:srgbClr val="EE0000"/>
                </a:solidFill>
                <a:highlight>
                  <a:srgbClr val="FFFFFF"/>
                </a:highlight>
                <a:latin typeface="Consolas"/>
                <a:ea typeface="Consolas"/>
                <a:cs typeface="Consolas"/>
                <a:sym typeface="Consolas"/>
              </a:rPr>
              <a:t>\n</a:t>
            </a:r>
            <a:r>
              <a:rPr b="1" lang="en" sz="1150">
                <a:solidFill>
                  <a:srgbClr val="A31515"/>
                </a:solidFill>
                <a:highlight>
                  <a:srgbClr val="FFFFFF"/>
                </a:highlight>
                <a:latin typeface="Consolas"/>
                <a:ea typeface="Consolas"/>
                <a:cs typeface="Consolas"/>
                <a:sym typeface="Consolas"/>
              </a:rPr>
              <a:t> data[31]: </a:t>
            </a:r>
            <a:r>
              <a:rPr b="1" lang="en" sz="1150">
                <a:solidFill>
                  <a:srgbClr val="001080"/>
                </a:solidFill>
                <a:highlight>
                  <a:srgbClr val="FFFFFF"/>
                </a:highlight>
                <a:latin typeface="Consolas"/>
                <a:ea typeface="Consolas"/>
                <a:cs typeface="Consolas"/>
                <a:sym typeface="Consolas"/>
              </a:rPr>
              <a:t>%d</a:t>
            </a:r>
            <a:r>
              <a:rPr b="1" lang="en" sz="1150">
                <a:solidFill>
                  <a:srgbClr val="EE0000"/>
                </a:solidFill>
                <a:highlight>
                  <a:srgbClr val="FFFFFF"/>
                </a:highlight>
                <a:latin typeface="Consolas"/>
                <a:ea typeface="Consolas"/>
                <a:cs typeface="Consolas"/>
                <a:sym typeface="Consolas"/>
              </a:rPr>
              <a:t>\n</a:t>
            </a:r>
            <a:r>
              <a:rPr b="1" lang="en" sz="1150">
                <a:solidFill>
                  <a:srgbClr val="A31515"/>
                </a:solidFill>
                <a:highlight>
                  <a:srgbClr val="FFFFFF"/>
                </a:highlight>
                <a:latin typeface="Consolas"/>
                <a:ea typeface="Consolas"/>
                <a:cs typeface="Consolas"/>
                <a:sym typeface="Consolas"/>
              </a:rPr>
              <a:t>"</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-&gt;</a:t>
            </a:r>
            <a:r>
              <a:rPr b="1" lang="en" sz="1150">
                <a:solidFill>
                  <a:srgbClr val="001080"/>
                </a:solidFill>
                <a:highlight>
                  <a:srgbClr val="FFFFFF"/>
                </a:highlight>
                <a:latin typeface="Consolas"/>
                <a:ea typeface="Consolas"/>
                <a:cs typeface="Consolas"/>
                <a:sym typeface="Consolas"/>
              </a:rPr>
              <a:t>size</a:t>
            </a: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-&gt;</a:t>
            </a:r>
            <a:r>
              <a:rPr b="1" lang="en" sz="1150">
                <a:solidFill>
                  <a:srgbClr val="001080"/>
                </a:solidFill>
                <a:highlight>
                  <a:srgbClr val="FFFFFF"/>
                </a:highlight>
                <a:latin typeface="Consolas"/>
                <a:ea typeface="Consolas"/>
                <a:cs typeface="Consolas"/>
                <a:sym typeface="Consolas"/>
              </a:rPr>
              <a:t>data</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31</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795E26"/>
                </a:solidFill>
                <a:highlight>
                  <a:srgbClr val="FFFFFF"/>
                </a:highlight>
                <a:latin typeface="Consolas"/>
                <a:ea typeface="Consolas"/>
                <a:cs typeface="Consolas"/>
                <a:sym typeface="Consolas"/>
              </a:rPr>
              <a:t>free</a:t>
            </a:r>
            <a:r>
              <a:rPr b="1" lang="en" sz="1150">
                <a:solidFill>
                  <a:schemeClr val="dk1"/>
                </a:solidFill>
                <a:highlight>
                  <a:srgbClr val="FFFFFF"/>
                </a:highlight>
                <a:latin typeface="Consolas"/>
                <a:ea typeface="Consolas"/>
                <a:cs typeface="Consolas"/>
                <a:sym typeface="Consolas"/>
              </a:rPr>
              <a:t>(</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AF00DB"/>
                </a:solidFill>
                <a:highlight>
                  <a:srgbClr val="FFFFFF"/>
                </a:highlight>
                <a:latin typeface="Consolas"/>
                <a:ea typeface="Consolas"/>
                <a:cs typeface="Consolas"/>
                <a:sym typeface="Consolas"/>
              </a:rPr>
              <a:t>return</a:t>
            </a:r>
            <a:r>
              <a:rPr b="1" lang="en" sz="1150">
                <a:solidFill>
                  <a:schemeClr val="dk1"/>
                </a:solidFill>
                <a:highlight>
                  <a:srgbClr val="FFFFFF"/>
                </a:highlight>
                <a:latin typeface="Consolas"/>
                <a:ea typeface="Consolas"/>
                <a:cs typeface="Consolas"/>
                <a:sym typeface="Consolas"/>
              </a:rPr>
              <a:t> </a:t>
            </a:r>
            <a:r>
              <a:rPr b="1" lang="en" sz="1150">
                <a:solidFill>
                  <a:srgbClr val="098658"/>
                </a:solidFill>
                <a:highlight>
                  <a:srgbClr val="FFFFFF"/>
                </a:highlight>
                <a:latin typeface="Consolas"/>
                <a:ea typeface="Consolas"/>
                <a:cs typeface="Consolas"/>
                <a:sym typeface="Consolas"/>
              </a:rPr>
              <a:t>0</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a:t>
            </a:r>
            <a:endParaRPr b="1" sz="1150">
              <a:solidFill>
                <a:srgbClr val="AF00DB"/>
              </a:solidFill>
              <a:highlight>
                <a:srgbClr val="FFFFFF"/>
              </a:highlight>
              <a:latin typeface="Consolas"/>
              <a:ea typeface="Consolas"/>
              <a:cs typeface="Consolas"/>
              <a:sym typeface="Consolas"/>
            </a:endParaRPr>
          </a:p>
        </p:txBody>
      </p:sp>
      <p:sp>
        <p:nvSpPr>
          <p:cNvPr id="399" name="Google Shape;399;p59"/>
          <p:cNvSpPr txBox="1"/>
          <p:nvPr>
            <p:ph idx="2" type="body"/>
          </p:nvPr>
        </p:nvSpPr>
        <p:spPr>
          <a:xfrm>
            <a:off x="372775" y="1208350"/>
            <a:ext cx="42222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150">
                <a:solidFill>
                  <a:srgbClr val="008000"/>
                </a:solidFill>
                <a:highlight>
                  <a:srgbClr val="FFFFFF"/>
                </a:highlight>
              </a:rPr>
              <a:t>/*after c99 */</a:t>
            </a:r>
            <a:r>
              <a:rPr b="1" lang="en" sz="1150">
                <a:solidFill>
                  <a:schemeClr val="dk1"/>
                </a:solidFill>
                <a:highlight>
                  <a:srgbClr val="FFFFFF"/>
                </a:highlight>
              </a:rPr>
              <a:t>  </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rgbClr val="0000FF"/>
                </a:solidFill>
                <a:highlight>
                  <a:srgbClr val="FFFFFF"/>
                </a:highlight>
              </a:rPr>
              <a:t>struct</a:t>
            </a:r>
            <a:r>
              <a:rPr b="1" lang="en" sz="1150">
                <a:solidFill>
                  <a:schemeClr val="dk1"/>
                </a:solidFill>
                <a:highlight>
                  <a:srgbClr val="FFFFFF"/>
                </a:highlight>
              </a:rPr>
              <a:t> </a:t>
            </a:r>
            <a:r>
              <a:rPr b="1" lang="en" sz="1150">
                <a:solidFill>
                  <a:srgbClr val="2B91AF"/>
                </a:solidFill>
                <a:highlight>
                  <a:srgbClr val="FFFFFF"/>
                </a:highlight>
              </a:rPr>
              <a:t>array </a:t>
            </a:r>
            <a:r>
              <a:rPr b="1" lang="en" sz="1150">
                <a:solidFill>
                  <a:schemeClr val="dk1"/>
                </a:solidFill>
                <a:highlight>
                  <a:srgbClr val="FFFFFF"/>
                </a:highlight>
              </a:rPr>
              <a:t>{</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r>
              <a:rPr b="1" lang="en" sz="1150">
                <a:solidFill>
                  <a:srgbClr val="0000FF"/>
                </a:solidFill>
                <a:highlight>
                  <a:srgbClr val="FFFFFF"/>
                </a:highlight>
              </a:rPr>
              <a:t>int</a:t>
            </a:r>
            <a:r>
              <a:rPr b="1" lang="en" sz="1150">
                <a:solidFill>
                  <a:schemeClr val="dk1"/>
                </a:solidFill>
                <a:highlight>
                  <a:srgbClr val="FFFFFF"/>
                </a:highlight>
              </a:rPr>
              <a:t> size;</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r>
              <a:rPr b="1" lang="en" sz="1150">
                <a:solidFill>
                  <a:srgbClr val="0000FF"/>
                </a:solidFill>
                <a:highlight>
                  <a:srgbClr val="FFFFFF"/>
                </a:highlight>
              </a:rPr>
              <a:t>int</a:t>
            </a:r>
            <a:r>
              <a:rPr b="1" lang="en" sz="1150">
                <a:solidFill>
                  <a:schemeClr val="dk1"/>
                </a:solidFill>
                <a:highlight>
                  <a:srgbClr val="FFFFFF"/>
                </a:highlight>
              </a:rPr>
              <a:t> data</a:t>
            </a:r>
            <a:r>
              <a:rPr b="1" lang="en" sz="1150">
                <a:solidFill>
                  <a:srgbClr val="0000FF"/>
                </a:solidFill>
                <a:highlight>
                  <a:srgbClr val="FFFFFF"/>
                </a:highlight>
              </a:rPr>
              <a:t>[]</a:t>
            </a:r>
            <a:r>
              <a:rPr b="1" lang="en" sz="1150">
                <a:solidFill>
                  <a:schemeClr val="dk1"/>
                </a:solidFill>
                <a:highlight>
                  <a:srgbClr val="FFFFFF"/>
                </a:highlight>
              </a:rPr>
              <a:t>;</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endParaRPr b="1" sz="1150">
              <a:solidFill>
                <a:schemeClr val="dk1"/>
              </a:solidFill>
              <a:highlight>
                <a:srgbClr val="FFFFFF"/>
              </a:highlight>
            </a:endParaRPr>
          </a:p>
          <a:p>
            <a:pPr indent="0" lvl="0" marL="0" rtl="0" algn="l">
              <a:lnSpc>
                <a:spcPct val="135714"/>
              </a:lnSpc>
              <a:spcBef>
                <a:spcPts val="0"/>
              </a:spcBef>
              <a:spcAft>
                <a:spcPts val="0"/>
              </a:spcAft>
              <a:buNone/>
            </a:pPr>
            <a:r>
              <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endParaRPr b="1" sz="1150">
              <a:solidFill>
                <a:schemeClr val="dk1"/>
              </a:solidFill>
              <a:highlight>
                <a:srgbClr val="FFFFFF"/>
              </a:highlight>
            </a:endParaRPr>
          </a:p>
          <a:p>
            <a:pPr indent="0" lvl="0" marL="0" rtl="0" algn="l">
              <a:lnSpc>
                <a:spcPct val="135714"/>
              </a:lnSpc>
              <a:spcBef>
                <a:spcPts val="0"/>
              </a:spcBef>
              <a:spcAft>
                <a:spcPts val="0"/>
              </a:spcAft>
              <a:buNone/>
            </a:pPr>
            <a:r>
              <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rgbClr val="008000"/>
                </a:solidFill>
                <a:highlight>
                  <a:srgbClr val="FFFFFF"/>
                </a:highlight>
              </a:rPr>
              <a:t>/*</a:t>
            </a:r>
            <a:r>
              <a:rPr b="1" i="1" lang="en" sz="1150">
                <a:solidFill>
                  <a:srgbClr val="008000"/>
                </a:solidFill>
                <a:highlight>
                  <a:srgbClr val="FFFFFF"/>
                </a:highlight>
              </a:rPr>
              <a:t>or before c99, a “struct-hack” </a:t>
            </a:r>
            <a:endParaRPr b="1" i="1" sz="1150">
              <a:solidFill>
                <a:srgbClr val="008000"/>
              </a:solidFill>
              <a:highlight>
                <a:srgbClr val="FFFFFF"/>
              </a:highlight>
            </a:endParaRPr>
          </a:p>
          <a:p>
            <a:pPr indent="0" lvl="0" marL="0" rtl="0" algn="l">
              <a:lnSpc>
                <a:spcPct val="135714"/>
              </a:lnSpc>
              <a:spcBef>
                <a:spcPts val="0"/>
              </a:spcBef>
              <a:spcAft>
                <a:spcPts val="0"/>
              </a:spcAft>
              <a:buNone/>
            </a:pPr>
            <a:r>
              <a:rPr b="1" i="1" lang="en" sz="1150">
                <a:solidFill>
                  <a:srgbClr val="008000"/>
                </a:solidFill>
                <a:highlight>
                  <a:srgbClr val="FFFFFF"/>
                </a:highlight>
              </a:rPr>
              <a:t>with zero-length array*</a:t>
            </a:r>
            <a:r>
              <a:rPr b="1" lang="en" sz="1150">
                <a:solidFill>
                  <a:srgbClr val="008000"/>
                </a:solidFill>
                <a:highlight>
                  <a:srgbClr val="FFFFFF"/>
                </a:highlight>
              </a:rPr>
              <a:t>/</a:t>
            </a:r>
            <a:endParaRPr b="1" sz="1150">
              <a:solidFill>
                <a:srgbClr val="008000"/>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r>
              <a:rPr b="1" lang="en" sz="1150">
                <a:solidFill>
                  <a:srgbClr val="0000FF"/>
                </a:solidFill>
                <a:highlight>
                  <a:srgbClr val="FFFFFF"/>
                </a:highlight>
              </a:rPr>
              <a:t>struct</a:t>
            </a:r>
            <a:r>
              <a:rPr b="1" lang="en" sz="1150">
                <a:solidFill>
                  <a:schemeClr val="dk1"/>
                </a:solidFill>
                <a:highlight>
                  <a:srgbClr val="FFFFFF"/>
                </a:highlight>
              </a:rPr>
              <a:t> </a:t>
            </a:r>
            <a:r>
              <a:rPr b="1" lang="en" sz="1150">
                <a:solidFill>
                  <a:srgbClr val="2B91AF"/>
                </a:solidFill>
                <a:highlight>
                  <a:srgbClr val="FFFFFF"/>
                </a:highlight>
              </a:rPr>
              <a:t>array2 </a:t>
            </a:r>
            <a:r>
              <a:rPr b="1" lang="en" sz="1150">
                <a:solidFill>
                  <a:schemeClr val="dk1"/>
                </a:solidFill>
                <a:highlight>
                  <a:srgbClr val="FFFFFF"/>
                </a:highlight>
              </a:rPr>
              <a:t>{</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r>
              <a:rPr b="1" lang="en" sz="1150">
                <a:solidFill>
                  <a:srgbClr val="0000FF"/>
                </a:solidFill>
                <a:highlight>
                  <a:srgbClr val="FFFFFF"/>
                </a:highlight>
              </a:rPr>
              <a:t>int</a:t>
            </a:r>
            <a:r>
              <a:rPr b="1" lang="en" sz="1150">
                <a:solidFill>
                  <a:schemeClr val="dk1"/>
                </a:solidFill>
                <a:highlight>
                  <a:srgbClr val="FFFFFF"/>
                </a:highlight>
              </a:rPr>
              <a:t> size;</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r>
              <a:rPr b="1" lang="en" sz="1150">
                <a:solidFill>
                  <a:srgbClr val="0000FF"/>
                </a:solidFill>
                <a:highlight>
                  <a:srgbClr val="FFFFFF"/>
                </a:highlight>
              </a:rPr>
              <a:t>int</a:t>
            </a:r>
            <a:r>
              <a:rPr b="1" lang="en" sz="1150">
                <a:solidFill>
                  <a:schemeClr val="dk1"/>
                </a:solidFill>
                <a:highlight>
                  <a:srgbClr val="FFFFFF"/>
                </a:highlight>
              </a:rPr>
              <a:t> data[</a:t>
            </a:r>
            <a:r>
              <a:rPr b="1" lang="en" sz="1150">
                <a:solidFill>
                  <a:srgbClr val="098658"/>
                </a:solidFill>
                <a:highlight>
                  <a:srgbClr val="FFFFFF"/>
                </a:highlight>
              </a:rPr>
              <a:t>0</a:t>
            </a:r>
            <a:r>
              <a:rPr b="1" lang="en" sz="1150">
                <a:solidFill>
                  <a:schemeClr val="dk1"/>
                </a:solidFill>
                <a:highlight>
                  <a:srgbClr val="FFFFFF"/>
                </a:highlight>
              </a:rPr>
              <a:t>];</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endParaRPr b="1" sz="1150">
              <a:solidFill>
                <a:schemeClr val="dk1"/>
              </a:solidFill>
              <a:highlight>
                <a:srgbClr val="FFFFFF"/>
              </a:highlight>
            </a:endParaRPr>
          </a:p>
          <a:p>
            <a:pPr indent="0" lvl="0" marL="0" rtl="0" algn="l">
              <a:spcBef>
                <a:spcPts val="0"/>
              </a:spcBef>
              <a:spcAft>
                <a:spcPts val="0"/>
              </a:spcAft>
              <a:buNone/>
            </a:pPr>
            <a:r>
              <a:t/>
            </a:r>
            <a:endParaRPr b="1" sz="1300"/>
          </a:p>
          <a:p>
            <a:pPr indent="0" lvl="0" marL="0" rtl="0" algn="l">
              <a:spcBef>
                <a:spcPts val="0"/>
              </a:spcBef>
              <a:spcAft>
                <a:spcPts val="0"/>
              </a:spcAft>
              <a:buNone/>
            </a:pPr>
            <a:r>
              <a:t/>
            </a:r>
            <a:endParaRPr b="1" sz="1300"/>
          </a:p>
        </p:txBody>
      </p:sp>
      <p:sp>
        <p:nvSpPr>
          <p:cNvPr id="400" name="Google Shape;400;p59"/>
          <p:cNvSpPr txBox="1"/>
          <p:nvPr/>
        </p:nvSpPr>
        <p:spPr>
          <a:xfrm>
            <a:off x="4316575" y="658975"/>
            <a:ext cx="4531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rPr>
              <a:t>Requires </a:t>
            </a:r>
            <a:r>
              <a:rPr lang="en" sz="1300">
                <a:solidFill>
                  <a:schemeClr val="dk1"/>
                </a:solidFill>
              </a:rPr>
              <a:t>1-malloc instead of 2-malloc</a:t>
            </a:r>
            <a:endParaRPr sz="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par>
                                <p:cTn fill="hold" nodeType="with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An Example</a:t>
            </a:r>
            <a:endParaRPr/>
          </a:p>
        </p:txBody>
      </p:sp>
      <p:sp>
        <p:nvSpPr>
          <p:cNvPr id="406" name="Google Shape;406;p6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Put a frame around a given bitmap image</a:t>
            </a:r>
            <a:endParaRPr/>
          </a:p>
        </p:txBody>
      </p:sp>
      <p:pic>
        <p:nvPicPr>
          <p:cNvPr id="407" name="Google Shape;407;p60"/>
          <p:cNvPicPr preferRelativeResize="0"/>
          <p:nvPr>
            <p:ph idx="4294967295" type="body"/>
          </p:nvPr>
        </p:nvPicPr>
        <p:blipFill rotWithShape="1">
          <a:blip r:embed="rId3">
            <a:alphaModFix/>
          </a:blip>
          <a:srcRect b="0" l="0" r="0" t="0"/>
          <a:stretch/>
        </p:blipFill>
        <p:spPr>
          <a:xfrm>
            <a:off x="4875220" y="857250"/>
            <a:ext cx="4040100" cy="1848600"/>
          </a:xfrm>
          <a:prstGeom prst="rect">
            <a:avLst/>
          </a:prstGeom>
          <a:noFill/>
          <a:ln>
            <a:noFill/>
          </a:ln>
        </p:spPr>
      </p:pic>
      <p:pic>
        <p:nvPicPr>
          <p:cNvPr id="408" name="Google Shape;408;p60"/>
          <p:cNvPicPr preferRelativeResize="0"/>
          <p:nvPr/>
        </p:nvPicPr>
        <p:blipFill rotWithShape="1">
          <a:blip r:embed="rId4">
            <a:alphaModFix/>
          </a:blip>
          <a:srcRect b="0" l="0" r="0" t="0"/>
          <a:stretch/>
        </p:blipFill>
        <p:spPr>
          <a:xfrm>
            <a:off x="5486400" y="3066973"/>
            <a:ext cx="3028950" cy="1847927"/>
          </a:xfrm>
          <a:prstGeom prst="rect">
            <a:avLst/>
          </a:prstGeom>
          <a:noFill/>
          <a:ln>
            <a:noFill/>
          </a:ln>
        </p:spPr>
      </p:pic>
      <p:grpSp>
        <p:nvGrpSpPr>
          <p:cNvPr id="409" name="Google Shape;409;p60"/>
          <p:cNvGrpSpPr/>
          <p:nvPr/>
        </p:nvGrpSpPr>
        <p:grpSpPr>
          <a:xfrm>
            <a:off x="3525025" y="1233175"/>
            <a:ext cx="1350195" cy="548375"/>
            <a:chOff x="3525025" y="1233175"/>
            <a:chExt cx="1350195" cy="548375"/>
          </a:xfrm>
        </p:grpSpPr>
        <p:sp>
          <p:nvSpPr>
            <p:cNvPr id="410" name="Google Shape;410;p60"/>
            <p:cNvSpPr txBox="1"/>
            <p:nvPr/>
          </p:nvSpPr>
          <p:spPr>
            <a:xfrm>
              <a:off x="3525025" y="1233175"/>
              <a:ext cx="112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input</a:t>
              </a:r>
              <a:endParaRPr sz="1800">
                <a:solidFill>
                  <a:schemeClr val="dk2"/>
                </a:solidFill>
              </a:endParaRPr>
            </a:p>
          </p:txBody>
        </p:sp>
        <p:cxnSp>
          <p:nvCxnSpPr>
            <p:cNvPr id="411" name="Google Shape;411;p60"/>
            <p:cNvCxnSpPr>
              <a:endCxn id="407" idx="1"/>
            </p:cNvCxnSpPr>
            <p:nvPr/>
          </p:nvCxnSpPr>
          <p:spPr>
            <a:xfrm>
              <a:off x="4112320" y="1509750"/>
              <a:ext cx="762900" cy="271800"/>
            </a:xfrm>
            <a:prstGeom prst="straightConnector1">
              <a:avLst/>
            </a:prstGeom>
            <a:noFill/>
            <a:ln cap="flat" cmpd="sng" w="9525">
              <a:solidFill>
                <a:schemeClr val="dk2"/>
              </a:solidFill>
              <a:prstDash val="solid"/>
              <a:round/>
              <a:headEnd len="med" w="med" type="none"/>
              <a:tailEnd len="med" w="med" type="triangle"/>
            </a:ln>
          </p:spPr>
        </p:cxnSp>
      </p:grpSp>
      <p:grpSp>
        <p:nvGrpSpPr>
          <p:cNvPr id="412" name="Google Shape;412;p60"/>
          <p:cNvGrpSpPr/>
          <p:nvPr/>
        </p:nvGrpSpPr>
        <p:grpSpPr>
          <a:xfrm>
            <a:off x="3524924" y="3442975"/>
            <a:ext cx="1967912" cy="548350"/>
            <a:chOff x="3525025" y="1233175"/>
            <a:chExt cx="1557015" cy="548350"/>
          </a:xfrm>
        </p:grpSpPr>
        <p:sp>
          <p:nvSpPr>
            <p:cNvPr id="413" name="Google Shape;413;p60"/>
            <p:cNvSpPr txBox="1"/>
            <p:nvPr/>
          </p:nvSpPr>
          <p:spPr>
            <a:xfrm>
              <a:off x="3525025" y="1233175"/>
              <a:ext cx="112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output</a:t>
              </a:r>
              <a:endParaRPr sz="1800">
                <a:solidFill>
                  <a:schemeClr val="dk2"/>
                </a:solidFill>
              </a:endParaRPr>
            </a:p>
          </p:txBody>
        </p:sp>
        <p:cxnSp>
          <p:nvCxnSpPr>
            <p:cNvPr id="414" name="Google Shape;414;p60"/>
            <p:cNvCxnSpPr/>
            <p:nvPr/>
          </p:nvCxnSpPr>
          <p:spPr>
            <a:xfrm>
              <a:off x="4115440" y="1514525"/>
              <a:ext cx="966600" cy="267000"/>
            </a:xfrm>
            <a:prstGeom prst="straightConnector1">
              <a:avLst/>
            </a:prstGeom>
            <a:noFill/>
            <a:ln cap="flat" cmpd="sng" w="9525">
              <a:solidFill>
                <a:schemeClr val="dk2"/>
              </a:solidFill>
              <a:prstDash val="solid"/>
              <a:round/>
              <a:headEnd len="med" w="med" type="none"/>
              <a:tailEnd len="med" w="med" type="triangle"/>
            </a:ln>
          </p:spPr>
        </p:cxn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1"/>
          <p:cNvSpPr txBox="1"/>
          <p:nvPr>
            <p:ph idx="1" type="body"/>
          </p:nvPr>
        </p:nvSpPr>
        <p:spPr>
          <a:xfrm>
            <a:off x="228600" y="341300"/>
            <a:ext cx="8915400" cy="42291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1976"/>
              <a:buChar char="●"/>
            </a:pPr>
            <a:r>
              <a:rPr lang="en"/>
              <a:t>Streams</a:t>
            </a:r>
            <a:endParaRPr/>
          </a:p>
        </p:txBody>
      </p:sp>
      <p:pic>
        <p:nvPicPr>
          <p:cNvPr id="423" name="Google Shape;423;p61"/>
          <p:cNvPicPr preferRelativeResize="0"/>
          <p:nvPr/>
        </p:nvPicPr>
        <p:blipFill rotWithShape="1">
          <a:blip r:embed="rId3">
            <a:alphaModFix/>
          </a:blip>
          <a:srcRect b="0" l="0" r="0" t="0"/>
          <a:stretch/>
        </p:blipFill>
        <p:spPr>
          <a:xfrm>
            <a:off x="2059000" y="1212069"/>
            <a:ext cx="3486150" cy="1107281"/>
          </a:xfrm>
          <a:prstGeom prst="rect">
            <a:avLst/>
          </a:prstGeom>
          <a:noFill/>
          <a:ln>
            <a:noFill/>
          </a:ln>
        </p:spPr>
      </p:pic>
      <p:pic>
        <p:nvPicPr>
          <p:cNvPr id="424" name="Google Shape;424;p61"/>
          <p:cNvPicPr preferRelativeResize="0"/>
          <p:nvPr/>
        </p:nvPicPr>
        <p:blipFill rotWithShape="1">
          <a:blip r:embed="rId4">
            <a:alphaModFix/>
          </a:blip>
          <a:srcRect b="0" l="0" r="0" t="0"/>
          <a:stretch/>
        </p:blipFill>
        <p:spPr>
          <a:xfrm>
            <a:off x="2143113" y="2965438"/>
            <a:ext cx="3529013" cy="1121569"/>
          </a:xfrm>
          <a:prstGeom prst="rect">
            <a:avLst/>
          </a:prstGeom>
          <a:noFill/>
          <a:ln>
            <a:noFill/>
          </a:ln>
        </p:spPr>
      </p:pic>
      <p:sp>
        <p:nvSpPr>
          <p:cNvPr id="425" name="Google Shape;425;p61"/>
          <p:cNvSpPr txBox="1"/>
          <p:nvPr/>
        </p:nvSpPr>
        <p:spPr>
          <a:xfrm>
            <a:off x="2468563" y="4807744"/>
            <a:ext cx="5029200" cy="174000"/>
          </a:xfrm>
          <a:prstGeom prst="rect">
            <a:avLst/>
          </a:prstGeom>
          <a:noFill/>
          <a:ln>
            <a:noFill/>
          </a:ln>
        </p:spPr>
        <p:txBody>
          <a:bodyPr anchorCtr="0" anchor="t" bIns="45000" lIns="90000" spcFirstLastPara="1" rIns="90000" wrap="square" tIns="54000">
            <a:noAutofit/>
          </a:bodyPr>
          <a:lstStyle/>
          <a:p>
            <a:pPr indent="0" lvl="0" marL="0" marR="0" rtl="0" algn="l">
              <a:spcBef>
                <a:spcPts val="0"/>
              </a:spcBef>
              <a:spcAft>
                <a:spcPts val="0"/>
              </a:spcAft>
              <a:buClr>
                <a:srgbClr val="000000"/>
              </a:buClr>
              <a:buSzPts val="1000"/>
              <a:buFont typeface="Arial"/>
              <a:buNone/>
            </a:pPr>
            <a:r>
              <a:rPr lang="en" sz="1000"/>
              <a:t>Images are taken from </a:t>
            </a:r>
            <a:r>
              <a:rPr b="0" i="0" lang="en" sz="1000" u="none" cap="none" strike="noStrike">
                <a:solidFill>
                  <a:srgbClr val="000000"/>
                </a:solidFill>
                <a:latin typeface="Arial"/>
                <a:ea typeface="Arial"/>
                <a:cs typeface="Arial"/>
                <a:sym typeface="Arial"/>
              </a:rPr>
              <a:t>doc.oracle.com </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2"/>
          <p:cNvSpPr txBox="1"/>
          <p:nvPr>
            <p:ph idx="1" type="body"/>
          </p:nvPr>
        </p:nvSpPr>
        <p:spPr>
          <a:xfrm>
            <a:off x="76200" y="571500"/>
            <a:ext cx="8915400" cy="4229100"/>
          </a:xfrm>
          <a:prstGeom prst="rect">
            <a:avLst/>
          </a:prstGeom>
          <a:noFill/>
          <a:ln>
            <a:noFill/>
          </a:ln>
        </p:spPr>
        <p:txBody>
          <a:bodyPr anchorCtr="0" anchor="t" bIns="45700" lIns="91425" spcFirstLastPara="1" rIns="91425" wrap="square" tIns="45700">
            <a:noAutofit/>
          </a:bodyPr>
          <a:lstStyle/>
          <a:p>
            <a:pPr indent="-303517" lvl="0" marL="274320" rtl="0" algn="l">
              <a:spcBef>
                <a:spcPts val="600"/>
              </a:spcBef>
              <a:spcAft>
                <a:spcPts val="0"/>
              </a:spcAft>
              <a:buSzPts val="1828"/>
              <a:buChar char="●"/>
            </a:pPr>
            <a:r>
              <a:rPr i="1" lang="en" sz="2405"/>
              <a:t>Default streams: </a:t>
            </a:r>
            <a:r>
              <a:rPr i="1" lang="en" sz="2405">
                <a:latin typeface="Consolas"/>
                <a:ea typeface="Consolas"/>
                <a:cs typeface="Consolas"/>
                <a:sym typeface="Consolas"/>
              </a:rPr>
              <a:t>stdin, stdout, stderr</a:t>
            </a:r>
            <a:endParaRPr b="1" i="1" sz="2405">
              <a:latin typeface="Consolas"/>
              <a:ea typeface="Consolas"/>
              <a:cs typeface="Consolas"/>
              <a:sym typeface="Consolas"/>
            </a:endParaRPr>
          </a:p>
          <a:p>
            <a:pPr indent="-274320" lvl="0" marL="274320" rtl="0" algn="l">
              <a:spcBef>
                <a:spcPts val="600"/>
              </a:spcBef>
              <a:spcAft>
                <a:spcPts val="0"/>
              </a:spcAft>
              <a:buSzPts val="1828"/>
              <a:buFont typeface="Consolas"/>
              <a:buChar char="●"/>
            </a:pPr>
            <a:r>
              <a:rPr b="1" i="1" lang="en" sz="2405">
                <a:latin typeface="Consolas"/>
                <a:ea typeface="Consolas"/>
                <a:cs typeface="Consolas"/>
                <a:sym typeface="Consolas"/>
              </a:rPr>
              <a:t>fopen(...)</a:t>
            </a:r>
            <a:r>
              <a:rPr b="1" lang="en" sz="2405">
                <a:latin typeface="Consolas"/>
                <a:ea typeface="Consolas"/>
                <a:cs typeface="Consolas"/>
                <a:sym typeface="Consolas"/>
              </a:rPr>
              <a:t> </a:t>
            </a:r>
            <a:endParaRPr sz="2405">
              <a:latin typeface="Consolas"/>
              <a:ea typeface="Consolas"/>
              <a:cs typeface="Consolas"/>
              <a:sym typeface="Consolas"/>
            </a:endParaRPr>
          </a:p>
          <a:p>
            <a:pPr indent="-274320" lvl="0" marL="274320" rtl="0" algn="l">
              <a:spcBef>
                <a:spcPts val="600"/>
              </a:spcBef>
              <a:spcAft>
                <a:spcPts val="0"/>
              </a:spcAft>
              <a:buSzPts val="1828"/>
              <a:buFont typeface="Consolas"/>
              <a:buChar char="●"/>
            </a:pPr>
            <a:r>
              <a:rPr b="1" i="1" lang="en" sz="2405">
                <a:latin typeface="Consolas"/>
                <a:ea typeface="Consolas"/>
                <a:cs typeface="Consolas"/>
                <a:sym typeface="Consolas"/>
              </a:rPr>
              <a:t>fclose(...)</a:t>
            </a:r>
            <a:r>
              <a:rPr b="1" lang="en" sz="2405">
                <a:latin typeface="Consolas"/>
                <a:ea typeface="Consolas"/>
                <a:cs typeface="Consolas"/>
                <a:sym typeface="Consolas"/>
              </a:rPr>
              <a:t> </a:t>
            </a:r>
            <a:endParaRPr sz="2405">
              <a:latin typeface="Consolas"/>
              <a:ea typeface="Consolas"/>
              <a:cs typeface="Consolas"/>
              <a:sym typeface="Consolas"/>
            </a:endParaRPr>
          </a:p>
          <a:p>
            <a:pPr indent="-274320" lvl="0" marL="274320" rtl="0" algn="l">
              <a:spcBef>
                <a:spcPts val="600"/>
              </a:spcBef>
              <a:spcAft>
                <a:spcPts val="0"/>
              </a:spcAft>
              <a:buSzPts val="1828"/>
              <a:buFont typeface="Consolas"/>
              <a:buChar char="●"/>
            </a:pPr>
            <a:r>
              <a:rPr b="1" lang="en" sz="2405">
                <a:latin typeface="Consolas"/>
                <a:ea typeface="Consolas"/>
                <a:cs typeface="Consolas"/>
                <a:sym typeface="Consolas"/>
              </a:rPr>
              <a:t>fcloseall() </a:t>
            </a:r>
            <a:endParaRPr i="1" sz="2405">
              <a:latin typeface="Consolas"/>
              <a:ea typeface="Consolas"/>
              <a:cs typeface="Consolas"/>
              <a:sym typeface="Consolas"/>
            </a:endParaRPr>
          </a:p>
          <a:p>
            <a:pPr indent="-274320" lvl="0" marL="274320" rtl="0" algn="l">
              <a:spcBef>
                <a:spcPts val="600"/>
              </a:spcBef>
              <a:spcAft>
                <a:spcPts val="0"/>
              </a:spcAft>
              <a:buSzPts val="1828"/>
              <a:buChar char="●"/>
            </a:pPr>
            <a:r>
              <a:rPr lang="en" sz="2405"/>
              <a:t>To read</a:t>
            </a:r>
            <a:endParaRPr sz="2405"/>
          </a:p>
          <a:p>
            <a:pPr indent="-274320" lvl="1" marL="548640" rtl="0" algn="l">
              <a:spcBef>
                <a:spcPts val="500"/>
              </a:spcBef>
              <a:spcAft>
                <a:spcPts val="0"/>
              </a:spcAft>
              <a:buSzPts val="1617"/>
              <a:buChar char="○"/>
            </a:pPr>
            <a:r>
              <a:rPr b="1" i="1" lang="en" sz="2127">
                <a:latin typeface="Consolas"/>
                <a:ea typeface="Consolas"/>
                <a:cs typeface="Consolas"/>
                <a:sym typeface="Consolas"/>
              </a:rPr>
              <a:t>fputc(...), putc(...), puthcar(...), fgetc(...), getc(...), getchar(...), getc(...),  </a:t>
            </a:r>
            <a:endParaRPr b="1" i="1" sz="2127">
              <a:latin typeface="Consolas"/>
              <a:ea typeface="Consolas"/>
              <a:cs typeface="Consolas"/>
              <a:sym typeface="Consolas"/>
            </a:endParaRPr>
          </a:p>
          <a:p>
            <a:pPr indent="-306767" lvl="1" marL="548640" rtl="0" algn="l">
              <a:spcBef>
                <a:spcPts val="500"/>
              </a:spcBef>
              <a:spcAft>
                <a:spcPts val="0"/>
              </a:spcAft>
              <a:buSzPts val="2128"/>
              <a:buChar char="○"/>
            </a:pPr>
            <a:r>
              <a:rPr b="1" i="1" lang="en" sz="2127"/>
              <a:t>Binary read: </a:t>
            </a:r>
            <a:r>
              <a:rPr b="1" i="1" lang="en" sz="2127">
                <a:latin typeface="Consolas"/>
                <a:ea typeface="Consolas"/>
                <a:cs typeface="Consolas"/>
                <a:sym typeface="Consolas"/>
              </a:rPr>
              <a:t>fread()</a:t>
            </a:r>
            <a:endParaRPr b="1" i="1" sz="2127">
              <a:latin typeface="Consolas"/>
              <a:ea typeface="Consolas"/>
              <a:cs typeface="Consolas"/>
              <a:sym typeface="Consolas"/>
            </a:endParaRPr>
          </a:p>
          <a:p>
            <a:pPr indent="-274320" lvl="0" marL="274320" rtl="0" algn="l">
              <a:spcBef>
                <a:spcPts val="600"/>
              </a:spcBef>
              <a:spcAft>
                <a:spcPts val="0"/>
              </a:spcAft>
              <a:buSzPts val="1828"/>
              <a:buChar char="●"/>
            </a:pPr>
            <a:r>
              <a:rPr lang="en" sz="2405"/>
              <a:t>To write</a:t>
            </a:r>
            <a:endParaRPr sz="2405"/>
          </a:p>
          <a:p>
            <a:pPr indent="-274320" lvl="1" marL="548640" rtl="0" algn="l">
              <a:spcBef>
                <a:spcPts val="500"/>
              </a:spcBef>
              <a:spcAft>
                <a:spcPts val="0"/>
              </a:spcAft>
              <a:buSzPts val="1617"/>
              <a:buFont typeface="Consolas"/>
              <a:buChar char="○"/>
            </a:pPr>
            <a:r>
              <a:rPr b="1" i="1" lang="en" sz="2127">
                <a:latin typeface="Consolas"/>
                <a:ea typeface="Consolas"/>
                <a:cs typeface="Consolas"/>
                <a:sym typeface="Consolas"/>
              </a:rPr>
              <a:t>fputs(...),puts(...), fgets(...), </a:t>
            </a:r>
            <a:endParaRPr sz="2405">
              <a:latin typeface="Consolas"/>
              <a:ea typeface="Consolas"/>
              <a:cs typeface="Consolas"/>
              <a:sym typeface="Consolas"/>
            </a:endParaRPr>
          </a:p>
          <a:p>
            <a:pPr indent="-274320" lvl="1" marL="548640" rtl="0" algn="l">
              <a:spcBef>
                <a:spcPts val="500"/>
              </a:spcBef>
              <a:spcAft>
                <a:spcPts val="0"/>
              </a:spcAft>
              <a:buSzPts val="1617"/>
              <a:buChar char="○"/>
            </a:pPr>
            <a:r>
              <a:rPr i="1" lang="en" sz="2127"/>
              <a:t> Binary write: </a:t>
            </a:r>
            <a:r>
              <a:rPr b="1" i="1" lang="en" sz="2127">
                <a:latin typeface="Consolas"/>
                <a:ea typeface="Consolas"/>
                <a:cs typeface="Consolas"/>
                <a:sym typeface="Consolas"/>
              </a:rPr>
              <a:t>fwrite()</a:t>
            </a:r>
            <a:r>
              <a:rPr b="1" i="1" lang="en" sz="2127"/>
              <a:t> </a:t>
            </a:r>
            <a:r>
              <a:rPr lang="en" sz="2405"/>
              <a:t> </a:t>
            </a:r>
            <a:endParaRPr sz="2405"/>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3"/>
          <p:cNvSpPr txBox="1"/>
          <p:nvPr>
            <p:ph idx="1" type="body"/>
          </p:nvPr>
        </p:nvSpPr>
        <p:spPr>
          <a:xfrm>
            <a:off x="76200" y="571500"/>
            <a:ext cx="8915400" cy="4229100"/>
          </a:xfrm>
          <a:prstGeom prst="rect">
            <a:avLst/>
          </a:prstGeom>
          <a:noFill/>
          <a:ln>
            <a:noFill/>
          </a:ln>
        </p:spPr>
        <p:txBody>
          <a:bodyPr anchorCtr="0" anchor="t" bIns="45700" lIns="91425" spcFirstLastPara="1" rIns="91425" wrap="square" tIns="45700">
            <a:noAutofit/>
          </a:bodyPr>
          <a:lstStyle/>
          <a:p>
            <a:pPr indent="-341312" lvl="1" marL="617220" rtl="0" algn="l">
              <a:lnSpc>
                <a:spcPct val="98000"/>
              </a:lnSpc>
              <a:spcBef>
                <a:spcPts val="1425"/>
              </a:spcBef>
              <a:spcAft>
                <a:spcPts val="0"/>
              </a:spcAft>
              <a:buSzPts val="1748"/>
              <a:buChar char="○"/>
            </a:pPr>
            <a:r>
              <a:rPr b="1" i="1" lang="en">
                <a:latin typeface="Consolas"/>
                <a:ea typeface="Consolas"/>
                <a:cs typeface="Consolas"/>
                <a:sym typeface="Consolas"/>
              </a:rPr>
              <a:t>fscanf</a:t>
            </a:r>
            <a:r>
              <a:rPr i="1" lang="en">
                <a:latin typeface="Consolas"/>
                <a:ea typeface="Consolas"/>
                <a:cs typeface="Consolas"/>
                <a:sym typeface="Consolas"/>
              </a:rPr>
              <a:t> (...)</a:t>
            </a:r>
            <a:r>
              <a:rPr lang="en">
                <a:latin typeface="Consolas"/>
                <a:ea typeface="Consolas"/>
                <a:cs typeface="Consolas"/>
                <a:sym typeface="Consolas"/>
              </a:rPr>
              <a:t>, </a:t>
            </a:r>
            <a:r>
              <a:rPr b="1" i="1" lang="en">
                <a:latin typeface="Consolas"/>
                <a:ea typeface="Consolas"/>
                <a:cs typeface="Consolas"/>
                <a:sym typeface="Consolas"/>
              </a:rPr>
              <a:t>fprintf</a:t>
            </a:r>
            <a:r>
              <a:rPr i="1" lang="en">
                <a:latin typeface="Consolas"/>
                <a:ea typeface="Consolas"/>
                <a:cs typeface="Consolas"/>
                <a:sym typeface="Consolas"/>
              </a:rPr>
              <a:t> (…)</a:t>
            </a:r>
            <a:endParaRPr i="1">
              <a:latin typeface="Consolas"/>
              <a:ea typeface="Consolas"/>
              <a:cs typeface="Consolas"/>
              <a:sym typeface="Consolas"/>
            </a:endParaRPr>
          </a:p>
          <a:p>
            <a:pPr indent="-327406" lvl="0" marL="274320" rtl="0" algn="l">
              <a:lnSpc>
                <a:spcPct val="98000"/>
              </a:lnSpc>
              <a:spcBef>
                <a:spcPts val="1425"/>
              </a:spcBef>
              <a:spcAft>
                <a:spcPts val="0"/>
              </a:spcAft>
              <a:buSzPts val="2204"/>
              <a:buChar char="●"/>
            </a:pPr>
            <a:r>
              <a:rPr b="1" lang="en" sz="2900">
                <a:latin typeface="Consolas"/>
                <a:ea typeface="Consolas"/>
                <a:cs typeface="Consolas"/>
                <a:sym typeface="Consolas"/>
              </a:rPr>
              <a:t>setvbuf</a:t>
            </a:r>
            <a:r>
              <a:rPr lang="en" sz="2900">
                <a:latin typeface="Consolas"/>
                <a:ea typeface="Consolas"/>
                <a:cs typeface="Consolas"/>
                <a:sym typeface="Consolas"/>
              </a:rPr>
              <a:t> </a:t>
            </a:r>
            <a:r>
              <a:rPr i="1" lang="en" sz="2900">
                <a:latin typeface="Consolas"/>
                <a:ea typeface="Consolas"/>
                <a:cs typeface="Consolas"/>
                <a:sym typeface="Consolas"/>
              </a:rPr>
              <a:t>(...)</a:t>
            </a:r>
            <a:endParaRPr i="1" sz="2900">
              <a:latin typeface="Consolas"/>
              <a:ea typeface="Consolas"/>
              <a:cs typeface="Consolas"/>
              <a:sym typeface="Consolas"/>
            </a:endParaRPr>
          </a:p>
          <a:p>
            <a:pPr indent="-341312" lvl="2" marL="891539" rtl="0" algn="l">
              <a:lnSpc>
                <a:spcPct val="98000"/>
              </a:lnSpc>
              <a:spcBef>
                <a:spcPts val="1425"/>
              </a:spcBef>
              <a:spcAft>
                <a:spcPts val="0"/>
              </a:spcAft>
              <a:buSzPts val="1520"/>
              <a:buChar char="■"/>
            </a:pPr>
            <a:r>
              <a:rPr lang="en"/>
              <a:t>_IOFBF 		full buffer</a:t>
            </a:r>
            <a:endParaRPr/>
          </a:p>
          <a:p>
            <a:pPr indent="-341312" lvl="2" marL="891539" rtl="0" algn="l">
              <a:lnSpc>
                <a:spcPct val="98000"/>
              </a:lnSpc>
              <a:spcBef>
                <a:spcPts val="1425"/>
              </a:spcBef>
              <a:spcAft>
                <a:spcPts val="0"/>
              </a:spcAft>
              <a:buSzPts val="1520"/>
              <a:buChar char="■"/>
            </a:pPr>
            <a:r>
              <a:rPr lang="en"/>
              <a:t>_IOLBF 		line buffer</a:t>
            </a:r>
            <a:endParaRPr/>
          </a:p>
          <a:p>
            <a:pPr indent="-341312" lvl="2" marL="891539" rtl="0" algn="l">
              <a:lnSpc>
                <a:spcPct val="98000"/>
              </a:lnSpc>
              <a:spcBef>
                <a:spcPts val="1425"/>
              </a:spcBef>
              <a:spcAft>
                <a:spcPts val="0"/>
              </a:spcAft>
              <a:buSzPts val="1520"/>
              <a:buChar char="■"/>
            </a:pPr>
            <a:r>
              <a:rPr lang="en"/>
              <a:t>_IONBF		without buffer</a:t>
            </a:r>
            <a:endParaRPr sz="2800">
              <a:latin typeface="Gill Sans"/>
              <a:ea typeface="Gill Sans"/>
              <a:cs typeface="Gill Sans"/>
              <a:sym typeface="Gill Sans"/>
            </a:endParaRPr>
          </a:p>
          <a:p>
            <a:pPr indent="-341312" lvl="0" marL="342900" rtl="0" algn="l">
              <a:lnSpc>
                <a:spcPct val="98000"/>
              </a:lnSpc>
              <a:spcBef>
                <a:spcPts val="1425"/>
              </a:spcBef>
              <a:spcAft>
                <a:spcPts val="0"/>
              </a:spcAft>
              <a:buSzPts val="1976"/>
              <a:buFont typeface="Consolas"/>
              <a:buChar char="●"/>
            </a:pPr>
            <a:r>
              <a:rPr b="1" i="1" lang="en">
                <a:latin typeface="Consolas"/>
                <a:ea typeface="Consolas"/>
                <a:cs typeface="Consolas"/>
                <a:sym typeface="Consolas"/>
              </a:rPr>
              <a:t>fflush(...) </a:t>
            </a:r>
            <a:endParaRPr>
              <a:latin typeface="Consolas"/>
              <a:ea typeface="Consolas"/>
              <a:cs typeface="Consolas"/>
              <a:sym typeface="Consolas"/>
            </a:endParaRPr>
          </a:p>
        </p:txBody>
      </p:sp>
      <p:sp>
        <p:nvSpPr>
          <p:cNvPr id="441" name="Google Shape;441;p63"/>
          <p:cNvSpPr txBox="1"/>
          <p:nvPr/>
        </p:nvSpPr>
        <p:spPr>
          <a:xfrm>
            <a:off x="6400800" y="4767263"/>
            <a:ext cx="2286000" cy="2715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 sz="1400">
                <a:solidFill>
                  <a:srgbClr val="464653"/>
                </a:solidFill>
                <a:latin typeface="Gill Sans"/>
                <a:ea typeface="Gill Sans"/>
                <a:cs typeface="Gill Sans"/>
                <a:sym typeface="Gill Sans"/>
              </a:rPr>
              <a:t>12/6/16</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4"/>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Grayscale image</a:t>
            </a:r>
            <a:endParaRPr/>
          </a:p>
        </p:txBody>
      </p:sp>
      <p:pic>
        <p:nvPicPr>
          <p:cNvPr descr="C:\Users\adaskin\Dropbox\Teaching\MATLAB\ders10\img.png" id="447" name="Google Shape;447;p64"/>
          <p:cNvPicPr preferRelativeResize="0"/>
          <p:nvPr/>
        </p:nvPicPr>
        <p:blipFill rotWithShape="1">
          <a:blip r:embed="rId3">
            <a:alphaModFix/>
          </a:blip>
          <a:srcRect b="0" l="0" r="0" t="0"/>
          <a:stretch/>
        </p:blipFill>
        <p:spPr>
          <a:xfrm>
            <a:off x="3505200" y="552450"/>
            <a:ext cx="5199460" cy="3350419"/>
          </a:xfrm>
          <a:prstGeom prst="rect">
            <a:avLst/>
          </a:prstGeom>
          <a:noFill/>
          <a:ln>
            <a:noFill/>
          </a:ln>
        </p:spPr>
      </p:pic>
      <p:sp>
        <p:nvSpPr>
          <p:cNvPr id="448" name="Google Shape;448;p64"/>
          <p:cNvSpPr txBox="1"/>
          <p:nvPr/>
        </p:nvSpPr>
        <p:spPr>
          <a:xfrm>
            <a:off x="1008825" y="3178675"/>
            <a:ext cx="1865400" cy="12930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Gill Sans"/>
                <a:ea typeface="Gill Sans"/>
                <a:cs typeface="Gill Sans"/>
                <a:sym typeface="Gill Sans"/>
              </a:rPr>
              <a:t>8-bit</a:t>
            </a:r>
            <a:endParaRPr>
              <a:solidFill>
                <a:schemeClr val="dk1"/>
              </a:solidFill>
            </a:endParaRPr>
          </a:p>
          <a:p>
            <a:pPr indent="0" lvl="0" marL="0" rtl="0" algn="ctr">
              <a:spcBef>
                <a:spcPts val="0"/>
              </a:spcBef>
              <a:spcAft>
                <a:spcPts val="0"/>
              </a:spcAft>
              <a:buNone/>
            </a:pPr>
            <a:r>
              <a:rPr lang="en" sz="1800">
                <a:solidFill>
                  <a:srgbClr val="0070C0"/>
                </a:solidFill>
                <a:latin typeface="Consolas"/>
                <a:ea typeface="Consolas"/>
                <a:cs typeface="Consolas"/>
                <a:sym typeface="Consolas"/>
              </a:rPr>
              <a:t>unsigned char</a:t>
            </a:r>
            <a:r>
              <a:rPr lang="en" sz="1800">
                <a:solidFill>
                  <a:schemeClr val="dk1"/>
                </a:solidFill>
                <a:latin typeface="Consolas"/>
                <a:ea typeface="Consolas"/>
                <a:cs typeface="Consolas"/>
                <a:sym typeface="Consolas"/>
              </a:rPr>
              <a:t> </a:t>
            </a:r>
            <a:endParaRPr>
              <a:solidFill>
                <a:schemeClr val="dk1"/>
              </a:solidFill>
            </a:endParaRPr>
          </a:p>
          <a:p>
            <a:pPr indent="0" lvl="0" marL="0" rtl="0" algn="ctr">
              <a:spcBef>
                <a:spcPts val="0"/>
              </a:spcBef>
              <a:spcAft>
                <a:spcPts val="0"/>
              </a:spcAft>
              <a:buNone/>
            </a:pPr>
            <a:r>
              <a:rPr lang="en" sz="1800">
                <a:solidFill>
                  <a:schemeClr val="dk1"/>
                </a:solidFill>
                <a:latin typeface="Gill Sans"/>
                <a:ea typeface="Gill Sans"/>
                <a:cs typeface="Gill Sans"/>
                <a:sym typeface="Gill Sans"/>
              </a:rPr>
              <a:t>or </a:t>
            </a:r>
            <a:endParaRPr>
              <a:solidFill>
                <a:schemeClr val="dk1"/>
              </a:solidFill>
            </a:endParaRPr>
          </a:p>
          <a:p>
            <a:pPr indent="0" lvl="0" marL="0" rtl="0" algn="ctr">
              <a:spcBef>
                <a:spcPts val="0"/>
              </a:spcBef>
              <a:spcAft>
                <a:spcPts val="0"/>
              </a:spcAft>
              <a:buNone/>
            </a:pPr>
            <a:r>
              <a:rPr lang="en" sz="1800">
                <a:solidFill>
                  <a:srgbClr val="0070C0"/>
                </a:solidFill>
                <a:latin typeface="Consolas"/>
                <a:ea typeface="Consolas"/>
                <a:cs typeface="Consolas"/>
                <a:sym typeface="Consolas"/>
              </a:rPr>
              <a:t>uint8_t</a:t>
            </a:r>
            <a:endParaRPr sz="1800">
              <a:solidFill>
                <a:schemeClr val="dk2"/>
              </a:solidFill>
            </a:endParaRPr>
          </a:p>
        </p:txBody>
      </p:sp>
      <p:sp>
        <p:nvSpPr>
          <p:cNvPr id="449" name="Google Shape;449;p64"/>
          <p:cNvSpPr/>
          <p:nvPr/>
        </p:nvSpPr>
        <p:spPr>
          <a:xfrm>
            <a:off x="3815416" y="3094666"/>
            <a:ext cx="399975" cy="216525"/>
          </a:xfrm>
          <a:custGeom>
            <a:rect b="b" l="l" r="r" t="t"/>
            <a:pathLst>
              <a:path extrusionOk="0" h="8661" w="15999">
                <a:moveTo>
                  <a:pt x="11244" y="1056"/>
                </a:moveTo>
                <a:cubicBezTo>
                  <a:pt x="7792" y="482"/>
                  <a:pt x="2707" y="-1220"/>
                  <a:pt x="766" y="1691"/>
                </a:cubicBezTo>
                <a:cubicBezTo>
                  <a:pt x="-115" y="3012"/>
                  <a:pt x="-357" y="5331"/>
                  <a:pt x="766" y="6454"/>
                </a:cubicBezTo>
                <a:cubicBezTo>
                  <a:pt x="2206" y="7894"/>
                  <a:pt x="4868" y="6762"/>
                  <a:pt x="6799" y="7406"/>
                </a:cubicBezTo>
                <a:cubicBezTo>
                  <a:pt x="9612" y="8344"/>
                  <a:pt x="14363" y="9741"/>
                  <a:pt x="15689" y="7089"/>
                </a:cubicBezTo>
                <a:cubicBezTo>
                  <a:pt x="16931" y="4604"/>
                  <a:pt x="12927" y="1616"/>
                  <a:pt x="10291" y="739"/>
                </a:cubicBezTo>
              </a:path>
            </a:pathLst>
          </a:custGeom>
          <a:noFill/>
          <a:ln cap="flat" cmpd="sng" w="19050">
            <a:solidFill>
              <a:srgbClr val="0000FF"/>
            </a:solidFill>
            <a:prstDash val="solid"/>
            <a:round/>
            <a:headEnd len="med" w="med" type="none"/>
            <a:tailEnd len="med" w="med" type="none"/>
          </a:ln>
        </p:spPr>
      </p:sp>
      <p:cxnSp>
        <p:nvCxnSpPr>
          <p:cNvPr id="450" name="Google Shape;450;p64"/>
          <p:cNvCxnSpPr>
            <a:stCxn id="448" idx="3"/>
          </p:cNvCxnSpPr>
          <p:nvPr/>
        </p:nvCxnSpPr>
        <p:spPr>
          <a:xfrm flipH="1" rot="10800000">
            <a:off x="2874225" y="3256075"/>
            <a:ext cx="960300" cy="569100"/>
          </a:xfrm>
          <a:prstGeom prst="straightConnector1">
            <a:avLst/>
          </a:prstGeom>
          <a:noFill/>
          <a:ln cap="flat" cmpd="sng" w="19050">
            <a:solidFill>
              <a:srgbClr val="0000FF"/>
            </a:solidFill>
            <a:prstDash val="solid"/>
            <a:round/>
            <a:headEnd len="med" w="med"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5"/>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Color image</a:t>
            </a:r>
            <a:endParaRPr/>
          </a:p>
        </p:txBody>
      </p:sp>
      <p:sp>
        <p:nvSpPr>
          <p:cNvPr id="456" name="Google Shape;456;p65"/>
          <p:cNvSpPr txBox="1"/>
          <p:nvPr>
            <p:ph idx="1" type="body"/>
          </p:nvPr>
        </p:nvSpPr>
        <p:spPr>
          <a:xfrm>
            <a:off x="76200" y="571500"/>
            <a:ext cx="8915400" cy="4229100"/>
          </a:xfrm>
          <a:prstGeom prst="rect">
            <a:avLst/>
          </a:prstGeom>
          <a:noFill/>
          <a:ln>
            <a:noFill/>
          </a:ln>
        </p:spPr>
        <p:txBody>
          <a:bodyPr anchorCtr="0" anchor="t" bIns="45700" lIns="91425" spcFirstLastPara="1" rIns="91425" wrap="square" tIns="45700">
            <a:noAutofit/>
          </a:bodyPr>
          <a:lstStyle/>
          <a:p>
            <a:pPr indent="-274320" lvl="0" marL="274320" rtl="0" algn="l">
              <a:spcBef>
                <a:spcPts val="600"/>
              </a:spcBef>
              <a:spcAft>
                <a:spcPts val="0"/>
              </a:spcAft>
              <a:buSzPts val="1976"/>
              <a:buChar char="●"/>
            </a:pPr>
            <a:r>
              <a:rPr lang="en">
                <a:solidFill>
                  <a:srgbClr val="FF0000"/>
                </a:solidFill>
              </a:rPr>
              <a:t>Red</a:t>
            </a:r>
            <a:r>
              <a:rPr lang="en">
                <a:solidFill>
                  <a:srgbClr val="00B050"/>
                </a:solidFill>
              </a:rPr>
              <a:t>Green</a:t>
            </a:r>
            <a:r>
              <a:rPr lang="en">
                <a:solidFill>
                  <a:srgbClr val="0070C0"/>
                </a:solidFill>
              </a:rPr>
              <a:t>Blue</a:t>
            </a:r>
            <a:r>
              <a:rPr lang="en">
                <a:solidFill>
                  <a:srgbClr val="FF0000"/>
                </a:solidFill>
              </a:rPr>
              <a:t> </a:t>
            </a:r>
            <a:endParaRPr/>
          </a:p>
          <a:p>
            <a:pPr indent="-274320" lvl="1" marL="548640" rtl="0" algn="l">
              <a:spcBef>
                <a:spcPts val="500"/>
              </a:spcBef>
              <a:spcAft>
                <a:spcPts val="0"/>
              </a:spcAft>
              <a:buSzPts val="1748"/>
              <a:buChar char="○"/>
            </a:pPr>
            <a:r>
              <a:rPr lang="en"/>
              <a:t>Red: a value in [0-255]</a:t>
            </a:r>
            <a:endParaRPr/>
          </a:p>
          <a:p>
            <a:pPr indent="-274320" lvl="1" marL="548640" rtl="0" algn="l">
              <a:spcBef>
                <a:spcPts val="500"/>
              </a:spcBef>
              <a:spcAft>
                <a:spcPts val="0"/>
              </a:spcAft>
              <a:buSzPts val="1748"/>
              <a:buChar char="○"/>
            </a:pPr>
            <a:r>
              <a:rPr lang="en"/>
              <a:t>Green: a value in [0-255]</a:t>
            </a:r>
            <a:endParaRPr/>
          </a:p>
          <a:p>
            <a:pPr indent="-274320" lvl="1" marL="548640" rtl="0" algn="l">
              <a:spcBef>
                <a:spcPts val="500"/>
              </a:spcBef>
              <a:spcAft>
                <a:spcPts val="1600"/>
              </a:spcAft>
              <a:buSzPts val="1748"/>
              <a:buChar char="○"/>
            </a:pPr>
            <a:r>
              <a:rPr lang="en"/>
              <a:t>Blue: a value in [0-255]</a:t>
            </a:r>
            <a:endParaRPr/>
          </a:p>
        </p:txBody>
      </p:sp>
      <p:pic>
        <p:nvPicPr>
          <p:cNvPr id="457" name="Google Shape;457;p65"/>
          <p:cNvPicPr preferRelativeResize="0"/>
          <p:nvPr/>
        </p:nvPicPr>
        <p:blipFill rotWithShape="1">
          <a:blip r:embed="rId3">
            <a:alphaModFix/>
          </a:blip>
          <a:srcRect b="0" l="0" r="0" t="0"/>
          <a:stretch/>
        </p:blipFill>
        <p:spPr>
          <a:xfrm>
            <a:off x="3810000" y="2457450"/>
            <a:ext cx="3031333" cy="184938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6"/>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Hex dump</a:t>
            </a:r>
            <a:endParaRPr/>
          </a:p>
        </p:txBody>
      </p:sp>
      <p:sp>
        <p:nvSpPr>
          <p:cNvPr id="463" name="Google Shape;463;p66"/>
          <p:cNvSpPr txBox="1"/>
          <p:nvPr>
            <p:ph idx="1" type="body"/>
          </p:nvPr>
        </p:nvSpPr>
        <p:spPr>
          <a:xfrm>
            <a:off x="76200" y="571500"/>
            <a:ext cx="8915400" cy="42291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1976"/>
              <a:buChar char="●"/>
            </a:pPr>
            <a:r>
              <a:rPr lang="en"/>
              <a:t>In Linux </a:t>
            </a:r>
            <a:endParaRPr/>
          </a:p>
          <a:p>
            <a:pPr indent="-274320" lvl="1" marL="548640" rtl="0" algn="l">
              <a:spcBef>
                <a:spcPts val="500"/>
              </a:spcBef>
              <a:spcAft>
                <a:spcPts val="0"/>
              </a:spcAft>
              <a:buSzPts val="1748"/>
              <a:buChar char="○"/>
            </a:pPr>
            <a:r>
              <a:rPr lang="en"/>
              <a:t>$ </a:t>
            </a:r>
            <a:r>
              <a:rPr b="1" lang="en"/>
              <a:t>hexdump filename</a:t>
            </a:r>
            <a:endParaRPr/>
          </a:p>
          <a:p>
            <a:pPr indent="-163322" lvl="1" marL="548640" rtl="0" algn="l">
              <a:spcBef>
                <a:spcPts val="500"/>
              </a:spcBef>
              <a:spcAft>
                <a:spcPts val="0"/>
              </a:spcAft>
              <a:buSzPts val="1748"/>
              <a:buNone/>
            </a:pPr>
            <a:r>
              <a:t/>
            </a:r>
            <a:endParaRPr/>
          </a:p>
          <a:p>
            <a:pPr indent="-163322" lvl="1" marL="548640" rtl="0" algn="l">
              <a:spcBef>
                <a:spcPts val="500"/>
              </a:spcBef>
              <a:spcAft>
                <a:spcPts val="0"/>
              </a:spcAft>
              <a:buSzPts val="1748"/>
              <a:buNone/>
            </a:pPr>
            <a:r>
              <a:t/>
            </a:r>
            <a:endParaRPr/>
          </a:p>
          <a:p>
            <a:pPr indent="-163322" lvl="1" marL="548640" rtl="0" algn="l">
              <a:spcBef>
                <a:spcPts val="500"/>
              </a:spcBef>
              <a:spcAft>
                <a:spcPts val="0"/>
              </a:spcAft>
              <a:buSzPts val="1748"/>
              <a:buNone/>
            </a:pPr>
            <a:r>
              <a:t/>
            </a:r>
            <a:endParaRPr/>
          </a:p>
          <a:p>
            <a:pPr indent="-163322" lvl="1" marL="548640" rtl="0" algn="l">
              <a:spcBef>
                <a:spcPts val="500"/>
              </a:spcBef>
              <a:spcAft>
                <a:spcPts val="0"/>
              </a:spcAft>
              <a:buSzPts val="1748"/>
              <a:buNone/>
            </a:pPr>
            <a:r>
              <a:t/>
            </a:r>
            <a:endParaRPr/>
          </a:p>
          <a:p>
            <a:pPr indent="0" lvl="1" marL="274320" rtl="0" algn="l">
              <a:spcBef>
                <a:spcPts val="500"/>
              </a:spcBef>
              <a:spcAft>
                <a:spcPts val="1600"/>
              </a:spcAft>
              <a:buSzPts val="1748"/>
              <a:buNone/>
            </a:pPr>
            <a:r>
              <a:rPr lang="en"/>
              <a:t>m.txt</a:t>
            </a:r>
            <a:endParaRPr/>
          </a:p>
        </p:txBody>
      </p:sp>
      <p:sp>
        <p:nvSpPr>
          <p:cNvPr id="464" name="Google Shape;464;p66"/>
          <p:cNvSpPr txBox="1"/>
          <p:nvPr/>
        </p:nvSpPr>
        <p:spPr>
          <a:xfrm>
            <a:off x="508775" y="3002019"/>
            <a:ext cx="1472400" cy="733800"/>
          </a:xfrm>
          <a:prstGeom prst="rect">
            <a:avLst/>
          </a:prstGeom>
          <a:solidFill>
            <a:schemeClr val="lt1"/>
          </a:solidFill>
          <a:ln cap="flat" cmpd="sng" w="1905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solidFill>
                  <a:schemeClr val="dk1"/>
                </a:solidFill>
                <a:latin typeface="Gill Sans"/>
                <a:ea typeface="Gill Sans"/>
                <a:cs typeface="Gill Sans"/>
                <a:sym typeface="Gill Sans"/>
              </a:rPr>
              <a:t>badc</a:t>
            </a:r>
            <a:endParaRPr sz="1800">
              <a:solidFill>
                <a:schemeClr val="dk1"/>
              </a:solidFill>
              <a:latin typeface="Gill Sans"/>
              <a:ea typeface="Gill Sans"/>
              <a:cs typeface="Gill Sans"/>
              <a:sym typeface="Gill Sans"/>
            </a:endParaRPr>
          </a:p>
        </p:txBody>
      </p:sp>
      <p:sp>
        <p:nvSpPr>
          <p:cNvPr id="465" name="Google Shape;465;p66"/>
          <p:cNvSpPr/>
          <p:nvPr/>
        </p:nvSpPr>
        <p:spPr>
          <a:xfrm>
            <a:off x="3886200" y="3250852"/>
            <a:ext cx="4572000" cy="692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solidFill>
                  <a:schemeClr val="dk1"/>
                </a:solidFill>
                <a:latin typeface="Gill Sans"/>
                <a:ea typeface="Gill Sans"/>
                <a:cs typeface="Gill Sans"/>
                <a:sym typeface="Gill Sans"/>
              </a:rPr>
              <a:t>$ hexdump -c m.txt                                                                                                      0000000   b   a   d   c  \n                                                                                             0000005</a:t>
            </a:r>
            <a:endParaRPr sz="1800">
              <a:solidFill>
                <a:schemeClr val="dk1"/>
              </a:solidFill>
              <a:latin typeface="Gill Sans"/>
              <a:ea typeface="Gill Sans"/>
              <a:cs typeface="Gill Sans"/>
              <a:sym typeface="Gill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pic>
        <p:nvPicPr>
          <p:cNvPr id="470" name="Google Shape;470;p67"/>
          <p:cNvPicPr preferRelativeResize="0"/>
          <p:nvPr>
            <p:ph idx="1" type="body"/>
          </p:nvPr>
        </p:nvPicPr>
        <p:blipFill rotWithShape="1">
          <a:blip r:embed="rId3">
            <a:alphaModFix/>
          </a:blip>
          <a:srcRect b="0" l="0" r="0" t="0"/>
          <a:stretch/>
        </p:blipFill>
        <p:spPr>
          <a:xfrm>
            <a:off x="5400400" y="457200"/>
            <a:ext cx="3515100" cy="1608300"/>
          </a:xfrm>
          <a:prstGeom prst="rect">
            <a:avLst/>
          </a:prstGeom>
          <a:noFill/>
          <a:ln>
            <a:noFill/>
          </a:ln>
        </p:spPr>
      </p:pic>
      <p:sp>
        <p:nvSpPr>
          <p:cNvPr id="471" name="Google Shape;471;p67"/>
          <p:cNvSpPr/>
          <p:nvPr/>
        </p:nvSpPr>
        <p:spPr>
          <a:xfrm>
            <a:off x="199200" y="1019175"/>
            <a:ext cx="5580900" cy="3919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400">
                <a:solidFill>
                  <a:schemeClr val="dk1"/>
                </a:solidFill>
                <a:latin typeface="Courier New"/>
                <a:ea typeface="Courier New"/>
                <a:cs typeface="Courier New"/>
                <a:sym typeface="Courier New"/>
              </a:rPr>
              <a:t>$ hexdump cute-animals32bit.bmp     </a:t>
            </a:r>
            <a:endParaRPr/>
          </a:p>
          <a:p>
            <a:pPr indent="0" lvl="0" marL="0" marR="0" rtl="0" algn="l">
              <a:spcBef>
                <a:spcPts val="0"/>
              </a:spcBef>
              <a:spcAft>
                <a:spcPts val="0"/>
              </a:spcAft>
              <a:buNone/>
            </a:pPr>
            <a:r>
              <a:rPr b="1" lang="en" sz="1400">
                <a:solidFill>
                  <a:schemeClr val="dk1"/>
                </a:solidFill>
                <a:latin typeface="Courier New"/>
                <a:ea typeface="Courier New"/>
                <a:cs typeface="Courier New"/>
                <a:sym typeface="Courier New"/>
              </a:rPr>
              <a:t>0000000 </a:t>
            </a:r>
            <a:r>
              <a:rPr lang="en" sz="1400">
                <a:solidFill>
                  <a:schemeClr val="dk1"/>
                </a:solidFill>
                <a:latin typeface="Courier New"/>
                <a:ea typeface="Courier New"/>
                <a:cs typeface="Courier New"/>
                <a:sym typeface="Courier New"/>
              </a:rPr>
              <a:t>4d42 68e2 0249 0000 0000 0046 0000 0038                                                                         </a:t>
            </a:r>
            <a:r>
              <a:rPr b="1" lang="en" sz="1400">
                <a:solidFill>
                  <a:schemeClr val="dk1"/>
                </a:solidFill>
                <a:latin typeface="Courier New"/>
                <a:ea typeface="Courier New"/>
                <a:cs typeface="Courier New"/>
                <a:sym typeface="Courier New"/>
              </a:rPr>
              <a:t>0000010 </a:t>
            </a:r>
            <a:r>
              <a:rPr lang="en" sz="1400">
                <a:solidFill>
                  <a:schemeClr val="dk1"/>
                </a:solidFill>
                <a:latin typeface="Courier New"/>
                <a:ea typeface="Courier New"/>
                <a:cs typeface="Courier New"/>
                <a:sym typeface="Courier New"/>
              </a:rPr>
              <a:t>0000 0f7d 0000 0973 0000 0001 0020 0003                                                                         </a:t>
            </a:r>
            <a:r>
              <a:rPr b="1" lang="en" sz="1400">
                <a:solidFill>
                  <a:schemeClr val="dk1"/>
                </a:solidFill>
                <a:latin typeface="Courier New"/>
                <a:ea typeface="Courier New"/>
                <a:cs typeface="Courier New"/>
                <a:sym typeface="Courier New"/>
              </a:rPr>
              <a:t>0000020 </a:t>
            </a:r>
            <a:r>
              <a:rPr lang="en" sz="1400">
                <a:solidFill>
                  <a:schemeClr val="dk1"/>
                </a:solidFill>
                <a:latin typeface="Courier New"/>
                <a:ea typeface="Courier New"/>
                <a:cs typeface="Courier New"/>
                <a:sym typeface="Courier New"/>
              </a:rPr>
              <a:t>0000 689c 0249 0b13 0000 0b13 0000 0000                                                                         </a:t>
            </a:r>
            <a:r>
              <a:rPr b="1" lang="en" sz="1400">
                <a:solidFill>
                  <a:schemeClr val="dk1"/>
                </a:solidFill>
                <a:latin typeface="Courier New"/>
                <a:ea typeface="Courier New"/>
                <a:cs typeface="Courier New"/>
                <a:sym typeface="Courier New"/>
              </a:rPr>
              <a:t>0000030</a:t>
            </a:r>
            <a:r>
              <a:rPr lang="en" sz="1400">
                <a:solidFill>
                  <a:schemeClr val="dk1"/>
                </a:solidFill>
                <a:latin typeface="Courier New"/>
                <a:ea typeface="Courier New"/>
                <a:cs typeface="Courier New"/>
                <a:sym typeface="Courier New"/>
              </a:rPr>
              <a:t> 0000 0000 0000 0000 ff00 0000 00ff ff00                                                                         0000040 0000 0000 0000 a500 a8b0 9b00 a0a8 9b00                                                                         0000050 9ea9 9100 96a1 9400 97a2 9d00 9ea8 9a00                                                                         0000060 97a2 9c00 97a2 a900 a4af a200 9faa 9d00                                                                         0000070 9ba5 a300 a2ac 9e00 9fa6 a500 a5ac a400                                                                         0000080 a3a8 a300 a1a7 9f00 a0a7 9e00 9da7 9e00                                                                         0000090 9ea5 9e00 9ca2 9b00 9ca1 9c00 9ea3 9f00                                                                         00000a0 a5ab a200 aab0 a000 abaf 9f00 a9ad a600                                                                         00000b0 acaf a000 a4a7 a500 a6a8 9b00 9c9e 9c00                                                                         00000c0 9fa1 9800 9b9d 8e00 9193 9200 9597 9200                                                                         00000d0 9398 9000 9196 9100 8f95 9100 8d93 9300                                                                         00000e0 8e92 9a00 9397 7c00 7677 8300 7d7e 8b00                                                   </a:t>
            </a:r>
            <a:endParaRPr/>
          </a:p>
          <a:p>
            <a:pPr indent="0" lvl="0" marL="0" marR="0" rtl="0" algn="l">
              <a:spcBef>
                <a:spcPts val="0"/>
              </a:spcBef>
              <a:spcAft>
                <a:spcPts val="0"/>
              </a:spcAft>
              <a:buNone/>
            </a:pPr>
            <a:r>
              <a:rPr lang="en" sz="1400">
                <a:solidFill>
                  <a:schemeClr val="dk1"/>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8"/>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Bitmap File Structure</a:t>
            </a:r>
            <a:endParaRPr/>
          </a:p>
        </p:txBody>
      </p:sp>
      <p:graphicFrame>
        <p:nvGraphicFramePr>
          <p:cNvPr id="477" name="Google Shape;477;p68"/>
          <p:cNvGraphicFramePr/>
          <p:nvPr/>
        </p:nvGraphicFramePr>
        <p:xfrm>
          <a:off x="76200" y="571500"/>
          <a:ext cx="3000000" cy="3000000"/>
        </p:xfrm>
        <a:graphic>
          <a:graphicData uri="http://schemas.openxmlformats.org/drawingml/2006/table">
            <a:tbl>
              <a:tblPr>
                <a:noFill/>
                <a:tableStyleId>{EFA36748-AFAB-4286-B8D2-6B0E28DC9EB8}</a:tableStyleId>
              </a:tblPr>
              <a:tblGrid>
                <a:gridCol w="1783075"/>
                <a:gridCol w="1264925"/>
                <a:gridCol w="2301250"/>
                <a:gridCol w="1783075"/>
                <a:gridCol w="1783075"/>
              </a:tblGrid>
              <a:tr h="122475">
                <a:tc>
                  <a:txBody>
                    <a:bodyPr/>
                    <a:lstStyle/>
                    <a:p>
                      <a:pPr indent="0" lvl="0" marL="0" marR="0" rtl="0" algn="l">
                        <a:spcBef>
                          <a:spcPts val="0"/>
                        </a:spcBef>
                        <a:spcAft>
                          <a:spcPts val="0"/>
                        </a:spcAft>
                        <a:buNone/>
                      </a:pPr>
                      <a:r>
                        <a:rPr lang="en" sz="800" u="none" cap="none" strike="noStrike"/>
                        <a:t>Structure name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Optional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Size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Purpose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Comments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34700">
                <a:tc>
                  <a:txBody>
                    <a:bodyPr/>
                    <a:lstStyle/>
                    <a:p>
                      <a:pPr indent="0" lvl="0" marL="0" marR="0" rtl="0" algn="l">
                        <a:spcBef>
                          <a:spcPts val="0"/>
                        </a:spcBef>
                        <a:spcAft>
                          <a:spcPts val="0"/>
                        </a:spcAft>
                        <a:buNone/>
                      </a:pPr>
                      <a:r>
                        <a:rPr lang="en" sz="900"/>
                        <a:t>Bitmap file header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900"/>
                        <a:t>No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9999"/>
                    </a:solidFill>
                  </a:tcPr>
                </a:tc>
                <a:tc>
                  <a:txBody>
                    <a:bodyPr/>
                    <a:lstStyle/>
                    <a:p>
                      <a:pPr indent="0" lvl="0" marL="0" marR="0" rtl="0" algn="l">
                        <a:spcBef>
                          <a:spcPts val="0"/>
                        </a:spcBef>
                        <a:spcAft>
                          <a:spcPts val="0"/>
                        </a:spcAft>
                        <a:buNone/>
                      </a:pPr>
                      <a:r>
                        <a:rPr lang="en" sz="900"/>
                        <a:t>14 bytes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900"/>
                        <a:t>To store general information about the bitmap image file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900"/>
                        <a:t>Not needed after the file is loaded in memory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76250">
                <a:tc>
                  <a:txBody>
                    <a:bodyPr/>
                    <a:lstStyle/>
                    <a:p>
                      <a:pPr indent="0" lvl="0" marL="0" marR="0" rtl="0" algn="l">
                        <a:spcBef>
                          <a:spcPts val="0"/>
                        </a:spcBef>
                        <a:spcAft>
                          <a:spcPts val="0"/>
                        </a:spcAft>
                        <a:buNone/>
                      </a:pPr>
                      <a:r>
                        <a:rPr lang="en" sz="900"/>
                        <a:t>DIB header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900"/>
                        <a:t>No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9999"/>
                    </a:solidFill>
                  </a:tcPr>
                </a:tc>
                <a:tc>
                  <a:txBody>
                    <a:bodyPr/>
                    <a:lstStyle/>
                    <a:p>
                      <a:pPr indent="0" lvl="0" marL="0" marR="0" rtl="0" algn="l">
                        <a:spcBef>
                          <a:spcPts val="0"/>
                        </a:spcBef>
                        <a:spcAft>
                          <a:spcPts val="0"/>
                        </a:spcAft>
                        <a:buNone/>
                      </a:pPr>
                      <a:r>
                        <a:rPr lang="en" sz="900"/>
                        <a:t>Fixed-size </a:t>
                      </a:r>
                      <a:br>
                        <a:rPr lang="en" sz="900"/>
                      </a:br>
                      <a:r>
                        <a:rPr lang="en" sz="900"/>
                        <a:t>(7 different versions exist)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900"/>
                        <a:t>To store detailed information about the bitmap image and define the pixel format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900"/>
                        <a:t>Immediately follows the Bitmap file header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71500">
                <a:tc>
                  <a:txBody>
                    <a:bodyPr/>
                    <a:lstStyle/>
                    <a:p>
                      <a:pPr indent="0" lvl="0" marL="0" marR="0" rtl="0" algn="l">
                        <a:spcBef>
                          <a:spcPts val="0"/>
                        </a:spcBef>
                        <a:spcAft>
                          <a:spcPts val="0"/>
                        </a:spcAft>
                        <a:buNone/>
                      </a:pPr>
                      <a:r>
                        <a:rPr lang="en" sz="800"/>
                        <a:t>Extra bit masks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800"/>
                        <a:t>Yes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99FF99"/>
                    </a:solidFill>
                  </a:tcPr>
                </a:tc>
                <a:tc>
                  <a:txBody>
                    <a:bodyPr/>
                    <a:lstStyle/>
                    <a:p>
                      <a:pPr indent="0" lvl="0" marL="0" marR="0" rtl="0" algn="l">
                        <a:spcBef>
                          <a:spcPts val="0"/>
                        </a:spcBef>
                        <a:spcAft>
                          <a:spcPts val="0"/>
                        </a:spcAft>
                        <a:buNone/>
                      </a:pPr>
                      <a:r>
                        <a:rPr lang="en" sz="800"/>
                        <a:t>3 or 4 </a:t>
                      </a:r>
                      <a:r>
                        <a:rPr lang="en" sz="800" u="sng">
                          <a:solidFill>
                            <a:schemeClr val="hlink"/>
                          </a:solidFill>
                          <a:hlinkClick r:id="rId3"/>
                        </a:rPr>
                        <a:t>DWORDs</a:t>
                      </a:r>
                      <a:r>
                        <a:rPr baseline="30000" lang="en" sz="800" u="sng">
                          <a:solidFill>
                            <a:schemeClr val="hlink"/>
                          </a:solidFill>
                          <a:hlinkClick r:id="rId4"/>
                        </a:rPr>
                        <a:t>[5]</a:t>
                      </a:r>
                      <a:br>
                        <a:rPr lang="en" sz="800"/>
                      </a:br>
                      <a:r>
                        <a:rPr lang="en" sz="800"/>
                        <a:t>(12 or 16 bytes)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To define the pixel format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Present only in case the DIB header is the BITMAPINFOHEADER and the Compression Method member is set to either BI_BITFIELDS or BI_ALPHABITFIELDS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1650">
                <a:tc>
                  <a:txBody>
                    <a:bodyPr/>
                    <a:lstStyle/>
                    <a:p>
                      <a:pPr indent="0" lvl="0" marL="0" marR="0" rtl="0" algn="l">
                        <a:spcBef>
                          <a:spcPts val="0"/>
                        </a:spcBef>
                        <a:spcAft>
                          <a:spcPts val="0"/>
                        </a:spcAft>
                        <a:buNone/>
                      </a:pPr>
                      <a:r>
                        <a:rPr lang="en" sz="800"/>
                        <a:t>Color table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800">
                          <a:solidFill>
                            <a:srgbClr val="000000"/>
                          </a:solidFill>
                        </a:rPr>
                        <a:t>Semi-optional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DFFDD"/>
                    </a:solidFill>
                  </a:tcPr>
                </a:tc>
                <a:tc>
                  <a:txBody>
                    <a:bodyPr/>
                    <a:lstStyle/>
                    <a:p>
                      <a:pPr indent="0" lvl="0" marL="0" marR="0" rtl="0" algn="l">
                        <a:spcBef>
                          <a:spcPts val="0"/>
                        </a:spcBef>
                        <a:spcAft>
                          <a:spcPts val="0"/>
                        </a:spcAft>
                        <a:buNone/>
                      </a:pPr>
                      <a:r>
                        <a:rPr lang="en" sz="800"/>
                        <a:t>Variable-size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To define colors used by the bitmap image data (Pixel array)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Mandatory for </a:t>
                      </a:r>
                      <a:r>
                        <a:rPr lang="en" sz="800" u="sng">
                          <a:solidFill>
                            <a:schemeClr val="hlink"/>
                          </a:solidFill>
                          <a:hlinkClick r:id="rId5"/>
                        </a:rPr>
                        <a:t>color depths</a:t>
                      </a:r>
                      <a:r>
                        <a:rPr lang="en" sz="800"/>
                        <a:t> ≤ 8 bits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1650">
                <a:tc>
                  <a:txBody>
                    <a:bodyPr/>
                    <a:lstStyle/>
                    <a:p>
                      <a:pPr indent="0" lvl="0" marL="0" marR="0" rtl="0" algn="l">
                        <a:spcBef>
                          <a:spcPts val="0"/>
                        </a:spcBef>
                        <a:spcAft>
                          <a:spcPts val="0"/>
                        </a:spcAft>
                        <a:buNone/>
                      </a:pPr>
                      <a:r>
                        <a:rPr lang="en" sz="800"/>
                        <a:t>Gap1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800"/>
                        <a:t>Yes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99FF99"/>
                    </a:solidFill>
                  </a:tcPr>
                </a:tc>
                <a:tc>
                  <a:txBody>
                    <a:bodyPr/>
                    <a:lstStyle/>
                    <a:p>
                      <a:pPr indent="0" lvl="0" marL="0" marR="0" rtl="0" algn="l">
                        <a:spcBef>
                          <a:spcPts val="0"/>
                        </a:spcBef>
                        <a:spcAft>
                          <a:spcPts val="0"/>
                        </a:spcAft>
                        <a:buNone/>
                      </a:pPr>
                      <a:r>
                        <a:rPr lang="en" sz="800"/>
                        <a:t>Variable-size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Structure alignment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An artifact of the File offset to Pixel array in the Bitmap file header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0000">
                <a:tc>
                  <a:txBody>
                    <a:bodyPr/>
                    <a:lstStyle/>
                    <a:p>
                      <a:pPr indent="0" lvl="0" marL="0" marR="0" rtl="0" algn="l">
                        <a:spcBef>
                          <a:spcPts val="0"/>
                        </a:spcBef>
                        <a:spcAft>
                          <a:spcPts val="0"/>
                        </a:spcAft>
                        <a:buNone/>
                      </a:pPr>
                      <a:r>
                        <a:rPr lang="en" sz="1100"/>
                        <a:t>Pixel array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1100"/>
                        <a:t>No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9999"/>
                    </a:solidFill>
                  </a:tcPr>
                </a:tc>
                <a:tc>
                  <a:txBody>
                    <a:bodyPr/>
                    <a:lstStyle/>
                    <a:p>
                      <a:pPr indent="0" lvl="0" marL="0" marR="0" rtl="0" algn="l">
                        <a:spcBef>
                          <a:spcPts val="0"/>
                        </a:spcBef>
                        <a:spcAft>
                          <a:spcPts val="0"/>
                        </a:spcAft>
                        <a:buNone/>
                      </a:pPr>
                      <a:r>
                        <a:rPr lang="en" sz="1100"/>
                        <a:t>Variable-size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100"/>
                        <a:t>To define the actual values of the pixels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100"/>
                        <a:t>The pixel format is defined by the DIB header or Extra bit masks. Each row in the Pixel array is padded to a multiple of 4 bytes in size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34700">
                <a:tc>
                  <a:txBody>
                    <a:bodyPr/>
                    <a:lstStyle/>
                    <a:p>
                      <a:pPr indent="0" lvl="0" marL="0" marR="0" rtl="0" algn="l">
                        <a:spcBef>
                          <a:spcPts val="0"/>
                        </a:spcBef>
                        <a:spcAft>
                          <a:spcPts val="0"/>
                        </a:spcAft>
                        <a:buNone/>
                      </a:pPr>
                      <a:r>
                        <a:rPr lang="en" sz="800"/>
                        <a:t>Gap2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800"/>
                        <a:t>Yes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99FF99"/>
                    </a:solidFill>
                  </a:tcPr>
                </a:tc>
                <a:tc>
                  <a:txBody>
                    <a:bodyPr/>
                    <a:lstStyle/>
                    <a:p>
                      <a:pPr indent="0" lvl="0" marL="0" marR="0" rtl="0" algn="l">
                        <a:spcBef>
                          <a:spcPts val="0"/>
                        </a:spcBef>
                        <a:spcAft>
                          <a:spcPts val="0"/>
                        </a:spcAft>
                        <a:buNone/>
                      </a:pPr>
                      <a:r>
                        <a:rPr lang="en" sz="800"/>
                        <a:t>Variable-size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Structure alignment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An artifact of the ICC profile data offset field in the DIB header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9175">
                <a:tc>
                  <a:txBody>
                    <a:bodyPr/>
                    <a:lstStyle/>
                    <a:p>
                      <a:pPr indent="0" lvl="0" marL="0" marR="0" rtl="0" algn="l">
                        <a:spcBef>
                          <a:spcPts val="0"/>
                        </a:spcBef>
                        <a:spcAft>
                          <a:spcPts val="0"/>
                        </a:spcAft>
                        <a:buNone/>
                      </a:pPr>
                      <a:r>
                        <a:rPr lang="en" sz="800"/>
                        <a:t>ICC color profile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800"/>
                        <a:t>Yes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99FF99"/>
                    </a:solidFill>
                  </a:tcPr>
                </a:tc>
                <a:tc>
                  <a:txBody>
                    <a:bodyPr/>
                    <a:lstStyle/>
                    <a:p>
                      <a:pPr indent="0" lvl="0" marL="0" marR="0" rtl="0" algn="l">
                        <a:spcBef>
                          <a:spcPts val="0"/>
                        </a:spcBef>
                        <a:spcAft>
                          <a:spcPts val="0"/>
                        </a:spcAft>
                        <a:buNone/>
                      </a:pPr>
                      <a:r>
                        <a:rPr lang="en" sz="800"/>
                        <a:t>Variable-size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To define the color profile for color management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Can also contain a path to an external file containing the color profile. When loaded in memory as "non-packed DIB", it is located between the color table and Gap1.</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9"/>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BMP file header</a:t>
            </a:r>
            <a:endParaRPr/>
          </a:p>
        </p:txBody>
      </p:sp>
      <p:graphicFrame>
        <p:nvGraphicFramePr>
          <p:cNvPr id="483" name="Google Shape;483;p69"/>
          <p:cNvGraphicFramePr/>
          <p:nvPr/>
        </p:nvGraphicFramePr>
        <p:xfrm>
          <a:off x="381001" y="850179"/>
          <a:ext cx="3000000" cy="3000000"/>
        </p:xfrm>
        <a:graphic>
          <a:graphicData uri="http://schemas.openxmlformats.org/drawingml/2006/table">
            <a:tbl>
              <a:tblPr>
                <a:noFill/>
                <a:tableStyleId>{EFA36748-AFAB-4286-B8D2-6B0E28DC9EB8}</a:tableStyleId>
              </a:tblPr>
              <a:tblGrid>
                <a:gridCol w="751225"/>
                <a:gridCol w="696575"/>
                <a:gridCol w="914400"/>
                <a:gridCol w="6019800"/>
              </a:tblGrid>
              <a:tr h="459500">
                <a:tc>
                  <a:txBody>
                    <a:bodyPr/>
                    <a:lstStyle/>
                    <a:p>
                      <a:pPr indent="0" lvl="0" marL="0" marR="0" rtl="0" algn="l">
                        <a:spcBef>
                          <a:spcPts val="0"/>
                        </a:spcBef>
                        <a:spcAft>
                          <a:spcPts val="0"/>
                        </a:spcAft>
                        <a:buNone/>
                      </a:pPr>
                      <a:r>
                        <a:rPr b="1" lang="en" sz="1100"/>
                        <a:t>Offset hex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Offset dec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Size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100"/>
                        <a:t>Purpose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143600">
                <a:tc>
                  <a:txBody>
                    <a:bodyPr/>
                    <a:lstStyle/>
                    <a:p>
                      <a:pPr indent="0" lvl="0" marL="0" marR="0" rtl="0" algn="l">
                        <a:spcBef>
                          <a:spcPts val="0"/>
                        </a:spcBef>
                        <a:spcAft>
                          <a:spcPts val="0"/>
                        </a:spcAft>
                        <a:buNone/>
                      </a:pPr>
                      <a:r>
                        <a:rPr b="1" lang="en" sz="1100"/>
                        <a:t>00</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0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2 bytes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100"/>
                        <a:t>The </a:t>
                      </a:r>
                      <a:r>
                        <a:rPr lang="en" sz="1100" u="sng">
                          <a:solidFill>
                            <a:schemeClr val="hlink"/>
                          </a:solidFill>
                          <a:hlinkClick r:id="rId3"/>
                        </a:rPr>
                        <a:t>header field</a:t>
                      </a:r>
                      <a:r>
                        <a:rPr lang="en" sz="1100"/>
                        <a:t> used to identify the BMP and DIB file is 0x42 0x4D in </a:t>
                      </a:r>
                      <a:r>
                        <a:rPr lang="en" sz="1100" u="sng">
                          <a:solidFill>
                            <a:schemeClr val="hlink"/>
                          </a:solidFill>
                          <a:hlinkClick r:id="rId4"/>
                        </a:rPr>
                        <a:t>hexadecimal</a:t>
                      </a:r>
                      <a:r>
                        <a:rPr lang="en" sz="1100"/>
                        <a:t>, same as BM in ASCII. The following entries are possible: BM Windows 3.1x, 95, NT, ... etc. BA OS/2 struct bitmap array CI OS/2 struct color icon CP OS/2 const color pointer IC OS/2 struct icon PT OS/2 pointer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3800">
                <a:tc>
                  <a:txBody>
                    <a:bodyPr/>
                    <a:lstStyle/>
                    <a:p>
                      <a:pPr indent="0" lvl="0" marL="0" marR="0" rtl="0" algn="l">
                        <a:spcBef>
                          <a:spcPts val="0"/>
                        </a:spcBef>
                        <a:spcAft>
                          <a:spcPts val="0"/>
                        </a:spcAft>
                        <a:buNone/>
                      </a:pPr>
                      <a:r>
                        <a:rPr b="1" lang="en" sz="1100"/>
                        <a:t>02</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2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4 bytes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100"/>
                        <a:t>The size of the BMP file in bytes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6100">
                <a:tc>
                  <a:txBody>
                    <a:bodyPr/>
                    <a:lstStyle/>
                    <a:p>
                      <a:pPr indent="0" lvl="0" marL="0" marR="0" rtl="0" algn="l">
                        <a:spcBef>
                          <a:spcPts val="0"/>
                        </a:spcBef>
                        <a:spcAft>
                          <a:spcPts val="0"/>
                        </a:spcAft>
                        <a:buNone/>
                      </a:pPr>
                      <a:r>
                        <a:rPr b="1" lang="en" sz="1100"/>
                        <a:t>06</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6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2 bytes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100"/>
                        <a:t>Reserved; actual value depends on the application that creates the image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6100">
                <a:tc>
                  <a:txBody>
                    <a:bodyPr/>
                    <a:lstStyle/>
                    <a:p>
                      <a:pPr indent="0" lvl="0" marL="0" marR="0" rtl="0" algn="l">
                        <a:spcBef>
                          <a:spcPts val="0"/>
                        </a:spcBef>
                        <a:spcAft>
                          <a:spcPts val="0"/>
                        </a:spcAft>
                        <a:buNone/>
                      </a:pPr>
                      <a:r>
                        <a:rPr b="1" lang="en" sz="1100"/>
                        <a:t>08</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8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2 bytes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100"/>
                        <a:t>Reserved; actual value depends on the application that creates the image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8425">
                <a:tc>
                  <a:txBody>
                    <a:bodyPr/>
                    <a:lstStyle/>
                    <a:p>
                      <a:pPr indent="0" lvl="0" marL="0" marR="0" rtl="0" algn="l">
                        <a:spcBef>
                          <a:spcPts val="0"/>
                        </a:spcBef>
                        <a:spcAft>
                          <a:spcPts val="0"/>
                        </a:spcAft>
                        <a:buNone/>
                      </a:pPr>
                      <a:r>
                        <a:rPr b="1" lang="en" sz="1100">
                          <a:solidFill>
                            <a:srgbClr val="FF0000"/>
                          </a:solidFill>
                        </a:rPr>
                        <a:t>0A</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6"/>
                    </a:solidFill>
                  </a:tcPr>
                </a:tc>
                <a:tc>
                  <a:txBody>
                    <a:bodyPr/>
                    <a:lstStyle/>
                    <a:p>
                      <a:pPr indent="0" lvl="0" marL="0" marR="0" rtl="0" algn="l">
                        <a:spcBef>
                          <a:spcPts val="0"/>
                        </a:spcBef>
                        <a:spcAft>
                          <a:spcPts val="0"/>
                        </a:spcAft>
                        <a:buNone/>
                      </a:pPr>
                      <a:r>
                        <a:rPr b="1" lang="en" sz="1100">
                          <a:solidFill>
                            <a:srgbClr val="FF0000"/>
                          </a:solidFill>
                        </a:rPr>
                        <a:t>10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6"/>
                    </a:solidFill>
                  </a:tcPr>
                </a:tc>
                <a:tc>
                  <a:txBody>
                    <a:bodyPr/>
                    <a:lstStyle/>
                    <a:p>
                      <a:pPr indent="0" lvl="0" marL="0" marR="0" rtl="0" algn="l">
                        <a:spcBef>
                          <a:spcPts val="0"/>
                        </a:spcBef>
                        <a:spcAft>
                          <a:spcPts val="0"/>
                        </a:spcAft>
                        <a:buNone/>
                      </a:pPr>
                      <a:r>
                        <a:rPr b="1" lang="en" sz="1100">
                          <a:solidFill>
                            <a:srgbClr val="FF0000"/>
                          </a:solidFill>
                        </a:rPr>
                        <a:t>4 bytes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6"/>
                    </a:solidFill>
                  </a:tcPr>
                </a:tc>
                <a:tc>
                  <a:txBody>
                    <a:bodyPr/>
                    <a:lstStyle/>
                    <a:p>
                      <a:pPr indent="0" lvl="0" marL="0" marR="0" rtl="0" algn="l">
                        <a:spcBef>
                          <a:spcPts val="0"/>
                        </a:spcBef>
                        <a:spcAft>
                          <a:spcPts val="0"/>
                        </a:spcAft>
                        <a:buNone/>
                      </a:pPr>
                      <a:r>
                        <a:rPr lang="en" sz="1100">
                          <a:solidFill>
                            <a:srgbClr val="FF0000"/>
                          </a:solidFill>
                        </a:rPr>
                        <a:t>The offset, i.e. starting address, of the byte where the bitmap image data (pixel array) can be found.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6"/>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70"/>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DIP header</a:t>
            </a:r>
            <a:endParaRPr/>
          </a:p>
        </p:txBody>
      </p:sp>
      <p:graphicFrame>
        <p:nvGraphicFramePr>
          <p:cNvPr id="489" name="Google Shape;489;p70"/>
          <p:cNvGraphicFramePr/>
          <p:nvPr/>
        </p:nvGraphicFramePr>
        <p:xfrm>
          <a:off x="228600" y="457200"/>
          <a:ext cx="3000000" cy="3000000"/>
        </p:xfrm>
        <a:graphic>
          <a:graphicData uri="http://schemas.openxmlformats.org/drawingml/2006/table">
            <a:tbl>
              <a:tblPr>
                <a:noFill/>
                <a:tableStyleId>{EFA36748-AFAB-4286-B8D2-6B0E28DC9EB8}</a:tableStyleId>
              </a:tblPr>
              <a:tblGrid>
                <a:gridCol w="762000"/>
                <a:gridCol w="762000"/>
                <a:gridCol w="990600"/>
                <a:gridCol w="6096000"/>
              </a:tblGrid>
              <a:tr h="264300">
                <a:tc>
                  <a:txBody>
                    <a:bodyPr/>
                    <a:lstStyle/>
                    <a:p>
                      <a:pPr indent="0" lvl="0" marL="0" marR="0" rtl="0" algn="l">
                        <a:spcBef>
                          <a:spcPts val="0"/>
                        </a:spcBef>
                        <a:spcAft>
                          <a:spcPts val="0"/>
                        </a:spcAft>
                        <a:buNone/>
                      </a:pPr>
                      <a:r>
                        <a:rPr lang="en" sz="1400"/>
                        <a:t>Offset (hex)</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Offset (dec)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Size (bytes)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Windows BITMAPINFOHEADER</a:t>
                      </a:r>
                      <a:r>
                        <a:rPr baseline="30000" lang="en" sz="1400" u="sng">
                          <a:solidFill>
                            <a:schemeClr val="hlink"/>
                          </a:solidFill>
                          <a:hlinkClick r:id="rId3"/>
                        </a:rPr>
                        <a:t>[1]</a:t>
                      </a:r>
                      <a:r>
                        <a:rPr lang="en" sz="1400"/>
                        <a:t>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4700">
                <a:tc>
                  <a:txBody>
                    <a:bodyPr/>
                    <a:lstStyle/>
                    <a:p>
                      <a:pPr indent="0" lvl="0" marL="0" marR="0" rtl="0" algn="l">
                        <a:spcBef>
                          <a:spcPts val="0"/>
                        </a:spcBef>
                        <a:spcAft>
                          <a:spcPts val="0"/>
                        </a:spcAft>
                        <a:buNone/>
                      </a:pPr>
                      <a:r>
                        <a:rPr lang="en" sz="1400">
                          <a:solidFill>
                            <a:srgbClr val="FF0000"/>
                          </a:solidFill>
                        </a:rPr>
                        <a:t>0E</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14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the size of this header (40 bytes)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4300">
                <a:tc>
                  <a:txBody>
                    <a:bodyPr/>
                    <a:lstStyle/>
                    <a:p>
                      <a:pPr indent="0" lvl="0" marL="0" marR="0" rtl="0" algn="l">
                        <a:spcBef>
                          <a:spcPts val="0"/>
                        </a:spcBef>
                        <a:spcAft>
                          <a:spcPts val="0"/>
                        </a:spcAft>
                        <a:buNone/>
                      </a:pPr>
                      <a:r>
                        <a:rPr lang="en" sz="1400">
                          <a:solidFill>
                            <a:srgbClr val="FF0000"/>
                          </a:solidFill>
                        </a:rPr>
                        <a:t>12</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18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the bitmap width in pixels (signed integer)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4300">
                <a:tc>
                  <a:txBody>
                    <a:bodyPr/>
                    <a:lstStyle/>
                    <a:p>
                      <a:pPr indent="0" lvl="0" marL="0" marR="0" rtl="0" algn="l">
                        <a:spcBef>
                          <a:spcPts val="0"/>
                        </a:spcBef>
                        <a:spcAft>
                          <a:spcPts val="0"/>
                        </a:spcAft>
                        <a:buNone/>
                      </a:pPr>
                      <a:r>
                        <a:rPr lang="en" sz="1400">
                          <a:solidFill>
                            <a:srgbClr val="FF0000"/>
                          </a:solidFill>
                        </a:rPr>
                        <a:t>16</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22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the bitmap height in pixels (signed integer)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4300">
                <a:tc>
                  <a:txBody>
                    <a:bodyPr/>
                    <a:lstStyle/>
                    <a:p>
                      <a:pPr indent="0" lvl="0" marL="0" marR="0" rtl="0" algn="l">
                        <a:spcBef>
                          <a:spcPts val="0"/>
                        </a:spcBef>
                        <a:spcAft>
                          <a:spcPts val="0"/>
                        </a:spcAft>
                        <a:buNone/>
                      </a:pPr>
                      <a:r>
                        <a:rPr lang="en" sz="1400">
                          <a:solidFill>
                            <a:srgbClr val="FF0000"/>
                          </a:solidFill>
                        </a:rPr>
                        <a:t>1A</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26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2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the number of color planes (must be 1)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3125">
                <a:tc>
                  <a:txBody>
                    <a:bodyPr/>
                    <a:lstStyle/>
                    <a:p>
                      <a:pPr indent="0" lvl="0" marL="0" marR="0" rtl="0" algn="l">
                        <a:spcBef>
                          <a:spcPts val="0"/>
                        </a:spcBef>
                        <a:spcAft>
                          <a:spcPts val="0"/>
                        </a:spcAft>
                        <a:buNone/>
                      </a:pPr>
                      <a:r>
                        <a:rPr lang="en" sz="1400">
                          <a:solidFill>
                            <a:srgbClr val="FF0000"/>
                          </a:solidFill>
                        </a:rPr>
                        <a:t>1C</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28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2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the number of bits per pixel, which is the color depth of the image. Typical values are 1, 4, 8, 16, 24 and 32.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23500">
                <a:tc>
                  <a:txBody>
                    <a:bodyPr/>
                    <a:lstStyle/>
                    <a:p>
                      <a:pPr indent="0" lvl="0" marL="0" marR="0" rtl="0" algn="l">
                        <a:spcBef>
                          <a:spcPts val="0"/>
                        </a:spcBef>
                        <a:spcAft>
                          <a:spcPts val="0"/>
                        </a:spcAft>
                        <a:buNone/>
                      </a:pPr>
                      <a:r>
                        <a:rPr lang="en" sz="1400"/>
                        <a:t>1E</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30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the compression method being used. See the next table for a list of possible values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3125">
                <a:tc>
                  <a:txBody>
                    <a:bodyPr/>
                    <a:lstStyle/>
                    <a:p>
                      <a:pPr indent="0" lvl="0" marL="0" marR="0" rtl="0" algn="l">
                        <a:spcBef>
                          <a:spcPts val="0"/>
                        </a:spcBef>
                        <a:spcAft>
                          <a:spcPts val="0"/>
                        </a:spcAft>
                        <a:buNone/>
                      </a:pPr>
                      <a:r>
                        <a:rPr lang="en" sz="1400"/>
                        <a:t>22</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34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the image size. This is the size of the raw bitmap data; a dummy 0 can be given for BI_RGB bitmaps.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23500">
                <a:tc>
                  <a:txBody>
                    <a:bodyPr/>
                    <a:lstStyle/>
                    <a:p>
                      <a:pPr indent="0" lvl="0" marL="0" marR="0" rtl="0" algn="l">
                        <a:spcBef>
                          <a:spcPts val="0"/>
                        </a:spcBef>
                        <a:spcAft>
                          <a:spcPts val="0"/>
                        </a:spcAft>
                        <a:buNone/>
                      </a:pPr>
                      <a:r>
                        <a:rPr lang="en" sz="1400"/>
                        <a:t>26</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38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the horizontal resolution of the image. (pixel per metre, signed integer)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23500">
                <a:tc>
                  <a:txBody>
                    <a:bodyPr/>
                    <a:lstStyle/>
                    <a:p>
                      <a:pPr indent="0" lvl="0" marL="0" marR="0" rtl="0" algn="l">
                        <a:spcBef>
                          <a:spcPts val="0"/>
                        </a:spcBef>
                        <a:spcAft>
                          <a:spcPts val="0"/>
                        </a:spcAft>
                        <a:buNone/>
                      </a:pPr>
                      <a:r>
                        <a:rPr lang="en" sz="1400"/>
                        <a:t>2A</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42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the vertical resolution of the image. (pixel per metre, signed integer)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3925">
                <a:tc>
                  <a:txBody>
                    <a:bodyPr/>
                    <a:lstStyle/>
                    <a:p>
                      <a:pPr indent="0" lvl="0" marL="0" marR="0" rtl="0" algn="l">
                        <a:spcBef>
                          <a:spcPts val="0"/>
                        </a:spcBef>
                        <a:spcAft>
                          <a:spcPts val="0"/>
                        </a:spcAft>
                        <a:buNone/>
                      </a:pPr>
                      <a:r>
                        <a:rPr lang="en" sz="1400"/>
                        <a:t>2E</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46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the number of colors in the color palette, or 0 to default to 2</a:t>
                      </a:r>
                      <a:r>
                        <a:rPr baseline="30000" i="1" lang="en" sz="1400"/>
                        <a:t>n</a:t>
                      </a:r>
                      <a:r>
                        <a:rPr lang="en" sz="1400"/>
                        <a:t>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3125">
                <a:tc>
                  <a:txBody>
                    <a:bodyPr/>
                    <a:lstStyle/>
                    <a:p>
                      <a:pPr indent="0" lvl="0" marL="0" marR="0" rtl="0" algn="l">
                        <a:spcBef>
                          <a:spcPts val="0"/>
                        </a:spcBef>
                        <a:spcAft>
                          <a:spcPts val="0"/>
                        </a:spcAft>
                        <a:buNone/>
                      </a:pPr>
                      <a:r>
                        <a:rPr lang="en" sz="1400"/>
                        <a:t>32</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50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the number of important colors used, or 0 when every color is important; generally ignored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71"/>
          <p:cNvSpPr txBox="1"/>
          <p:nvPr/>
        </p:nvSpPr>
        <p:spPr>
          <a:xfrm>
            <a:off x="307150" y="228600"/>
            <a:ext cx="8348700" cy="48912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fname</a:t>
            </a:r>
            <a:r>
              <a:rPr b="1" lang="en" sz="1250">
                <a:solidFill>
                  <a:srgbClr val="0000F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 = </a:t>
            </a:r>
            <a:r>
              <a:rPr b="1" lang="en" sz="1250">
                <a:solidFill>
                  <a:srgbClr val="E21F1F"/>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cute-animals32bit.bmp</a:t>
            </a:r>
            <a:r>
              <a:rPr b="1" lang="en" sz="1250">
                <a:solidFill>
                  <a:srgbClr val="E21F1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FILE</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 = </a:t>
            </a:r>
            <a:r>
              <a:rPr b="1" lang="en" sz="1250">
                <a:solidFill>
                  <a:srgbClr val="74531F"/>
                </a:solidFill>
                <a:highlight>
                  <a:srgbClr val="FFFFFF"/>
                </a:highlight>
                <a:latin typeface="Consolas"/>
                <a:ea typeface="Consolas"/>
                <a:cs typeface="Consolas"/>
                <a:sym typeface="Consolas"/>
              </a:rPr>
              <a:t>fopen</a:t>
            </a:r>
            <a:r>
              <a:rPr b="1" lang="en" sz="1250">
                <a:solidFill>
                  <a:schemeClr val="dk1"/>
                </a:solidFill>
                <a:highlight>
                  <a:srgbClr val="FFFFFF"/>
                </a:highlight>
                <a:latin typeface="Consolas"/>
                <a:ea typeface="Consolas"/>
                <a:cs typeface="Consolas"/>
                <a:sym typeface="Consolas"/>
              </a:rPr>
              <a:t>(</a:t>
            </a:r>
            <a:r>
              <a:rPr b="1" lang="en" sz="1250">
                <a:solidFill>
                  <a:srgbClr val="1F377F"/>
                </a:solidFill>
                <a:highlight>
                  <a:srgbClr val="FFFFFF"/>
                </a:highlight>
                <a:latin typeface="Consolas"/>
                <a:ea typeface="Consolas"/>
                <a:cs typeface="Consolas"/>
                <a:sym typeface="Consolas"/>
              </a:rPr>
              <a:t>fname</a:t>
            </a:r>
            <a:r>
              <a:rPr b="1" lang="en" sz="1250">
                <a:solidFill>
                  <a:schemeClr val="dk1"/>
                </a:solidFill>
                <a:highlight>
                  <a:srgbClr val="FFFFFF"/>
                </a:highlight>
                <a:latin typeface="Consolas"/>
                <a:ea typeface="Consolas"/>
                <a:cs typeface="Consolas"/>
                <a:sym typeface="Consolas"/>
              </a:rPr>
              <a:t>, </a:t>
            </a:r>
            <a:r>
              <a:rPr b="1" lang="en" sz="1250">
                <a:solidFill>
                  <a:srgbClr val="E21F1F"/>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rb</a:t>
            </a:r>
            <a:r>
              <a:rPr b="1" lang="en" sz="1250">
                <a:solidFill>
                  <a:srgbClr val="E21F1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8F08C4"/>
                </a:solidFill>
                <a:highlight>
                  <a:srgbClr val="FFFFFF"/>
                </a:highlight>
                <a:latin typeface="Consolas"/>
                <a:ea typeface="Consolas"/>
                <a:cs typeface="Consolas"/>
                <a:sym typeface="Consolas"/>
              </a:rPr>
              <a:t>if</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 == </a:t>
            </a:r>
            <a:r>
              <a:rPr b="1" lang="en" sz="1250">
                <a:solidFill>
                  <a:srgbClr val="8A1BFF"/>
                </a:solidFill>
                <a:highlight>
                  <a:srgbClr val="FFFFFF"/>
                </a:highlight>
                <a:latin typeface="Consolas"/>
                <a:ea typeface="Consolas"/>
                <a:cs typeface="Consolas"/>
                <a:sym typeface="Consolas"/>
              </a:rPr>
              <a:t>NULL</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perror</a:t>
            </a:r>
            <a:r>
              <a:rPr b="1" lang="en" sz="1250">
                <a:solidFill>
                  <a:schemeClr val="dk1"/>
                </a:solidFill>
                <a:highlight>
                  <a:srgbClr val="FFFFFF"/>
                </a:highlight>
                <a:latin typeface="Consolas"/>
                <a:ea typeface="Consolas"/>
                <a:cs typeface="Consolas"/>
                <a:sym typeface="Consolas"/>
              </a:rPr>
              <a:t>(</a:t>
            </a:r>
            <a:r>
              <a:rPr b="1" lang="en" sz="1250">
                <a:solidFill>
                  <a:srgbClr val="E21F1F"/>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the file </a:t>
            </a:r>
            <a:r>
              <a:rPr b="1" lang="en" sz="1250">
                <a:solidFill>
                  <a:srgbClr val="B776FB"/>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%s</a:t>
            </a:r>
            <a:r>
              <a:rPr b="1" lang="en" sz="1250">
                <a:solidFill>
                  <a:srgbClr val="A31515"/>
                </a:solidFill>
                <a:highlight>
                  <a:srgbClr val="FFFFFF"/>
                </a:highlight>
                <a:latin typeface="Consolas"/>
                <a:ea typeface="Consolas"/>
                <a:cs typeface="Consolas"/>
                <a:sym typeface="Consolas"/>
              </a:rPr>
              <a:t> </a:t>
            </a:r>
            <a:r>
              <a:rPr b="1" lang="en" sz="1250">
                <a:solidFill>
                  <a:srgbClr val="B776FB"/>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  is not found!</a:t>
            </a:r>
            <a:r>
              <a:rPr b="1" lang="en" sz="1250">
                <a:solidFill>
                  <a:srgbClr val="E21F1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fname</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8F08C4"/>
                </a:solidFill>
                <a:highlight>
                  <a:srgbClr val="FFFFFF"/>
                </a:highlight>
                <a:latin typeface="Consolas"/>
                <a:ea typeface="Consolas"/>
                <a:cs typeface="Consolas"/>
                <a:sym typeface="Consolas"/>
              </a:rPr>
              <a:t>return</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0</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uint32_t</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offset</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hsize</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width</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height</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uint16_t</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nplanes</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nbits</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fseek</a:t>
            </a:r>
            <a:r>
              <a:rPr b="1" lang="en" sz="1250">
                <a:solidFill>
                  <a:schemeClr val="dk1"/>
                </a:solidFill>
                <a:highlight>
                  <a:srgbClr val="FFFFFF"/>
                </a:highlight>
                <a:latin typeface="Consolas"/>
                <a:ea typeface="Consolas"/>
                <a:cs typeface="Consolas"/>
                <a:sym typeface="Consolas"/>
              </a:rPr>
              <a:t>(</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10</a:t>
            </a:r>
            <a:r>
              <a:rPr b="1" lang="en" sz="1250">
                <a:solidFill>
                  <a:schemeClr val="dk1"/>
                </a:solidFill>
                <a:highlight>
                  <a:srgbClr val="FFFFFF"/>
                </a:highlight>
                <a:latin typeface="Consolas"/>
                <a:ea typeface="Consolas"/>
                <a:cs typeface="Consolas"/>
                <a:sym typeface="Consolas"/>
              </a:rPr>
              <a:t>, </a:t>
            </a:r>
            <a:r>
              <a:rPr b="1" lang="en" sz="1250">
                <a:solidFill>
                  <a:srgbClr val="8A1BFF"/>
                </a:solidFill>
                <a:highlight>
                  <a:srgbClr val="FFFFFF"/>
                </a:highlight>
                <a:latin typeface="Consolas"/>
                <a:ea typeface="Consolas"/>
                <a:cs typeface="Consolas"/>
                <a:sym typeface="Consolas"/>
              </a:rPr>
              <a:t>SEEK_CUR</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fread</a:t>
            </a:r>
            <a:r>
              <a:rPr b="1" lang="en" sz="1250">
                <a:solidFill>
                  <a:schemeClr val="dk1"/>
                </a:solidFill>
                <a:highlight>
                  <a:srgbClr val="FFFFFF"/>
                </a:highlight>
                <a:latin typeface="Consolas"/>
                <a:ea typeface="Consolas"/>
                <a:cs typeface="Consolas"/>
                <a:sym typeface="Consolas"/>
              </a:rPr>
              <a:t>(&amp;</a:t>
            </a:r>
            <a:r>
              <a:rPr b="1" lang="en" sz="1250">
                <a:solidFill>
                  <a:srgbClr val="1F377F"/>
                </a:solidFill>
                <a:highlight>
                  <a:srgbClr val="FFFFFF"/>
                </a:highlight>
                <a:latin typeface="Consolas"/>
                <a:ea typeface="Consolas"/>
                <a:cs typeface="Consolas"/>
                <a:sym typeface="Consolas"/>
              </a:rPr>
              <a:t>offset</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4</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fread</a:t>
            </a:r>
            <a:r>
              <a:rPr b="1" lang="en" sz="1250">
                <a:solidFill>
                  <a:schemeClr val="dk1"/>
                </a:solidFill>
                <a:highlight>
                  <a:srgbClr val="FFFFFF"/>
                </a:highlight>
                <a:latin typeface="Consolas"/>
                <a:ea typeface="Consolas"/>
                <a:cs typeface="Consolas"/>
                <a:sym typeface="Consolas"/>
              </a:rPr>
              <a:t>(&amp;</a:t>
            </a:r>
            <a:r>
              <a:rPr b="1" lang="en" sz="1250">
                <a:solidFill>
                  <a:srgbClr val="1F377F"/>
                </a:solidFill>
                <a:highlight>
                  <a:srgbClr val="FFFFFF"/>
                </a:highlight>
                <a:latin typeface="Consolas"/>
                <a:ea typeface="Consolas"/>
                <a:cs typeface="Consolas"/>
                <a:sym typeface="Consolas"/>
              </a:rPr>
              <a:t>hsize</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4</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fread</a:t>
            </a:r>
            <a:r>
              <a:rPr b="1" lang="en" sz="1250">
                <a:solidFill>
                  <a:schemeClr val="dk1"/>
                </a:solidFill>
                <a:highlight>
                  <a:srgbClr val="FFFFFF"/>
                </a:highlight>
                <a:latin typeface="Consolas"/>
                <a:ea typeface="Consolas"/>
                <a:cs typeface="Consolas"/>
                <a:sym typeface="Consolas"/>
              </a:rPr>
              <a:t>(&amp;</a:t>
            </a:r>
            <a:r>
              <a:rPr b="1" lang="en" sz="1250">
                <a:solidFill>
                  <a:srgbClr val="1F377F"/>
                </a:solidFill>
                <a:highlight>
                  <a:srgbClr val="FFFFFF"/>
                </a:highlight>
                <a:latin typeface="Consolas"/>
                <a:ea typeface="Consolas"/>
                <a:cs typeface="Consolas"/>
                <a:sym typeface="Consolas"/>
              </a:rPr>
              <a:t>width</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4</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fread</a:t>
            </a:r>
            <a:r>
              <a:rPr b="1" lang="en" sz="1250">
                <a:solidFill>
                  <a:schemeClr val="dk1"/>
                </a:solidFill>
                <a:highlight>
                  <a:srgbClr val="FFFFFF"/>
                </a:highlight>
                <a:latin typeface="Consolas"/>
                <a:ea typeface="Consolas"/>
                <a:cs typeface="Consolas"/>
                <a:sym typeface="Consolas"/>
              </a:rPr>
              <a:t>(&amp;</a:t>
            </a:r>
            <a:r>
              <a:rPr b="1" lang="en" sz="1250">
                <a:solidFill>
                  <a:srgbClr val="1F377F"/>
                </a:solidFill>
                <a:highlight>
                  <a:srgbClr val="FFFFFF"/>
                </a:highlight>
                <a:latin typeface="Consolas"/>
                <a:ea typeface="Consolas"/>
                <a:cs typeface="Consolas"/>
                <a:sym typeface="Consolas"/>
              </a:rPr>
              <a:t>height</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4</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fread</a:t>
            </a:r>
            <a:r>
              <a:rPr b="1" lang="en" sz="1250">
                <a:solidFill>
                  <a:schemeClr val="dk1"/>
                </a:solidFill>
                <a:highlight>
                  <a:srgbClr val="FFFFFF"/>
                </a:highlight>
                <a:latin typeface="Consolas"/>
                <a:ea typeface="Consolas"/>
                <a:cs typeface="Consolas"/>
                <a:sym typeface="Consolas"/>
              </a:rPr>
              <a:t>(&amp;</a:t>
            </a:r>
            <a:r>
              <a:rPr b="1" lang="en" sz="1250">
                <a:solidFill>
                  <a:srgbClr val="1F377F"/>
                </a:solidFill>
                <a:highlight>
                  <a:srgbClr val="FFFFFF"/>
                </a:highlight>
                <a:latin typeface="Consolas"/>
                <a:ea typeface="Consolas"/>
                <a:cs typeface="Consolas"/>
                <a:sym typeface="Consolas"/>
              </a:rPr>
              <a:t>nplanes</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2</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fread</a:t>
            </a:r>
            <a:r>
              <a:rPr b="1" lang="en" sz="1250">
                <a:solidFill>
                  <a:schemeClr val="dk1"/>
                </a:solidFill>
                <a:highlight>
                  <a:srgbClr val="FFFFFF"/>
                </a:highlight>
                <a:latin typeface="Consolas"/>
                <a:ea typeface="Consolas"/>
                <a:cs typeface="Consolas"/>
                <a:sym typeface="Consolas"/>
              </a:rPr>
              <a:t>(&amp;</a:t>
            </a:r>
            <a:r>
              <a:rPr b="1" lang="en" sz="1250">
                <a:solidFill>
                  <a:srgbClr val="1F377F"/>
                </a:solidFill>
                <a:highlight>
                  <a:srgbClr val="FFFFFF"/>
                </a:highlight>
                <a:latin typeface="Consolas"/>
                <a:ea typeface="Consolas"/>
                <a:cs typeface="Consolas"/>
                <a:sym typeface="Consolas"/>
              </a:rPr>
              <a:t>nbits</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2</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printf</a:t>
            </a:r>
            <a:r>
              <a:rPr b="1" lang="en" sz="1250">
                <a:solidFill>
                  <a:schemeClr val="dk1"/>
                </a:solidFill>
                <a:highlight>
                  <a:srgbClr val="FFFFFF"/>
                </a:highlight>
                <a:latin typeface="Consolas"/>
                <a:ea typeface="Consolas"/>
                <a:cs typeface="Consolas"/>
                <a:sym typeface="Consolas"/>
              </a:rPr>
              <a:t>(</a:t>
            </a:r>
            <a:r>
              <a:rPr b="1" lang="en" sz="1250">
                <a:solidFill>
                  <a:srgbClr val="E21F1F"/>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offset: </a:t>
            </a:r>
            <a:r>
              <a:rPr b="1" lang="en" sz="1250">
                <a:solidFill>
                  <a:srgbClr val="1F377F"/>
                </a:solidFill>
                <a:highlight>
                  <a:srgbClr val="FFFFFF"/>
                </a:highlight>
                <a:latin typeface="Consolas"/>
                <a:ea typeface="Consolas"/>
                <a:cs typeface="Consolas"/>
                <a:sym typeface="Consolas"/>
              </a:rPr>
              <a:t>%d</a:t>
            </a:r>
            <a:r>
              <a:rPr b="1" lang="en" sz="1250">
                <a:solidFill>
                  <a:srgbClr val="A31515"/>
                </a:solidFill>
                <a:highlight>
                  <a:srgbClr val="FFFFFF"/>
                </a:highlight>
                <a:latin typeface="Consolas"/>
                <a:ea typeface="Consolas"/>
                <a:cs typeface="Consolas"/>
                <a:sym typeface="Consolas"/>
              </a:rPr>
              <a:t>, hsize: </a:t>
            </a:r>
            <a:r>
              <a:rPr b="1" lang="en" sz="1250">
                <a:solidFill>
                  <a:srgbClr val="1F377F"/>
                </a:solidFill>
                <a:highlight>
                  <a:srgbClr val="FFFFFF"/>
                </a:highlight>
                <a:latin typeface="Consolas"/>
                <a:ea typeface="Consolas"/>
                <a:cs typeface="Consolas"/>
                <a:sym typeface="Consolas"/>
              </a:rPr>
              <a:t>%d</a:t>
            </a:r>
            <a:r>
              <a:rPr b="1" lang="en" sz="1250">
                <a:solidFill>
                  <a:srgbClr val="A31515"/>
                </a:solidFill>
                <a:highlight>
                  <a:srgbClr val="FFFFFF"/>
                </a:highlight>
                <a:latin typeface="Consolas"/>
                <a:ea typeface="Consolas"/>
                <a:cs typeface="Consolas"/>
                <a:sym typeface="Consolas"/>
              </a:rPr>
              <a:t>, </a:t>
            </a:r>
            <a:r>
              <a:rPr b="1" lang="en" sz="1250">
                <a:solidFill>
                  <a:srgbClr val="B776FB"/>
                </a:solidFill>
                <a:highlight>
                  <a:srgbClr val="FFFFFF"/>
                </a:highlight>
                <a:latin typeface="Consolas"/>
                <a:ea typeface="Consolas"/>
                <a:cs typeface="Consolas"/>
                <a:sym typeface="Consolas"/>
              </a:rPr>
              <a:t>\n</a:t>
            </a:r>
            <a:r>
              <a:rPr b="1" lang="en" sz="1250">
                <a:solidFill>
                  <a:srgbClr val="E21F1F"/>
                </a:solidFill>
                <a:highlight>
                  <a:srgbClr val="FFFFFF"/>
                </a:highlight>
                <a:latin typeface="Consolas"/>
                <a:ea typeface="Consolas"/>
                <a:cs typeface="Consolas"/>
                <a:sym typeface="Consolas"/>
              </a:rPr>
              <a:t>"</a:t>
            </a:r>
            <a:endParaRPr b="1" sz="1250">
              <a:solidFill>
                <a:srgbClr val="E21F1F"/>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E21F1F"/>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width: </a:t>
            </a:r>
            <a:r>
              <a:rPr b="1" lang="en" sz="1250">
                <a:solidFill>
                  <a:srgbClr val="1F377F"/>
                </a:solidFill>
                <a:highlight>
                  <a:srgbClr val="FFFFFF"/>
                </a:highlight>
                <a:latin typeface="Consolas"/>
                <a:ea typeface="Consolas"/>
                <a:cs typeface="Consolas"/>
                <a:sym typeface="Consolas"/>
              </a:rPr>
              <a:t>%d</a:t>
            </a:r>
            <a:r>
              <a:rPr b="1" lang="en" sz="1250">
                <a:solidFill>
                  <a:srgbClr val="A31515"/>
                </a:solidFill>
                <a:highlight>
                  <a:srgbClr val="FFFFFF"/>
                </a:highlight>
                <a:latin typeface="Consolas"/>
                <a:ea typeface="Consolas"/>
                <a:cs typeface="Consolas"/>
                <a:sym typeface="Consolas"/>
              </a:rPr>
              <a:t>, height: </a:t>
            </a:r>
            <a:r>
              <a:rPr b="1" lang="en" sz="1250">
                <a:solidFill>
                  <a:srgbClr val="1F377F"/>
                </a:solidFill>
                <a:highlight>
                  <a:srgbClr val="FFFFFF"/>
                </a:highlight>
                <a:latin typeface="Consolas"/>
                <a:ea typeface="Consolas"/>
                <a:cs typeface="Consolas"/>
                <a:sym typeface="Consolas"/>
              </a:rPr>
              <a:t>%d</a:t>
            </a:r>
            <a:r>
              <a:rPr b="1" lang="en" sz="1250">
                <a:solidFill>
                  <a:srgbClr val="A31515"/>
                </a:solidFill>
                <a:highlight>
                  <a:srgbClr val="FFFFFF"/>
                </a:highlight>
                <a:latin typeface="Consolas"/>
                <a:ea typeface="Consolas"/>
                <a:cs typeface="Consolas"/>
                <a:sym typeface="Consolas"/>
              </a:rPr>
              <a:t>, nplanes: </a:t>
            </a:r>
            <a:r>
              <a:rPr b="1" lang="en" sz="1250">
                <a:solidFill>
                  <a:srgbClr val="1F377F"/>
                </a:solidFill>
                <a:highlight>
                  <a:srgbClr val="FFFFFF"/>
                </a:highlight>
                <a:latin typeface="Consolas"/>
                <a:ea typeface="Consolas"/>
                <a:cs typeface="Consolas"/>
                <a:sym typeface="Consolas"/>
              </a:rPr>
              <a:t>%d</a:t>
            </a:r>
            <a:r>
              <a:rPr b="1" lang="en" sz="1250">
                <a:solidFill>
                  <a:srgbClr val="A31515"/>
                </a:solidFill>
                <a:highlight>
                  <a:srgbClr val="FFFFFF"/>
                </a:highlight>
                <a:latin typeface="Consolas"/>
                <a:ea typeface="Consolas"/>
                <a:cs typeface="Consolas"/>
                <a:sym typeface="Consolas"/>
              </a:rPr>
              <a:t>, bits: </a:t>
            </a:r>
            <a:r>
              <a:rPr b="1" lang="en" sz="1250">
                <a:solidFill>
                  <a:srgbClr val="1F377F"/>
                </a:solidFill>
                <a:highlight>
                  <a:srgbClr val="FFFFFF"/>
                </a:highlight>
                <a:latin typeface="Consolas"/>
                <a:ea typeface="Consolas"/>
                <a:cs typeface="Consolas"/>
                <a:sym typeface="Consolas"/>
              </a:rPr>
              <a:t>%d</a:t>
            </a:r>
            <a:r>
              <a:rPr b="1" lang="en" sz="1250">
                <a:solidFill>
                  <a:srgbClr val="E21F1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offset</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hsize</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width</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height</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chemeClr val="lt1"/>
                </a:highlight>
                <a:latin typeface="Consolas"/>
                <a:ea typeface="Consolas"/>
                <a:cs typeface="Consolas"/>
                <a:sym typeface="Consolas"/>
              </a:rPr>
              <a:t>nplanes</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nbits</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fclose</a:t>
            </a:r>
            <a:r>
              <a:rPr b="1" lang="en" sz="1250">
                <a:solidFill>
                  <a:schemeClr val="dk1"/>
                </a:solidFill>
                <a:highlight>
                  <a:srgbClr val="FFFFFF"/>
                </a:highlight>
                <a:latin typeface="Consolas"/>
                <a:ea typeface="Consolas"/>
                <a:cs typeface="Consolas"/>
                <a:sym typeface="Consolas"/>
              </a:rPr>
              <a:t>(</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2"/>
          <p:cNvSpPr txBox="1"/>
          <p:nvPr>
            <p:ph type="title"/>
          </p:nvPr>
        </p:nvSpPr>
        <p:spPr>
          <a:xfrm>
            <a:off x="76200" y="4000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2880"/>
              <a:buFont typeface="Bookman Old Style"/>
              <a:buNone/>
            </a:pPr>
            <a:r>
              <a:rPr lang="en" sz="2880"/>
              <a:t>Copy content[0-offset] to another file</a:t>
            </a:r>
            <a:endParaRPr sz="2880"/>
          </a:p>
        </p:txBody>
      </p:sp>
      <p:sp>
        <p:nvSpPr>
          <p:cNvPr id="500" name="Google Shape;500;p72"/>
          <p:cNvSpPr/>
          <p:nvPr/>
        </p:nvSpPr>
        <p:spPr>
          <a:xfrm>
            <a:off x="228600" y="1100762"/>
            <a:ext cx="9753600" cy="2769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lang="en" sz="1800">
                <a:solidFill>
                  <a:srgbClr val="3F7F5F"/>
                </a:solidFill>
                <a:latin typeface="Consolas"/>
                <a:ea typeface="Consolas"/>
                <a:cs typeface="Consolas"/>
                <a:sym typeface="Consolas"/>
              </a:rPr>
              <a:t>/*storage for the data upto offset of image data*/</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uint8_t *fheader = (uint8_t *)malloc(</a:t>
            </a:r>
            <a:r>
              <a:rPr b="1" lang="en" sz="1800">
                <a:solidFill>
                  <a:srgbClr val="7F0055"/>
                </a:solidFill>
                <a:latin typeface="Consolas"/>
                <a:ea typeface="Consolas"/>
                <a:cs typeface="Consolas"/>
                <a:sym typeface="Consolas"/>
              </a:rPr>
              <a:t>sizeof</a:t>
            </a:r>
            <a:r>
              <a:rPr b="1" lang="en" sz="1800">
                <a:solidFill>
                  <a:srgbClr val="000000"/>
                </a:solidFill>
                <a:latin typeface="Consolas"/>
                <a:ea typeface="Consolas"/>
                <a:cs typeface="Consolas"/>
                <a:sym typeface="Consolas"/>
              </a:rPr>
              <a:t>(uint8_t)*offset);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lang="en" sz="1800">
                <a:solidFill>
                  <a:srgbClr val="3F7F5F"/>
                </a:solidFill>
                <a:latin typeface="Consolas"/>
                <a:ea typeface="Consolas"/>
                <a:cs typeface="Consolas"/>
                <a:sym typeface="Consolas"/>
              </a:rPr>
              <a:t>/*rewind to the beginning*/</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rewind(infile);</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t/>
            </a:r>
            <a:endParaRPr sz="1800">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lang="en" sz="1800">
                <a:solidFill>
                  <a:srgbClr val="3F7F5F"/>
                </a:solidFill>
                <a:latin typeface="Consolas"/>
                <a:ea typeface="Consolas"/>
                <a:cs typeface="Consolas"/>
                <a:sym typeface="Consolas"/>
              </a:rPr>
              <a:t>/*read and write the header upto offset*/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fread(fheader, 1, offset, infile);</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fwrite(fheader, 1, offset, outfile);</a:t>
            </a:r>
            <a:endParaRPr/>
          </a:p>
        </p:txBody>
      </p:sp>
      <p:sp>
        <p:nvSpPr>
          <p:cNvPr id="501" name="Google Shape;501;p72"/>
          <p:cNvSpPr/>
          <p:nvPr/>
        </p:nvSpPr>
        <p:spPr>
          <a:xfrm>
            <a:off x="7467600" y="4548449"/>
            <a:ext cx="1524000" cy="171600"/>
          </a:xfrm>
          <a:prstGeom prst="rightArrow">
            <a:avLst>
              <a:gd fmla="val 50000" name="adj1"/>
              <a:gd fmla="val 50000"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73"/>
          <p:cNvSpPr txBox="1"/>
          <p:nvPr>
            <p:ph type="title"/>
          </p:nvPr>
        </p:nvSpPr>
        <p:spPr>
          <a:xfrm>
            <a:off x="311700" y="333769"/>
            <a:ext cx="8520600" cy="4296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User defined types</a:t>
            </a:r>
            <a:endParaRPr/>
          </a:p>
        </p:txBody>
      </p:sp>
      <p:sp>
        <p:nvSpPr>
          <p:cNvPr id="507" name="Google Shape;507;p73"/>
          <p:cNvSpPr txBox="1"/>
          <p:nvPr>
            <p:ph idx="4294967295" type="body"/>
          </p:nvPr>
        </p:nvSpPr>
        <p:spPr>
          <a:xfrm>
            <a:off x="1905000" y="1085850"/>
            <a:ext cx="2514600" cy="36327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1976"/>
              <a:buChar char="●"/>
            </a:pPr>
            <a:r>
              <a:rPr lang="en"/>
              <a:t>Struct</a:t>
            </a:r>
            <a:endParaRPr/>
          </a:p>
          <a:p>
            <a:pPr indent="-274320" lvl="0" marL="274320" rtl="0" algn="l">
              <a:spcBef>
                <a:spcPts val="600"/>
              </a:spcBef>
              <a:spcAft>
                <a:spcPts val="0"/>
              </a:spcAft>
              <a:buSzPts val="1976"/>
              <a:buChar char="●"/>
            </a:pPr>
            <a:r>
              <a:rPr lang="en"/>
              <a:t>Bitfield</a:t>
            </a:r>
            <a:endParaRPr/>
          </a:p>
          <a:p>
            <a:pPr indent="-274320" lvl="0" marL="274320" rtl="0" algn="l">
              <a:spcBef>
                <a:spcPts val="600"/>
              </a:spcBef>
              <a:spcAft>
                <a:spcPts val="0"/>
              </a:spcAft>
              <a:buSzPts val="1976"/>
              <a:buChar char="●"/>
            </a:pPr>
            <a:r>
              <a:rPr lang="en"/>
              <a:t>Enumeration</a:t>
            </a:r>
            <a:endParaRPr/>
          </a:p>
          <a:p>
            <a:pPr indent="-274320" lvl="0" marL="274320" rtl="0" algn="l">
              <a:spcBef>
                <a:spcPts val="600"/>
              </a:spcBef>
              <a:spcAft>
                <a:spcPts val="0"/>
              </a:spcAft>
              <a:buSzPts val="1976"/>
              <a:buChar char="●"/>
            </a:pPr>
            <a:r>
              <a:rPr lang="en"/>
              <a:t>typedef</a:t>
            </a:r>
            <a:endParaRPr/>
          </a:p>
          <a:p>
            <a:pPr indent="-148844" lvl="0" marL="274320" rtl="0" algn="l">
              <a:spcBef>
                <a:spcPts val="600"/>
              </a:spcBef>
              <a:spcAft>
                <a:spcPts val="1600"/>
              </a:spcAft>
              <a:buSzPts val="1976"/>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74"/>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Put frame to new file</a:t>
            </a:r>
            <a:endParaRPr/>
          </a:p>
        </p:txBody>
      </p:sp>
      <p:sp>
        <p:nvSpPr>
          <p:cNvPr id="513" name="Google Shape;513;p74"/>
          <p:cNvSpPr txBox="1"/>
          <p:nvPr/>
        </p:nvSpPr>
        <p:spPr>
          <a:xfrm>
            <a:off x="0" y="414400"/>
            <a:ext cx="8835300" cy="4538100"/>
          </a:xfrm>
          <a:prstGeom prst="rect">
            <a:avLst/>
          </a:prstGeom>
          <a:noFill/>
          <a:ln>
            <a:noFill/>
          </a:ln>
        </p:spPr>
        <p:txBody>
          <a:bodyPr anchorCtr="0" anchor="t" bIns="91425" lIns="91425" spcFirstLastPara="1" rIns="91425" wrap="square" tIns="91425">
            <a:noAutofit/>
          </a:bodyPr>
          <a:lstStyle/>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2B91AF"/>
                </a:solidFill>
                <a:highlight>
                  <a:srgbClr val="FFFFFF"/>
                </a:highlight>
                <a:latin typeface="Consolas"/>
                <a:ea typeface="Consolas"/>
                <a:cs typeface="Consolas"/>
                <a:sym typeface="Consolas"/>
              </a:rPr>
              <a:t>uint32_t</a:t>
            </a:r>
            <a:r>
              <a:rPr lang="en" sz="1271">
                <a:solidFill>
                  <a:schemeClr val="dk1"/>
                </a:solidFill>
                <a:highlight>
                  <a:srgbClr val="FFFFFF"/>
                </a:highlight>
                <a:latin typeface="Consolas"/>
                <a:ea typeface="Consolas"/>
                <a:cs typeface="Consolas"/>
                <a:sym typeface="Consolas"/>
              </a:rPr>
              <a:t> apixel = </a:t>
            </a:r>
            <a:r>
              <a:rPr lang="en" sz="1271">
                <a:solidFill>
                  <a:srgbClr val="098658"/>
                </a:solidFill>
                <a:highlight>
                  <a:srgbClr val="FFFFFF"/>
                </a:highlight>
                <a:latin typeface="Consolas"/>
                <a:ea typeface="Consolas"/>
                <a:cs typeface="Consolas"/>
                <a:sym typeface="Consolas"/>
              </a:rPr>
              <a:t>0</a:t>
            </a:r>
            <a:r>
              <a:rPr lang="en" sz="1271">
                <a:solidFill>
                  <a:schemeClr val="dk1"/>
                </a:solidFill>
                <a:highlight>
                  <a:srgbClr val="FFFFFF"/>
                </a:highlight>
                <a:latin typeface="Consolas"/>
                <a:ea typeface="Consolas"/>
                <a:cs typeface="Consolas"/>
                <a:sym typeface="Consolas"/>
              </a:rPr>
              <a:t>;</a:t>
            </a:r>
            <a:r>
              <a:rPr lang="en" sz="1271">
                <a:solidFill>
                  <a:srgbClr val="008000"/>
                </a:solidFill>
                <a:highlight>
                  <a:srgbClr val="FFFFFF"/>
                </a:highlight>
                <a:latin typeface="Consolas"/>
                <a:ea typeface="Consolas"/>
                <a:cs typeface="Consolas"/>
                <a:sym typeface="Consolas"/>
              </a:rPr>
              <a:t> /*storage for a pixel data*/</a:t>
            </a:r>
            <a:endParaRPr sz="1271">
              <a:solidFill>
                <a:srgbClr val="008000"/>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2B91AF"/>
                </a:solidFill>
                <a:highlight>
                  <a:srgbClr val="FFFFFF"/>
                </a:highlight>
                <a:latin typeface="Consolas"/>
                <a:ea typeface="Consolas"/>
                <a:cs typeface="Consolas"/>
                <a:sym typeface="Consolas"/>
              </a:rPr>
              <a:t>uint32_t</a:t>
            </a:r>
            <a:r>
              <a:rPr lang="en" sz="1271">
                <a:solidFill>
                  <a:schemeClr val="dk1"/>
                </a:solidFill>
                <a:highlight>
                  <a:srgbClr val="FFFFFF"/>
                </a:highlight>
                <a:latin typeface="Consolas"/>
                <a:ea typeface="Consolas"/>
                <a:cs typeface="Consolas"/>
                <a:sym typeface="Consolas"/>
              </a:rPr>
              <a:t> FRAME_COLOR = </a:t>
            </a:r>
            <a:r>
              <a:rPr lang="en" sz="1271">
                <a:solidFill>
                  <a:srgbClr val="098658"/>
                </a:solidFill>
                <a:highlight>
                  <a:srgbClr val="FFFFFF"/>
                </a:highlight>
                <a:latin typeface="Consolas"/>
                <a:ea typeface="Consolas"/>
                <a:cs typeface="Consolas"/>
                <a:sym typeface="Consolas"/>
              </a:rPr>
              <a:t>255</a:t>
            </a:r>
            <a:r>
              <a:rPr lang="en" sz="1271">
                <a:solidFill>
                  <a:schemeClr val="dk1"/>
                </a:solidFill>
                <a:highlight>
                  <a:srgbClr val="FFFFFF"/>
                </a:highlight>
                <a:latin typeface="Consolas"/>
                <a:ea typeface="Consolas"/>
                <a:cs typeface="Consolas"/>
                <a:sym typeface="Consolas"/>
              </a:rPr>
              <a:t>&lt;&lt;</a:t>
            </a:r>
            <a:r>
              <a:rPr lang="en" sz="1271">
                <a:solidFill>
                  <a:srgbClr val="098658"/>
                </a:solidFill>
                <a:highlight>
                  <a:srgbClr val="FFFFFF"/>
                </a:highlight>
                <a:latin typeface="Consolas"/>
                <a:ea typeface="Consolas"/>
                <a:cs typeface="Consolas"/>
                <a:sym typeface="Consolas"/>
              </a:rPr>
              <a:t>1</a:t>
            </a:r>
            <a:r>
              <a:rPr lang="en" sz="1271">
                <a:solidFill>
                  <a:schemeClr val="dk1"/>
                </a:solidFill>
                <a:highlight>
                  <a:srgbClr val="FFFFFF"/>
                </a:highlight>
                <a:latin typeface="Consolas"/>
                <a:ea typeface="Consolas"/>
                <a:cs typeface="Consolas"/>
                <a:sym typeface="Consolas"/>
              </a:rPr>
              <a:t> | </a:t>
            </a:r>
            <a:r>
              <a:rPr lang="en" sz="1271">
                <a:solidFill>
                  <a:srgbClr val="098658"/>
                </a:solidFill>
                <a:highlight>
                  <a:srgbClr val="FFFFFF"/>
                </a:highlight>
                <a:latin typeface="Consolas"/>
                <a:ea typeface="Consolas"/>
                <a:cs typeface="Consolas"/>
                <a:sym typeface="Consolas"/>
              </a:rPr>
              <a:t>255</a:t>
            </a:r>
            <a:r>
              <a:rPr lang="en" sz="1271">
                <a:solidFill>
                  <a:schemeClr val="dk1"/>
                </a:solidFill>
                <a:highlight>
                  <a:srgbClr val="FFFFFF"/>
                </a:highlight>
                <a:latin typeface="Consolas"/>
                <a:ea typeface="Consolas"/>
                <a:cs typeface="Consolas"/>
                <a:sym typeface="Consolas"/>
              </a:rPr>
              <a:t>&lt;&lt;</a:t>
            </a:r>
            <a:r>
              <a:rPr lang="en" sz="1271">
                <a:solidFill>
                  <a:srgbClr val="098658"/>
                </a:solidFill>
                <a:highlight>
                  <a:srgbClr val="FFFFFF"/>
                </a:highlight>
                <a:latin typeface="Consolas"/>
                <a:ea typeface="Consolas"/>
                <a:cs typeface="Consolas"/>
                <a:sym typeface="Consolas"/>
              </a:rPr>
              <a:t>16</a:t>
            </a:r>
            <a:r>
              <a:rPr lang="en" sz="1271">
                <a:solidFill>
                  <a:schemeClr val="dk1"/>
                </a:solidFill>
                <a:highlight>
                  <a:srgbClr val="FFFFFF"/>
                </a:highlight>
                <a:latin typeface="Consolas"/>
                <a:ea typeface="Consolas"/>
                <a:cs typeface="Consolas"/>
                <a:sym typeface="Consolas"/>
              </a:rPr>
              <a:t> |</a:t>
            </a:r>
            <a:r>
              <a:rPr lang="en" sz="1271">
                <a:solidFill>
                  <a:srgbClr val="098658"/>
                </a:solidFill>
                <a:highlight>
                  <a:srgbClr val="FFFFFF"/>
                </a:highlight>
                <a:latin typeface="Consolas"/>
                <a:ea typeface="Consolas"/>
                <a:cs typeface="Consolas"/>
                <a:sym typeface="Consolas"/>
              </a:rPr>
              <a:t>255</a:t>
            </a:r>
            <a:r>
              <a:rPr lang="en" sz="1271">
                <a:solidFill>
                  <a:schemeClr val="dk1"/>
                </a:solidFill>
                <a:highlight>
                  <a:srgbClr val="FFFFFF"/>
                </a:highlight>
                <a:latin typeface="Consolas"/>
                <a:ea typeface="Consolas"/>
                <a:cs typeface="Consolas"/>
                <a:sym typeface="Consolas"/>
              </a:rPr>
              <a:t>&lt;&lt;</a:t>
            </a:r>
            <a:r>
              <a:rPr lang="en" sz="1271">
                <a:solidFill>
                  <a:srgbClr val="098658"/>
                </a:solidFill>
                <a:highlight>
                  <a:srgbClr val="FFFFFF"/>
                </a:highlight>
                <a:latin typeface="Consolas"/>
                <a:ea typeface="Consolas"/>
                <a:cs typeface="Consolas"/>
                <a:sym typeface="Consolas"/>
              </a:rPr>
              <a:t>8</a:t>
            </a:r>
            <a:r>
              <a:rPr lang="en" sz="1271">
                <a:solidFill>
                  <a:schemeClr val="dk1"/>
                </a:solidFill>
                <a:highlight>
                  <a:srgbClr val="FFFFFF"/>
                </a:highlight>
                <a:latin typeface="Consolas"/>
                <a:ea typeface="Consolas"/>
                <a:cs typeface="Consolas"/>
                <a:sym typeface="Consolas"/>
              </a:rPr>
              <a:t>;</a:t>
            </a:r>
            <a:r>
              <a:rPr lang="en" sz="1271">
                <a:solidFill>
                  <a:srgbClr val="008000"/>
                </a:solidFill>
                <a:highlight>
                  <a:srgbClr val="FFFFFF"/>
                </a:highlight>
                <a:latin typeface="Consolas"/>
                <a:ea typeface="Consolas"/>
                <a:cs typeface="Consolas"/>
                <a:sym typeface="Consolas"/>
              </a:rPr>
              <a:t> /*a-r-g-b-0*/</a:t>
            </a:r>
            <a:endParaRPr sz="1271">
              <a:solidFill>
                <a:srgbClr val="008000"/>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74531F"/>
                </a:solidFill>
                <a:highlight>
                  <a:srgbClr val="FFFFFF"/>
                </a:highlight>
                <a:latin typeface="Consolas"/>
                <a:ea typeface="Consolas"/>
                <a:cs typeface="Consolas"/>
                <a:sym typeface="Consolas"/>
              </a:rPr>
              <a:t>rewind</a:t>
            </a:r>
            <a:r>
              <a:rPr lang="en" sz="1271">
                <a:solidFill>
                  <a:schemeClr val="dk1"/>
                </a:solidFill>
                <a:highlight>
                  <a:srgbClr val="FFFFFF"/>
                </a:highlight>
                <a:latin typeface="Consolas"/>
                <a:ea typeface="Consolas"/>
                <a:cs typeface="Consolas"/>
                <a:sym typeface="Consolas"/>
              </a:rPr>
              <a:t>(</a:t>
            </a:r>
            <a:r>
              <a:rPr lang="en" sz="1271">
                <a:solidFill>
                  <a:srgbClr val="808080"/>
                </a:solidFill>
                <a:highlight>
                  <a:srgbClr val="FFFFFF"/>
                </a:highlight>
                <a:latin typeface="Consolas"/>
                <a:ea typeface="Consolas"/>
                <a:cs typeface="Consolas"/>
                <a:sym typeface="Consolas"/>
              </a:rPr>
              <a:t>infile</a:t>
            </a:r>
            <a:r>
              <a:rPr lang="en" sz="1271">
                <a:solidFill>
                  <a:schemeClr val="dk1"/>
                </a:solidFill>
                <a:highlight>
                  <a:srgbClr val="FFFFFF"/>
                </a:highlight>
                <a:latin typeface="Consolas"/>
                <a:ea typeface="Consolas"/>
                <a:cs typeface="Consolas"/>
                <a:sym typeface="Consolas"/>
              </a:rPr>
              <a:t>);</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rgbClr val="008000"/>
                </a:solidFill>
                <a:highlight>
                  <a:srgbClr val="FFFFFF"/>
                </a:highlight>
                <a:latin typeface="Consolas"/>
                <a:ea typeface="Consolas"/>
                <a:cs typeface="Consolas"/>
                <a:sym typeface="Consolas"/>
              </a:rPr>
              <a:t>   </a:t>
            </a:r>
            <a:r>
              <a:rPr lang="en" sz="1271">
                <a:solidFill>
                  <a:srgbClr val="74531F"/>
                </a:solidFill>
                <a:highlight>
                  <a:srgbClr val="FFFFFF"/>
                </a:highlight>
                <a:latin typeface="Consolas"/>
                <a:ea typeface="Consolas"/>
                <a:cs typeface="Consolas"/>
                <a:sym typeface="Consolas"/>
              </a:rPr>
              <a:t>fseek</a:t>
            </a:r>
            <a:r>
              <a:rPr lang="en" sz="1271">
                <a:solidFill>
                  <a:schemeClr val="dk1"/>
                </a:solidFill>
                <a:highlight>
                  <a:srgbClr val="FFFFFF"/>
                </a:highlight>
                <a:latin typeface="Consolas"/>
                <a:ea typeface="Consolas"/>
                <a:cs typeface="Consolas"/>
                <a:sym typeface="Consolas"/>
              </a:rPr>
              <a:t>(</a:t>
            </a:r>
            <a:r>
              <a:rPr lang="en" sz="1271">
                <a:solidFill>
                  <a:srgbClr val="808080"/>
                </a:solidFill>
                <a:highlight>
                  <a:srgbClr val="FFFFFF"/>
                </a:highlight>
                <a:latin typeface="Consolas"/>
                <a:ea typeface="Consolas"/>
                <a:cs typeface="Consolas"/>
                <a:sym typeface="Consolas"/>
              </a:rPr>
              <a:t>infile</a:t>
            </a:r>
            <a:r>
              <a:rPr lang="en" sz="1271">
                <a:solidFill>
                  <a:schemeClr val="dk1"/>
                </a:solidFill>
                <a:highlight>
                  <a:srgbClr val="FFFFFF"/>
                </a:highlight>
                <a:latin typeface="Consolas"/>
                <a:ea typeface="Consolas"/>
                <a:cs typeface="Consolas"/>
                <a:sym typeface="Consolas"/>
              </a:rPr>
              <a:t>,</a:t>
            </a:r>
            <a:r>
              <a:rPr lang="en" sz="1271">
                <a:solidFill>
                  <a:srgbClr val="808080"/>
                </a:solidFill>
                <a:highlight>
                  <a:srgbClr val="FFFFFF"/>
                </a:highlight>
                <a:latin typeface="Consolas"/>
                <a:ea typeface="Consolas"/>
                <a:cs typeface="Consolas"/>
                <a:sym typeface="Consolas"/>
              </a:rPr>
              <a:t>offset</a:t>
            </a:r>
            <a:r>
              <a:rPr lang="en" sz="1271">
                <a:solidFill>
                  <a:schemeClr val="dk1"/>
                </a:solidFill>
                <a:highlight>
                  <a:srgbClr val="FFFFFF"/>
                </a:highlight>
                <a:latin typeface="Consolas"/>
                <a:ea typeface="Consolas"/>
                <a:cs typeface="Consolas"/>
                <a:sym typeface="Consolas"/>
              </a:rPr>
              <a:t>,</a:t>
            </a:r>
            <a:r>
              <a:rPr lang="en" sz="1271">
                <a:solidFill>
                  <a:srgbClr val="8A1BFF"/>
                </a:solidFill>
                <a:highlight>
                  <a:srgbClr val="FFFFFF"/>
                </a:highlight>
                <a:latin typeface="Consolas"/>
                <a:ea typeface="Consolas"/>
                <a:cs typeface="Consolas"/>
                <a:sym typeface="Consolas"/>
              </a:rPr>
              <a:t>SEEK_CUR</a:t>
            </a:r>
            <a:r>
              <a:rPr lang="en" sz="1271">
                <a:solidFill>
                  <a:schemeClr val="dk1"/>
                </a:solidFill>
                <a:highlight>
                  <a:srgbClr val="FFFFFF"/>
                </a:highlight>
                <a:latin typeface="Consolas"/>
                <a:ea typeface="Consolas"/>
                <a:cs typeface="Consolas"/>
                <a:sym typeface="Consolas"/>
              </a:rPr>
              <a:t>);</a:t>
            </a:r>
            <a:r>
              <a:rPr lang="en" sz="1271">
                <a:solidFill>
                  <a:srgbClr val="008000"/>
                </a:solidFill>
                <a:highlight>
                  <a:srgbClr val="FFFFFF"/>
                </a:highlight>
                <a:latin typeface="Consolas"/>
                <a:ea typeface="Consolas"/>
                <a:cs typeface="Consolas"/>
                <a:sym typeface="Consolas"/>
              </a:rPr>
              <a:t>/*go to image data*/</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8F08C4"/>
                </a:solidFill>
                <a:highlight>
                  <a:srgbClr val="FFFFFF"/>
                </a:highlight>
                <a:latin typeface="Consolas"/>
                <a:ea typeface="Consolas"/>
                <a:cs typeface="Consolas"/>
                <a:sym typeface="Consolas"/>
              </a:rPr>
              <a:t>for</a:t>
            </a:r>
            <a:r>
              <a:rPr lang="en" sz="1271">
                <a:solidFill>
                  <a:schemeClr val="dk1"/>
                </a:solidFill>
                <a:highlight>
                  <a:srgbClr val="FFFFFF"/>
                </a:highlight>
                <a:latin typeface="Consolas"/>
                <a:ea typeface="Consolas"/>
                <a:cs typeface="Consolas"/>
                <a:sym typeface="Consolas"/>
              </a:rPr>
              <a:t>(</a:t>
            </a:r>
            <a:r>
              <a:rPr lang="en" sz="1271">
                <a:solidFill>
                  <a:srgbClr val="0000FF"/>
                </a:solidFill>
                <a:highlight>
                  <a:srgbClr val="FFFFFF"/>
                </a:highlight>
                <a:latin typeface="Consolas"/>
                <a:ea typeface="Consolas"/>
                <a:cs typeface="Consolas"/>
                <a:sym typeface="Consolas"/>
              </a:rPr>
              <a:t>int</a:t>
            </a:r>
            <a:r>
              <a:rPr lang="en" sz="1271">
                <a:solidFill>
                  <a:schemeClr val="dk1"/>
                </a:solidFill>
                <a:highlight>
                  <a:srgbClr val="FFFFFF"/>
                </a:highlight>
                <a:latin typeface="Consolas"/>
                <a:ea typeface="Consolas"/>
                <a:cs typeface="Consolas"/>
                <a:sym typeface="Consolas"/>
              </a:rPr>
              <a:t> i = height; i &gt; </a:t>
            </a:r>
            <a:r>
              <a:rPr lang="en" sz="1271">
                <a:solidFill>
                  <a:srgbClr val="098658"/>
                </a:solidFill>
                <a:highlight>
                  <a:srgbClr val="FFFFFF"/>
                </a:highlight>
                <a:latin typeface="Consolas"/>
                <a:ea typeface="Consolas"/>
                <a:cs typeface="Consolas"/>
                <a:sym typeface="Consolas"/>
              </a:rPr>
              <a:t>0</a:t>
            </a:r>
            <a:r>
              <a:rPr lang="en" sz="1271">
                <a:solidFill>
                  <a:schemeClr val="dk1"/>
                </a:solidFill>
                <a:highlight>
                  <a:srgbClr val="FFFFFF"/>
                </a:highlight>
                <a:latin typeface="Consolas"/>
                <a:ea typeface="Consolas"/>
                <a:cs typeface="Consolas"/>
                <a:sym typeface="Consolas"/>
              </a:rPr>
              <a:t>; i--){</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8F08C4"/>
                </a:solidFill>
                <a:highlight>
                  <a:srgbClr val="FFFFFF"/>
                </a:highlight>
                <a:latin typeface="Consolas"/>
                <a:ea typeface="Consolas"/>
                <a:cs typeface="Consolas"/>
                <a:sym typeface="Consolas"/>
              </a:rPr>
              <a:t>for</a:t>
            </a:r>
            <a:r>
              <a:rPr lang="en" sz="1271">
                <a:solidFill>
                  <a:schemeClr val="dk1"/>
                </a:solidFill>
                <a:highlight>
                  <a:srgbClr val="FFFFFF"/>
                </a:highlight>
                <a:latin typeface="Consolas"/>
                <a:ea typeface="Consolas"/>
                <a:cs typeface="Consolas"/>
                <a:sym typeface="Consolas"/>
              </a:rPr>
              <a:t>(</a:t>
            </a:r>
            <a:r>
              <a:rPr lang="en" sz="1271">
                <a:solidFill>
                  <a:srgbClr val="0000FF"/>
                </a:solidFill>
                <a:highlight>
                  <a:srgbClr val="FFFFFF"/>
                </a:highlight>
                <a:latin typeface="Consolas"/>
                <a:ea typeface="Consolas"/>
                <a:cs typeface="Consolas"/>
                <a:sym typeface="Consolas"/>
              </a:rPr>
              <a:t>int</a:t>
            </a:r>
            <a:r>
              <a:rPr lang="en" sz="1271">
                <a:solidFill>
                  <a:schemeClr val="dk1"/>
                </a:solidFill>
                <a:highlight>
                  <a:srgbClr val="FFFFFF"/>
                </a:highlight>
                <a:latin typeface="Consolas"/>
                <a:ea typeface="Consolas"/>
                <a:cs typeface="Consolas"/>
                <a:sym typeface="Consolas"/>
              </a:rPr>
              <a:t> j = </a:t>
            </a:r>
            <a:r>
              <a:rPr lang="en" sz="1271">
                <a:solidFill>
                  <a:srgbClr val="098658"/>
                </a:solidFill>
                <a:highlight>
                  <a:srgbClr val="FFFFFF"/>
                </a:highlight>
                <a:latin typeface="Consolas"/>
                <a:ea typeface="Consolas"/>
                <a:cs typeface="Consolas"/>
                <a:sym typeface="Consolas"/>
              </a:rPr>
              <a:t>0</a:t>
            </a:r>
            <a:r>
              <a:rPr lang="en" sz="1271">
                <a:solidFill>
                  <a:schemeClr val="dk1"/>
                </a:solidFill>
                <a:highlight>
                  <a:srgbClr val="FFFFFF"/>
                </a:highlight>
                <a:latin typeface="Consolas"/>
                <a:ea typeface="Consolas"/>
                <a:cs typeface="Consolas"/>
                <a:sym typeface="Consolas"/>
              </a:rPr>
              <a:t>; j &lt; width; j++){</a:t>
            </a:r>
            <a:endParaRPr sz="1271">
              <a:solidFill>
                <a:schemeClr val="dk1"/>
              </a:solidFill>
              <a:highlight>
                <a:srgbClr val="FFFFFF"/>
              </a:highlight>
              <a:latin typeface="Consolas"/>
              <a:ea typeface="Consolas"/>
              <a:cs typeface="Consolas"/>
              <a:sym typeface="Consolas"/>
            </a:endParaRPr>
          </a:p>
          <a:p>
            <a:pPr indent="457200" lvl="0" marL="457200" rtl="0" algn="l">
              <a:lnSpc>
                <a:spcPct val="115714"/>
              </a:lnSpc>
              <a:spcBef>
                <a:spcPts val="0"/>
              </a:spcBef>
              <a:spcAft>
                <a:spcPts val="0"/>
              </a:spcAft>
              <a:buSzPts val="1018"/>
              <a:buNone/>
            </a:pPr>
            <a:r>
              <a:rPr lang="en" sz="1271">
                <a:solidFill>
                  <a:srgbClr val="008000"/>
                </a:solidFill>
                <a:highlight>
                  <a:srgbClr val="FFFFFF"/>
                </a:highlight>
                <a:latin typeface="Consolas"/>
                <a:ea typeface="Consolas"/>
                <a:cs typeface="Consolas"/>
                <a:sym typeface="Consolas"/>
              </a:rPr>
              <a:t>/*read a pixel (4byte)*/</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rgbClr val="008000"/>
                </a:solidFill>
                <a:highlight>
                  <a:srgbClr val="FFFFFF"/>
                </a:highlight>
                <a:latin typeface="Consolas"/>
                <a:ea typeface="Consolas"/>
                <a:cs typeface="Consolas"/>
                <a:sym typeface="Consolas"/>
              </a:rPr>
              <a:t>           </a:t>
            </a:r>
            <a:r>
              <a:rPr lang="en" sz="1271">
                <a:solidFill>
                  <a:srgbClr val="74531F"/>
                </a:solidFill>
                <a:highlight>
                  <a:srgbClr val="FFFFFF"/>
                </a:highlight>
                <a:latin typeface="Consolas"/>
                <a:ea typeface="Consolas"/>
                <a:cs typeface="Consolas"/>
                <a:sym typeface="Consolas"/>
              </a:rPr>
              <a:t>fread</a:t>
            </a:r>
            <a:r>
              <a:rPr lang="en" sz="1271">
                <a:solidFill>
                  <a:schemeClr val="dk1"/>
                </a:solidFill>
                <a:highlight>
                  <a:srgbClr val="FFFFFF"/>
                </a:highlight>
                <a:latin typeface="Consolas"/>
                <a:ea typeface="Consolas"/>
                <a:cs typeface="Consolas"/>
                <a:sym typeface="Consolas"/>
              </a:rPr>
              <a:t>(&amp;apixel, </a:t>
            </a:r>
            <a:r>
              <a:rPr lang="en" sz="1271">
                <a:solidFill>
                  <a:srgbClr val="098658"/>
                </a:solidFill>
                <a:highlight>
                  <a:srgbClr val="FFFFFF"/>
                </a:highlight>
                <a:latin typeface="Consolas"/>
                <a:ea typeface="Consolas"/>
                <a:cs typeface="Consolas"/>
                <a:sym typeface="Consolas"/>
              </a:rPr>
              <a:t>4</a:t>
            </a:r>
            <a:r>
              <a:rPr lang="en" sz="1271">
                <a:solidFill>
                  <a:schemeClr val="dk1"/>
                </a:solidFill>
                <a:highlight>
                  <a:srgbClr val="FFFFFF"/>
                </a:highlight>
                <a:latin typeface="Consolas"/>
                <a:ea typeface="Consolas"/>
                <a:cs typeface="Consolas"/>
                <a:sym typeface="Consolas"/>
              </a:rPr>
              <a:t>, </a:t>
            </a:r>
            <a:r>
              <a:rPr lang="en" sz="1271">
                <a:solidFill>
                  <a:srgbClr val="098658"/>
                </a:solidFill>
                <a:highlight>
                  <a:srgbClr val="FFFFFF"/>
                </a:highlight>
                <a:latin typeface="Consolas"/>
                <a:ea typeface="Consolas"/>
                <a:cs typeface="Consolas"/>
                <a:sym typeface="Consolas"/>
              </a:rPr>
              <a:t>1</a:t>
            </a:r>
            <a:r>
              <a:rPr lang="en" sz="1271">
                <a:solidFill>
                  <a:schemeClr val="dk1"/>
                </a:solidFill>
                <a:highlight>
                  <a:srgbClr val="FFFFFF"/>
                </a:highlight>
                <a:latin typeface="Consolas"/>
                <a:ea typeface="Consolas"/>
                <a:cs typeface="Consolas"/>
                <a:sym typeface="Consolas"/>
              </a:rPr>
              <a:t>, infile); </a:t>
            </a:r>
            <a:endParaRPr sz="1271">
              <a:solidFill>
                <a:srgbClr val="008000"/>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rgbClr val="008000"/>
                </a:solidFill>
                <a:highlight>
                  <a:srgbClr val="FFFFFF"/>
                </a:highlight>
                <a:latin typeface="Consolas"/>
                <a:ea typeface="Consolas"/>
                <a:cs typeface="Consolas"/>
                <a:sym typeface="Consolas"/>
              </a:rPr>
              <a:t>           /*write the pixel to outfile */</a:t>
            </a:r>
            <a:endParaRPr sz="1271">
              <a:solidFill>
                <a:srgbClr val="008000"/>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8F08C4"/>
                </a:solidFill>
                <a:highlight>
                  <a:srgbClr val="FFFFFF"/>
                </a:highlight>
                <a:latin typeface="Consolas"/>
                <a:ea typeface="Consolas"/>
                <a:cs typeface="Consolas"/>
                <a:sym typeface="Consolas"/>
              </a:rPr>
              <a:t>if</a:t>
            </a:r>
            <a:r>
              <a:rPr lang="en" sz="1271">
                <a:solidFill>
                  <a:schemeClr val="dk1"/>
                </a:solidFill>
                <a:highlight>
                  <a:srgbClr val="FFFFFF"/>
                </a:highlight>
                <a:latin typeface="Consolas"/>
                <a:ea typeface="Consolas"/>
                <a:cs typeface="Consolas"/>
                <a:sym typeface="Consolas"/>
              </a:rPr>
              <a:t>(j &lt; </a:t>
            </a:r>
            <a:r>
              <a:rPr lang="en" sz="1271">
                <a:solidFill>
                  <a:srgbClr val="098658"/>
                </a:solidFill>
                <a:highlight>
                  <a:srgbClr val="FFFFFF"/>
                </a:highlight>
                <a:latin typeface="Consolas"/>
                <a:ea typeface="Consolas"/>
                <a:cs typeface="Consolas"/>
                <a:sym typeface="Consolas"/>
              </a:rPr>
              <a:t>500</a:t>
            </a:r>
            <a:r>
              <a:rPr lang="en" sz="1271">
                <a:solidFill>
                  <a:schemeClr val="dk1"/>
                </a:solidFill>
                <a:highlight>
                  <a:srgbClr val="FFFFFF"/>
                </a:highlight>
                <a:latin typeface="Consolas"/>
                <a:ea typeface="Consolas"/>
                <a:cs typeface="Consolas"/>
                <a:sym typeface="Consolas"/>
              </a:rPr>
              <a:t> || i &lt; </a:t>
            </a:r>
            <a:r>
              <a:rPr lang="en" sz="1271">
                <a:solidFill>
                  <a:srgbClr val="098658"/>
                </a:solidFill>
                <a:highlight>
                  <a:srgbClr val="FFFFFF"/>
                </a:highlight>
                <a:latin typeface="Consolas"/>
                <a:ea typeface="Consolas"/>
                <a:cs typeface="Consolas"/>
                <a:sym typeface="Consolas"/>
              </a:rPr>
              <a:t>500</a:t>
            </a:r>
            <a:r>
              <a:rPr lang="en" sz="1271">
                <a:solidFill>
                  <a:schemeClr val="dk1"/>
                </a:solidFill>
                <a:highlight>
                  <a:srgbClr val="FFFFFF"/>
                </a:highlight>
                <a:latin typeface="Consolas"/>
                <a:ea typeface="Consolas"/>
                <a:cs typeface="Consolas"/>
                <a:sym typeface="Consolas"/>
              </a:rPr>
              <a:t> || i &gt; height-</a:t>
            </a:r>
            <a:r>
              <a:rPr lang="en" sz="1271">
                <a:solidFill>
                  <a:srgbClr val="098658"/>
                </a:solidFill>
                <a:highlight>
                  <a:srgbClr val="FFFFFF"/>
                </a:highlight>
                <a:latin typeface="Consolas"/>
                <a:ea typeface="Consolas"/>
                <a:cs typeface="Consolas"/>
                <a:sym typeface="Consolas"/>
              </a:rPr>
              <a:t>500</a:t>
            </a:r>
            <a:r>
              <a:rPr lang="en" sz="1271">
                <a:solidFill>
                  <a:schemeClr val="dk1"/>
                </a:solidFill>
                <a:highlight>
                  <a:srgbClr val="FFFFFF"/>
                </a:highlight>
                <a:latin typeface="Consolas"/>
                <a:ea typeface="Consolas"/>
                <a:cs typeface="Consolas"/>
                <a:sym typeface="Consolas"/>
              </a:rPr>
              <a:t> || j&gt; width-</a:t>
            </a:r>
            <a:r>
              <a:rPr lang="en" sz="1271">
                <a:solidFill>
                  <a:srgbClr val="098658"/>
                </a:solidFill>
                <a:highlight>
                  <a:srgbClr val="FFFFFF"/>
                </a:highlight>
                <a:latin typeface="Consolas"/>
                <a:ea typeface="Consolas"/>
                <a:cs typeface="Consolas"/>
                <a:sym typeface="Consolas"/>
              </a:rPr>
              <a:t>500</a:t>
            </a:r>
            <a:r>
              <a:rPr lang="en" sz="1271">
                <a:solidFill>
                  <a:schemeClr val="dk1"/>
                </a:solidFill>
                <a:highlight>
                  <a:srgbClr val="FFFFFF"/>
                </a:highlight>
                <a:latin typeface="Consolas"/>
                <a:ea typeface="Consolas"/>
                <a:cs typeface="Consolas"/>
                <a:sym typeface="Consolas"/>
              </a:rPr>
              <a:t>){</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74531F"/>
                </a:solidFill>
                <a:highlight>
                  <a:srgbClr val="FFFFFF"/>
                </a:highlight>
                <a:latin typeface="Consolas"/>
                <a:ea typeface="Consolas"/>
                <a:cs typeface="Consolas"/>
                <a:sym typeface="Consolas"/>
              </a:rPr>
              <a:t>fwrite</a:t>
            </a:r>
            <a:r>
              <a:rPr lang="en" sz="1271">
                <a:solidFill>
                  <a:schemeClr val="dk1"/>
                </a:solidFill>
                <a:highlight>
                  <a:srgbClr val="FFFFFF"/>
                </a:highlight>
                <a:latin typeface="Consolas"/>
                <a:ea typeface="Consolas"/>
                <a:cs typeface="Consolas"/>
                <a:sym typeface="Consolas"/>
              </a:rPr>
              <a:t>(&amp;FRAME_COLOR, </a:t>
            </a:r>
            <a:r>
              <a:rPr lang="en" sz="1271">
                <a:solidFill>
                  <a:srgbClr val="098658"/>
                </a:solidFill>
                <a:highlight>
                  <a:srgbClr val="FFFFFF"/>
                </a:highlight>
                <a:latin typeface="Consolas"/>
                <a:ea typeface="Consolas"/>
                <a:cs typeface="Consolas"/>
                <a:sym typeface="Consolas"/>
              </a:rPr>
              <a:t>4</a:t>
            </a:r>
            <a:r>
              <a:rPr lang="en" sz="1271">
                <a:solidFill>
                  <a:schemeClr val="dk1"/>
                </a:solidFill>
                <a:highlight>
                  <a:srgbClr val="FFFFFF"/>
                </a:highlight>
                <a:latin typeface="Consolas"/>
                <a:ea typeface="Consolas"/>
                <a:cs typeface="Consolas"/>
                <a:sym typeface="Consolas"/>
              </a:rPr>
              <a:t>, </a:t>
            </a:r>
            <a:r>
              <a:rPr lang="en" sz="1271">
                <a:solidFill>
                  <a:srgbClr val="098658"/>
                </a:solidFill>
                <a:highlight>
                  <a:srgbClr val="FFFFFF"/>
                </a:highlight>
                <a:latin typeface="Consolas"/>
                <a:ea typeface="Consolas"/>
                <a:cs typeface="Consolas"/>
                <a:sym typeface="Consolas"/>
              </a:rPr>
              <a:t>1</a:t>
            </a:r>
            <a:r>
              <a:rPr lang="en" sz="1271">
                <a:solidFill>
                  <a:schemeClr val="dk1"/>
                </a:solidFill>
                <a:highlight>
                  <a:srgbClr val="FFFFFF"/>
                </a:highlight>
                <a:latin typeface="Consolas"/>
                <a:ea typeface="Consolas"/>
                <a:cs typeface="Consolas"/>
                <a:sym typeface="Consolas"/>
              </a:rPr>
              <a:t>, outfile);</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8F08C4"/>
                </a:solidFill>
                <a:highlight>
                  <a:srgbClr val="FFFFFF"/>
                </a:highlight>
                <a:latin typeface="Consolas"/>
                <a:ea typeface="Consolas"/>
                <a:cs typeface="Consolas"/>
                <a:sym typeface="Consolas"/>
              </a:rPr>
              <a:t>else</a:t>
            </a:r>
            <a:r>
              <a:rPr lang="en" sz="1271">
                <a:solidFill>
                  <a:schemeClr val="dk1"/>
                </a:solidFill>
                <a:highlight>
                  <a:srgbClr val="FFFFFF"/>
                </a:highlight>
                <a:latin typeface="Consolas"/>
                <a:ea typeface="Consolas"/>
                <a:cs typeface="Consolas"/>
                <a:sym typeface="Consolas"/>
              </a:rPr>
              <a:t>{</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74531F"/>
                </a:solidFill>
                <a:highlight>
                  <a:srgbClr val="FFFFFF"/>
                </a:highlight>
                <a:latin typeface="Consolas"/>
                <a:ea typeface="Consolas"/>
                <a:cs typeface="Consolas"/>
                <a:sym typeface="Consolas"/>
              </a:rPr>
              <a:t>fwrite</a:t>
            </a:r>
            <a:r>
              <a:rPr lang="en" sz="1271">
                <a:solidFill>
                  <a:schemeClr val="dk1"/>
                </a:solidFill>
                <a:highlight>
                  <a:srgbClr val="FFFFFF"/>
                </a:highlight>
                <a:latin typeface="Consolas"/>
                <a:ea typeface="Consolas"/>
                <a:cs typeface="Consolas"/>
                <a:sym typeface="Consolas"/>
              </a:rPr>
              <a:t>(&amp;apixel,</a:t>
            </a:r>
            <a:r>
              <a:rPr lang="en" sz="1271">
                <a:solidFill>
                  <a:srgbClr val="098658"/>
                </a:solidFill>
                <a:highlight>
                  <a:srgbClr val="FFFFFF"/>
                </a:highlight>
                <a:latin typeface="Consolas"/>
                <a:ea typeface="Consolas"/>
                <a:cs typeface="Consolas"/>
                <a:sym typeface="Consolas"/>
              </a:rPr>
              <a:t>4</a:t>
            </a:r>
            <a:r>
              <a:rPr lang="en" sz="1271">
                <a:solidFill>
                  <a:schemeClr val="dk1"/>
                </a:solidFill>
                <a:highlight>
                  <a:srgbClr val="FFFFFF"/>
                </a:highlight>
                <a:latin typeface="Consolas"/>
                <a:ea typeface="Consolas"/>
                <a:cs typeface="Consolas"/>
                <a:sym typeface="Consolas"/>
              </a:rPr>
              <a:t>,</a:t>
            </a:r>
            <a:r>
              <a:rPr lang="en" sz="1271">
                <a:solidFill>
                  <a:srgbClr val="098658"/>
                </a:solidFill>
                <a:highlight>
                  <a:srgbClr val="FFFFFF"/>
                </a:highlight>
                <a:latin typeface="Consolas"/>
                <a:ea typeface="Consolas"/>
                <a:cs typeface="Consolas"/>
                <a:sym typeface="Consolas"/>
              </a:rPr>
              <a:t>1</a:t>
            </a:r>
            <a:r>
              <a:rPr lang="en" sz="1271">
                <a:solidFill>
                  <a:schemeClr val="dk1"/>
                </a:solidFill>
                <a:highlight>
                  <a:srgbClr val="FFFFFF"/>
                </a:highlight>
                <a:latin typeface="Consolas"/>
                <a:ea typeface="Consolas"/>
                <a:cs typeface="Consolas"/>
                <a:sym typeface="Consolas"/>
              </a:rPr>
              <a:t>, outfile);</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endParaRPr sz="1271">
              <a:solidFill>
                <a:srgbClr val="2B91AF"/>
              </a:solidFill>
              <a:highlight>
                <a:srgbClr val="FFFFFF"/>
              </a:highlight>
              <a:latin typeface="Courier New"/>
              <a:ea typeface="Courier New"/>
              <a:cs typeface="Courier New"/>
              <a:sym typeface="Courier New"/>
            </a:endParaRPr>
          </a:p>
        </p:txBody>
      </p:sp>
      <p:sp>
        <p:nvSpPr>
          <p:cNvPr id="514" name="Google Shape;514;p74"/>
          <p:cNvSpPr txBox="1"/>
          <p:nvPr/>
        </p:nvSpPr>
        <p:spPr>
          <a:xfrm>
            <a:off x="6382525" y="1541525"/>
            <a:ext cx="19446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BGRX, the storage in bmp file</a:t>
            </a:r>
            <a:endParaRPr sz="1800">
              <a:solidFill>
                <a:schemeClr val="dk2"/>
              </a:solidFill>
            </a:endParaRPr>
          </a:p>
          <a:p>
            <a:pPr indent="0" lvl="0" marL="0" rtl="0" algn="l">
              <a:spcBef>
                <a:spcPts val="0"/>
              </a:spcBef>
              <a:spcAft>
                <a:spcPts val="0"/>
              </a:spcAft>
              <a:buNone/>
            </a:pPr>
            <a:r>
              <a:rPr lang="en" sz="1800" u="sng">
                <a:solidFill>
                  <a:schemeClr val="hlink"/>
                </a:solidFill>
                <a:hlinkClick r:id="rId3"/>
              </a:rPr>
              <a:t>https://en.wikipedia.org/wiki/BMP_file_format#Pixel_storage</a:t>
            </a:r>
            <a:r>
              <a:rPr lang="en" sz="1800">
                <a:solidFill>
                  <a:schemeClr val="dk2"/>
                </a:solidFill>
              </a:rPr>
              <a:t> </a:t>
            </a:r>
            <a:endParaRPr sz="1800">
              <a:solidFill>
                <a:schemeClr val="dk2"/>
              </a:solidFill>
            </a:endParaRPr>
          </a:p>
        </p:txBody>
      </p:sp>
      <p:cxnSp>
        <p:nvCxnSpPr>
          <p:cNvPr id="515" name="Google Shape;515;p74"/>
          <p:cNvCxnSpPr>
            <a:endCxn id="514" idx="1"/>
          </p:cNvCxnSpPr>
          <p:nvPr/>
        </p:nvCxnSpPr>
        <p:spPr>
          <a:xfrm flipH="1" rot="10800000">
            <a:off x="3628225" y="2603525"/>
            <a:ext cx="2754300" cy="41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5"/>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Struct for 32-bit pixel data</a:t>
            </a:r>
            <a:endParaRPr/>
          </a:p>
        </p:txBody>
      </p:sp>
      <p:sp>
        <p:nvSpPr>
          <p:cNvPr id="521" name="Google Shape;521;p75"/>
          <p:cNvSpPr txBox="1"/>
          <p:nvPr>
            <p:ph idx="1" type="body"/>
          </p:nvPr>
        </p:nvSpPr>
        <p:spPr>
          <a:xfrm>
            <a:off x="127775" y="571500"/>
            <a:ext cx="8863800" cy="1470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1976"/>
              <a:buChar char="●"/>
            </a:pPr>
            <a:r>
              <a:rPr lang="en"/>
              <a:t>Image data is little endian! </a:t>
            </a:r>
            <a:endParaRPr/>
          </a:p>
          <a:p>
            <a:pPr indent="-312928" lvl="1" marL="548640" rtl="0" algn="l">
              <a:spcBef>
                <a:spcPts val="0"/>
              </a:spcBef>
              <a:spcAft>
                <a:spcPts val="0"/>
              </a:spcAft>
              <a:buSzPts val="1976"/>
              <a:buChar char="○"/>
            </a:pPr>
            <a:r>
              <a:rPr lang="en"/>
              <a:t>Rgba in reverse order</a:t>
            </a:r>
            <a:endParaRPr/>
          </a:p>
          <a:p>
            <a:pPr indent="0" lvl="0" marL="548640" rtl="0" algn="l">
              <a:spcBef>
                <a:spcPts val="0"/>
              </a:spcBef>
              <a:spcAft>
                <a:spcPts val="0"/>
              </a:spcAft>
              <a:buNone/>
            </a:pPr>
            <a:r>
              <a:t/>
            </a:r>
            <a:endParaRPr/>
          </a:p>
          <a:p>
            <a:pPr indent="0" lvl="0" marL="0" rtl="0" algn="l">
              <a:spcBef>
                <a:spcPts val="600"/>
              </a:spcBef>
              <a:spcAft>
                <a:spcPts val="1600"/>
              </a:spcAft>
              <a:buNone/>
            </a:pPr>
            <a:r>
              <a:t/>
            </a:r>
            <a:endParaRPr/>
          </a:p>
        </p:txBody>
      </p:sp>
      <p:sp>
        <p:nvSpPr>
          <p:cNvPr id="522" name="Google Shape;522;p75"/>
          <p:cNvSpPr/>
          <p:nvPr/>
        </p:nvSpPr>
        <p:spPr>
          <a:xfrm>
            <a:off x="4858450" y="2002100"/>
            <a:ext cx="3828300" cy="199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800">
                <a:solidFill>
                  <a:srgbClr val="7F0055"/>
                </a:solidFill>
                <a:latin typeface="Consolas"/>
                <a:ea typeface="Consolas"/>
                <a:cs typeface="Consolas"/>
                <a:sym typeface="Consolas"/>
              </a:rPr>
              <a:t>struct</a:t>
            </a:r>
            <a:r>
              <a:rPr b="1" lang="en" sz="1800">
                <a:solidFill>
                  <a:srgbClr val="000000"/>
                </a:solidFill>
                <a:latin typeface="Consolas"/>
                <a:ea typeface="Consolas"/>
                <a:cs typeface="Consolas"/>
                <a:sym typeface="Consolas"/>
              </a:rPr>
              <a:t> pixel{</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uint</a:t>
            </a:r>
            <a:r>
              <a:rPr b="1" lang="en" sz="1800">
                <a:solidFill>
                  <a:srgbClr val="000000"/>
                </a:solidFill>
                <a:latin typeface="Consolas"/>
                <a:ea typeface="Consolas"/>
                <a:cs typeface="Consolas"/>
                <a:sym typeface="Consolas"/>
              </a:rPr>
              <a:t>8</a:t>
            </a:r>
            <a:r>
              <a:rPr lang="en" sz="1800">
                <a:solidFill>
                  <a:srgbClr val="000000"/>
                </a:solidFill>
                <a:latin typeface="Consolas"/>
                <a:ea typeface="Consolas"/>
                <a:cs typeface="Consolas"/>
                <a:sym typeface="Consolas"/>
              </a:rPr>
              <a:t>_t </a:t>
            </a:r>
            <a:r>
              <a:rPr lang="en" sz="1800">
                <a:latin typeface="Consolas"/>
                <a:ea typeface="Consolas"/>
                <a:cs typeface="Consolas"/>
                <a:sym typeface="Consolas"/>
              </a:rPr>
              <a:t>b</a:t>
            </a:r>
            <a:r>
              <a:rPr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uint</a:t>
            </a:r>
            <a:r>
              <a:rPr b="1" lang="en" sz="1800">
                <a:solidFill>
                  <a:srgbClr val="000000"/>
                </a:solidFill>
                <a:latin typeface="Consolas"/>
                <a:ea typeface="Consolas"/>
                <a:cs typeface="Consolas"/>
                <a:sym typeface="Consolas"/>
              </a:rPr>
              <a:t>8</a:t>
            </a:r>
            <a:r>
              <a:rPr lang="en" sz="1800">
                <a:solidFill>
                  <a:srgbClr val="000000"/>
                </a:solidFill>
                <a:latin typeface="Consolas"/>
                <a:ea typeface="Consolas"/>
                <a:cs typeface="Consolas"/>
                <a:sym typeface="Consolas"/>
              </a:rPr>
              <a:t>_t </a:t>
            </a:r>
            <a:r>
              <a:rPr lang="en" sz="1800">
                <a:latin typeface="Consolas"/>
                <a:ea typeface="Consolas"/>
                <a:cs typeface="Consolas"/>
                <a:sym typeface="Consolas"/>
              </a:rPr>
              <a:t>g</a:t>
            </a:r>
            <a:r>
              <a:rPr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uint</a:t>
            </a:r>
            <a:r>
              <a:rPr b="1" lang="en" sz="1800">
                <a:solidFill>
                  <a:srgbClr val="000000"/>
                </a:solidFill>
                <a:latin typeface="Consolas"/>
                <a:ea typeface="Consolas"/>
                <a:cs typeface="Consolas"/>
                <a:sym typeface="Consolas"/>
              </a:rPr>
              <a:t>8</a:t>
            </a:r>
            <a:r>
              <a:rPr lang="en" sz="1800">
                <a:solidFill>
                  <a:srgbClr val="000000"/>
                </a:solidFill>
                <a:latin typeface="Consolas"/>
                <a:ea typeface="Consolas"/>
                <a:cs typeface="Consolas"/>
                <a:sym typeface="Consolas"/>
              </a:rPr>
              <a:t>_t </a:t>
            </a:r>
            <a:r>
              <a:rPr lang="en" sz="1800">
                <a:latin typeface="Consolas"/>
                <a:ea typeface="Consolas"/>
                <a:cs typeface="Consolas"/>
                <a:sym typeface="Consolas"/>
              </a:rPr>
              <a:t>r</a:t>
            </a:r>
            <a:r>
              <a:rPr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uint</a:t>
            </a:r>
            <a:r>
              <a:rPr b="1" lang="en" sz="1800">
                <a:solidFill>
                  <a:srgbClr val="000000"/>
                </a:solidFill>
                <a:latin typeface="Consolas"/>
                <a:ea typeface="Consolas"/>
                <a:cs typeface="Consolas"/>
                <a:sym typeface="Consolas"/>
              </a:rPr>
              <a:t>8</a:t>
            </a:r>
            <a:r>
              <a:rPr lang="en" sz="1800">
                <a:solidFill>
                  <a:srgbClr val="000000"/>
                </a:solidFill>
                <a:latin typeface="Consolas"/>
                <a:ea typeface="Consolas"/>
                <a:cs typeface="Consolas"/>
                <a:sym typeface="Consolas"/>
              </a:rPr>
              <a:t>_t </a:t>
            </a:r>
            <a:r>
              <a:rPr lang="en" sz="1800">
                <a:latin typeface="Consolas"/>
                <a:ea typeface="Consolas"/>
                <a:cs typeface="Consolas"/>
                <a:sym typeface="Consolas"/>
              </a:rPr>
              <a:t>a</a:t>
            </a:r>
            <a:r>
              <a:rPr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apixel;</a:t>
            </a:r>
            <a:endParaRPr sz="1800">
              <a:solidFill>
                <a:schemeClr val="dk1"/>
              </a:solidFill>
              <a:latin typeface="Gill Sans"/>
              <a:ea typeface="Gill Sans"/>
              <a:cs typeface="Gill Sans"/>
              <a:sym typeface="Gill Sans"/>
            </a:endParaRPr>
          </a:p>
        </p:txBody>
      </p:sp>
      <p:sp>
        <p:nvSpPr>
          <p:cNvPr id="523" name="Google Shape;523;p75"/>
          <p:cNvSpPr/>
          <p:nvPr/>
        </p:nvSpPr>
        <p:spPr>
          <a:xfrm>
            <a:off x="1040575" y="2203450"/>
            <a:ext cx="3230700" cy="182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800">
                <a:solidFill>
                  <a:srgbClr val="7F0055"/>
                </a:solidFill>
                <a:latin typeface="Consolas"/>
                <a:ea typeface="Consolas"/>
                <a:cs typeface="Consolas"/>
                <a:sym typeface="Consolas"/>
              </a:rPr>
              <a:t>struct</a:t>
            </a:r>
            <a:r>
              <a:rPr b="1" lang="en" sz="1800">
                <a:solidFill>
                  <a:srgbClr val="000000"/>
                </a:solidFill>
                <a:latin typeface="Consolas"/>
                <a:ea typeface="Consolas"/>
                <a:cs typeface="Consolas"/>
                <a:sym typeface="Consolas"/>
              </a:rPr>
              <a:t> pixel{</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char</a:t>
            </a:r>
            <a:r>
              <a:rPr b="1" lang="en" sz="1800">
                <a:solidFill>
                  <a:srgbClr val="000000"/>
                </a:solidFill>
                <a:latin typeface="Consolas"/>
                <a:ea typeface="Consolas"/>
                <a:cs typeface="Consolas"/>
                <a:sym typeface="Consolas"/>
              </a:rPr>
              <a:t> </a:t>
            </a:r>
            <a:r>
              <a:rPr b="1" lang="en" sz="1800">
                <a:latin typeface="Consolas"/>
                <a:ea typeface="Consolas"/>
                <a:cs typeface="Consolas"/>
                <a:sym typeface="Consolas"/>
              </a:rPr>
              <a:t>b</a:t>
            </a:r>
            <a:r>
              <a:rPr b="1"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char</a:t>
            </a:r>
            <a:r>
              <a:rPr b="1" lang="en" sz="1800">
                <a:solidFill>
                  <a:srgbClr val="000000"/>
                </a:solidFill>
                <a:latin typeface="Consolas"/>
                <a:ea typeface="Consolas"/>
                <a:cs typeface="Consolas"/>
                <a:sym typeface="Consolas"/>
              </a:rPr>
              <a:t> </a:t>
            </a:r>
            <a:r>
              <a:rPr b="1" lang="en" sz="1800">
                <a:latin typeface="Consolas"/>
                <a:ea typeface="Consolas"/>
                <a:cs typeface="Consolas"/>
                <a:sym typeface="Consolas"/>
              </a:rPr>
              <a:t>g</a:t>
            </a:r>
            <a:r>
              <a:rPr b="1"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char</a:t>
            </a:r>
            <a:r>
              <a:rPr b="1" lang="en" sz="1800">
                <a:solidFill>
                  <a:srgbClr val="000000"/>
                </a:solidFill>
                <a:latin typeface="Consolas"/>
                <a:ea typeface="Consolas"/>
                <a:cs typeface="Consolas"/>
                <a:sym typeface="Consolas"/>
              </a:rPr>
              <a:t> </a:t>
            </a:r>
            <a:r>
              <a:rPr b="1" lang="en" sz="1800">
                <a:latin typeface="Consolas"/>
                <a:ea typeface="Consolas"/>
                <a:cs typeface="Consolas"/>
                <a:sym typeface="Consolas"/>
              </a:rPr>
              <a:t>r</a:t>
            </a:r>
            <a:r>
              <a:rPr b="1"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char</a:t>
            </a:r>
            <a:r>
              <a:rPr b="1" lang="en" sz="1800">
                <a:solidFill>
                  <a:srgbClr val="000000"/>
                </a:solidFill>
                <a:latin typeface="Consolas"/>
                <a:ea typeface="Consolas"/>
                <a:cs typeface="Consolas"/>
                <a:sym typeface="Consolas"/>
              </a:rPr>
              <a:t> </a:t>
            </a:r>
            <a:r>
              <a:rPr b="1" lang="en" sz="1800">
                <a:latin typeface="Consolas"/>
                <a:ea typeface="Consolas"/>
                <a:cs typeface="Consolas"/>
                <a:sym typeface="Consolas"/>
              </a:rPr>
              <a:t>a</a:t>
            </a:r>
            <a:r>
              <a:rPr b="1"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apixel;</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76"/>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Bit fields</a:t>
            </a:r>
            <a:endParaRPr/>
          </a:p>
        </p:txBody>
      </p:sp>
      <p:sp>
        <p:nvSpPr>
          <p:cNvPr id="529" name="Google Shape;529;p76"/>
          <p:cNvSpPr txBox="1"/>
          <p:nvPr>
            <p:ph idx="1" type="body"/>
          </p:nvPr>
        </p:nvSpPr>
        <p:spPr>
          <a:xfrm>
            <a:off x="135700" y="571500"/>
            <a:ext cx="8856000" cy="4438800"/>
          </a:xfrm>
          <a:prstGeom prst="rect">
            <a:avLst/>
          </a:prstGeom>
          <a:noFill/>
          <a:ln>
            <a:noFill/>
          </a:ln>
        </p:spPr>
        <p:txBody>
          <a:bodyPr anchorCtr="0" anchor="t" bIns="45700" lIns="91425" spcFirstLastPara="1" rIns="91425" wrap="square" tIns="45700">
            <a:noAutofit/>
          </a:bodyPr>
          <a:lstStyle/>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0" lvl="0" marL="0" rtl="0" algn="l">
              <a:spcBef>
                <a:spcPts val="600"/>
              </a:spcBef>
              <a:spcAft>
                <a:spcPts val="0"/>
              </a:spcAft>
              <a:buNone/>
            </a:pPr>
            <a:r>
              <a:t/>
            </a:r>
            <a:endParaRPr/>
          </a:p>
          <a:p>
            <a:pPr indent="-315468" lvl="0" marL="457200" rtl="0" algn="l">
              <a:spcBef>
                <a:spcPts val="600"/>
              </a:spcBef>
              <a:spcAft>
                <a:spcPts val="0"/>
              </a:spcAft>
              <a:buSzPts val="1368"/>
              <a:buChar char="●"/>
            </a:pPr>
            <a:r>
              <a:rPr lang="en"/>
              <a:t>You cannot get the address of bitfields! </a:t>
            </a:r>
            <a:endParaRPr/>
          </a:p>
          <a:p>
            <a:pPr indent="-315468" lvl="1" marL="914400" rtl="0" algn="l">
              <a:spcBef>
                <a:spcPts val="0"/>
              </a:spcBef>
              <a:spcAft>
                <a:spcPts val="0"/>
              </a:spcAft>
              <a:buSzPts val="1368"/>
              <a:buChar char="○"/>
            </a:pPr>
            <a:r>
              <a:rPr b="1" lang="en" strike="sngStrike">
                <a:latin typeface="Consolas"/>
                <a:ea typeface="Consolas"/>
                <a:cs typeface="Consolas"/>
                <a:sym typeface="Consolas"/>
              </a:rPr>
              <a:t>&amp;apixel.b</a:t>
            </a:r>
            <a:endParaRPr b="1" strike="sngStrike">
              <a:latin typeface="Consolas"/>
              <a:ea typeface="Consolas"/>
              <a:cs typeface="Consolas"/>
              <a:sym typeface="Consolas"/>
            </a:endParaRPr>
          </a:p>
          <a:p>
            <a:pPr indent="-315468" lvl="0" marL="457200" rtl="0" algn="l">
              <a:spcBef>
                <a:spcPts val="0"/>
              </a:spcBef>
              <a:spcAft>
                <a:spcPts val="0"/>
              </a:spcAft>
              <a:buSzPts val="1368"/>
              <a:buChar char="●"/>
            </a:pPr>
            <a:r>
              <a:rPr lang="en"/>
              <a:t>Their order may change</a:t>
            </a:r>
            <a:endParaRPr/>
          </a:p>
          <a:p>
            <a:pPr indent="-315468" lvl="0" marL="457200" rtl="0" algn="l">
              <a:spcBef>
                <a:spcPts val="0"/>
              </a:spcBef>
              <a:spcAft>
                <a:spcPts val="0"/>
              </a:spcAft>
              <a:buSzPts val="1368"/>
              <a:buChar char="●"/>
            </a:pPr>
            <a:r>
              <a:rPr lang="en"/>
              <a:t>Be careful </a:t>
            </a:r>
            <a:r>
              <a:rPr lang="en"/>
              <a:t>whether</a:t>
            </a:r>
            <a:r>
              <a:rPr lang="en"/>
              <a:t> the machine is little or big endian! </a:t>
            </a:r>
            <a:endParaRPr/>
          </a:p>
        </p:txBody>
      </p:sp>
      <p:sp>
        <p:nvSpPr>
          <p:cNvPr id="530" name="Google Shape;530;p76"/>
          <p:cNvSpPr/>
          <p:nvPr/>
        </p:nvSpPr>
        <p:spPr>
          <a:xfrm>
            <a:off x="685800" y="1085850"/>
            <a:ext cx="4950600" cy="178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800">
                <a:solidFill>
                  <a:srgbClr val="7F0055"/>
                </a:solidFill>
                <a:latin typeface="Consolas"/>
                <a:ea typeface="Consolas"/>
                <a:cs typeface="Consolas"/>
                <a:sym typeface="Consolas"/>
              </a:rPr>
              <a:t>struct</a:t>
            </a:r>
            <a:r>
              <a:rPr b="1" lang="en" sz="1800">
                <a:solidFill>
                  <a:srgbClr val="000000"/>
                </a:solidFill>
                <a:latin typeface="Consolas"/>
                <a:ea typeface="Consolas"/>
                <a:cs typeface="Consolas"/>
                <a:sym typeface="Consolas"/>
              </a:rPr>
              <a:t> pixel{</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a:t>
            </a:r>
            <a:r>
              <a:rPr b="1" lang="en" sz="1800">
                <a:solidFill>
                  <a:srgbClr val="7F0055"/>
                </a:solidFill>
                <a:latin typeface="Consolas"/>
                <a:ea typeface="Consolas"/>
                <a:cs typeface="Consolas"/>
                <a:sym typeface="Consolas"/>
              </a:rPr>
              <a:t>nsigned int</a:t>
            </a:r>
            <a:r>
              <a:rPr b="1" lang="en" sz="1800">
                <a:latin typeface="Consolas"/>
                <a:ea typeface="Consolas"/>
                <a:cs typeface="Consolas"/>
                <a:sym typeface="Consolas"/>
              </a:rPr>
              <a:t> b</a:t>
            </a:r>
            <a:r>
              <a:rPr b="1" lang="en" sz="1800">
                <a:solidFill>
                  <a:srgbClr val="000000"/>
                </a:solidFill>
                <a:latin typeface="Consolas"/>
                <a:ea typeface="Consolas"/>
                <a:cs typeface="Consolas"/>
                <a:sym typeface="Consolas"/>
              </a:rPr>
              <a:t>:8;</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 </a:t>
            </a:r>
            <a:r>
              <a:rPr b="1" lang="en" sz="1800">
                <a:latin typeface="Consolas"/>
                <a:ea typeface="Consolas"/>
                <a:cs typeface="Consolas"/>
                <a:sym typeface="Consolas"/>
              </a:rPr>
              <a:t>g</a:t>
            </a:r>
            <a:r>
              <a:rPr b="1" lang="en" sz="1800">
                <a:solidFill>
                  <a:srgbClr val="000000"/>
                </a:solidFill>
                <a:latin typeface="Consolas"/>
                <a:ea typeface="Consolas"/>
                <a:cs typeface="Consolas"/>
                <a:sym typeface="Consolas"/>
              </a:rPr>
              <a:t>:8;</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 </a:t>
            </a:r>
            <a:r>
              <a:rPr b="1" lang="en" sz="1800">
                <a:latin typeface="Consolas"/>
                <a:ea typeface="Consolas"/>
                <a:cs typeface="Consolas"/>
                <a:sym typeface="Consolas"/>
              </a:rPr>
              <a:t>r</a:t>
            </a:r>
            <a:r>
              <a:rPr b="1" lang="en" sz="1800">
                <a:solidFill>
                  <a:srgbClr val="000000"/>
                </a:solidFill>
                <a:latin typeface="Consolas"/>
                <a:ea typeface="Consolas"/>
                <a:cs typeface="Consolas"/>
                <a:sym typeface="Consolas"/>
              </a:rPr>
              <a:t>:8;</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 </a:t>
            </a:r>
            <a:r>
              <a:rPr b="1" lang="en" sz="1800">
                <a:latin typeface="Consolas"/>
                <a:ea typeface="Consolas"/>
                <a:cs typeface="Consolas"/>
                <a:sym typeface="Consolas"/>
              </a:rPr>
              <a:t>a</a:t>
            </a:r>
            <a:r>
              <a:rPr b="1" lang="en" sz="1800">
                <a:solidFill>
                  <a:srgbClr val="000000"/>
                </a:solidFill>
                <a:latin typeface="Consolas"/>
                <a:ea typeface="Consolas"/>
                <a:cs typeface="Consolas"/>
                <a:sym typeface="Consolas"/>
              </a:rPr>
              <a:t>:8;</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apixel;</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77"/>
          <p:cNvSpPr txBox="1"/>
          <p:nvPr>
            <p:ph type="title"/>
          </p:nvPr>
        </p:nvSpPr>
        <p:spPr>
          <a:xfrm>
            <a:off x="152400" y="276725"/>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Another example</a:t>
            </a:r>
            <a:endParaRPr/>
          </a:p>
        </p:txBody>
      </p:sp>
      <p:sp>
        <p:nvSpPr>
          <p:cNvPr id="536" name="Google Shape;536;p77"/>
          <p:cNvSpPr/>
          <p:nvPr/>
        </p:nvSpPr>
        <p:spPr>
          <a:xfrm>
            <a:off x="191275" y="756046"/>
            <a:ext cx="8800200" cy="377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800">
                <a:solidFill>
                  <a:srgbClr val="7F0055"/>
                </a:solidFill>
                <a:latin typeface="Consolas"/>
                <a:ea typeface="Consolas"/>
                <a:cs typeface="Consolas"/>
                <a:sym typeface="Consolas"/>
              </a:rPr>
              <a:t>struct</a:t>
            </a:r>
            <a:r>
              <a:rPr b="1" lang="en" sz="1800">
                <a:solidFill>
                  <a:srgbClr val="000000"/>
                </a:solidFill>
                <a:latin typeface="Consolas"/>
                <a:ea typeface="Consolas"/>
                <a:cs typeface="Consolas"/>
                <a:sym typeface="Consolas"/>
              </a:rPr>
              <a:t> </a:t>
            </a:r>
            <a:r>
              <a:rPr b="1" lang="en" sz="1800">
                <a:solidFill>
                  <a:srgbClr val="005032"/>
                </a:solidFill>
                <a:latin typeface="Consolas"/>
                <a:ea typeface="Consolas"/>
                <a:cs typeface="Consolas"/>
                <a:sym typeface="Consolas"/>
              </a:rPr>
              <a:t>page</a:t>
            </a:r>
            <a:r>
              <a:rPr b="1" lang="en" sz="1800">
                <a:solidFill>
                  <a:srgbClr val="000000"/>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pt_pres</a:t>
            </a:r>
            <a:r>
              <a:rPr b="1" lang="en" sz="1800">
                <a:solidFill>
                  <a:srgbClr val="000000"/>
                </a:solidFill>
                <a:latin typeface="Consolas"/>
                <a:ea typeface="Consolas"/>
                <a:cs typeface="Consolas"/>
                <a:sym typeface="Consolas"/>
              </a:rPr>
              <a:t>: 1;	</a:t>
            </a:r>
            <a:r>
              <a:rPr b="1" lang="en" sz="1800">
                <a:solidFill>
                  <a:srgbClr val="3F7F5F"/>
                </a:solidFill>
                <a:latin typeface="Consolas"/>
                <a:ea typeface="Consolas"/>
                <a:cs typeface="Consolas"/>
                <a:sym typeface="Consolas"/>
              </a:rPr>
              <a:t>/* page is present?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pt_write</a:t>
            </a:r>
            <a:r>
              <a:rPr b="1" lang="en" sz="1800">
                <a:solidFill>
                  <a:srgbClr val="000000"/>
                </a:solidFill>
                <a:latin typeface="Consolas"/>
                <a:ea typeface="Consolas"/>
                <a:cs typeface="Consolas"/>
                <a:sym typeface="Consolas"/>
              </a:rPr>
              <a:t> : 1;	</a:t>
            </a:r>
            <a:r>
              <a:rPr b="1" lang="en" sz="1800">
                <a:solidFill>
                  <a:srgbClr val="3F7F5F"/>
                </a:solidFill>
                <a:latin typeface="Consolas"/>
                <a:ea typeface="Consolas"/>
                <a:cs typeface="Consolas"/>
                <a:sym typeface="Consolas"/>
              </a:rPr>
              <a:t>/* page is writable?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pt_user</a:t>
            </a:r>
            <a:r>
              <a:rPr b="1" lang="en" sz="1800">
                <a:solidFill>
                  <a:srgbClr val="000000"/>
                </a:solidFill>
                <a:latin typeface="Consolas"/>
                <a:ea typeface="Consolas"/>
                <a:cs typeface="Consolas"/>
                <a:sym typeface="Consolas"/>
              </a:rPr>
              <a:t>: 1;	</a:t>
            </a:r>
            <a:r>
              <a:rPr b="1" lang="en" sz="1800">
                <a:solidFill>
                  <a:srgbClr val="3F7F5F"/>
                </a:solidFill>
                <a:latin typeface="Consolas"/>
                <a:ea typeface="Consolas"/>
                <a:cs typeface="Consolas"/>
                <a:sym typeface="Consolas"/>
              </a:rPr>
              <a:t>/* is use level protection?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pt_pwt</a:t>
            </a:r>
            <a:r>
              <a:rPr b="1" lang="en" sz="1800">
                <a:solidFill>
                  <a:srgbClr val="000000"/>
                </a:solidFill>
                <a:latin typeface="Consolas"/>
                <a:ea typeface="Consolas"/>
                <a:cs typeface="Consolas"/>
                <a:sym typeface="Consolas"/>
              </a:rPr>
              <a:t>: 1;	</a:t>
            </a:r>
            <a:r>
              <a:rPr b="1" lang="en" sz="1800">
                <a:solidFill>
                  <a:srgbClr val="3F7F5F"/>
                </a:solidFill>
                <a:latin typeface="Consolas"/>
                <a:ea typeface="Consolas"/>
                <a:cs typeface="Consolas"/>
                <a:sym typeface="Consolas"/>
              </a:rPr>
              <a:t>/* write through for this page? */</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pt_pcd</a:t>
            </a:r>
            <a:r>
              <a:rPr b="1" lang="en" sz="1800">
                <a:solidFill>
                  <a:srgbClr val="000000"/>
                </a:solidFill>
                <a:latin typeface="Consolas"/>
                <a:ea typeface="Consolas"/>
                <a:cs typeface="Consolas"/>
                <a:sym typeface="Consolas"/>
              </a:rPr>
              <a:t>: 1;	</a:t>
            </a:r>
            <a:r>
              <a:rPr b="1" lang="en" sz="1800">
                <a:solidFill>
                  <a:srgbClr val="3F7F5F"/>
                </a:solidFill>
                <a:latin typeface="Consolas"/>
                <a:ea typeface="Consolas"/>
                <a:cs typeface="Consolas"/>
                <a:sym typeface="Consolas"/>
              </a:rPr>
              <a:t>/* cache disable for this page? */</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pt_acc</a:t>
            </a:r>
            <a:r>
              <a:rPr b="1" lang="en" sz="1800">
                <a:solidFill>
                  <a:srgbClr val="000000"/>
                </a:solidFill>
                <a:latin typeface="Consolas"/>
                <a:ea typeface="Consolas"/>
                <a:cs typeface="Consolas"/>
                <a:sym typeface="Consolas"/>
              </a:rPr>
              <a:t>: 1;	</a:t>
            </a:r>
            <a:r>
              <a:rPr b="1" lang="en" sz="1800">
                <a:solidFill>
                  <a:srgbClr val="3F7F5F"/>
                </a:solidFill>
                <a:latin typeface="Consolas"/>
                <a:ea typeface="Consolas"/>
                <a:cs typeface="Consolas"/>
                <a:sym typeface="Consolas"/>
              </a:rPr>
              <a:t>/* page was accessed?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pt_dirty</a:t>
            </a:r>
            <a:r>
              <a:rPr b="1" lang="en" sz="1800">
                <a:solidFill>
                  <a:srgbClr val="000000"/>
                </a:solidFill>
                <a:latin typeface="Consolas"/>
                <a:ea typeface="Consolas"/>
                <a:cs typeface="Consolas"/>
                <a:sym typeface="Consolas"/>
              </a:rPr>
              <a:t> : 1;	</a:t>
            </a:r>
            <a:r>
              <a:rPr b="1" lang="en" sz="1800">
                <a:solidFill>
                  <a:srgbClr val="3F7F5F"/>
                </a:solidFill>
                <a:latin typeface="Consolas"/>
                <a:ea typeface="Consolas"/>
                <a:cs typeface="Consolas"/>
                <a:sym typeface="Consolas"/>
              </a:rPr>
              <a:t>/* page was written?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pt_mbz</a:t>
            </a:r>
            <a:r>
              <a:rPr b="1" lang="en" sz="1800">
                <a:solidFill>
                  <a:srgbClr val="000000"/>
                </a:solidFill>
                <a:latin typeface="Consolas"/>
                <a:ea typeface="Consolas"/>
                <a:cs typeface="Consolas"/>
                <a:sym typeface="Consolas"/>
              </a:rPr>
              <a:t>: 1;	</a:t>
            </a:r>
            <a:r>
              <a:rPr b="1" lang="en" sz="1800">
                <a:solidFill>
                  <a:srgbClr val="3F7F5F"/>
                </a:solidFill>
                <a:latin typeface="Consolas"/>
                <a:ea typeface="Consolas"/>
                <a:cs typeface="Consolas"/>
                <a:sym typeface="Consolas"/>
              </a:rPr>
              <a:t>/* must be zero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pt_global</a:t>
            </a:r>
            <a:r>
              <a:rPr b="1" lang="en" sz="1800">
                <a:solidFill>
                  <a:srgbClr val="000000"/>
                </a:solidFill>
                <a:latin typeface="Consolas"/>
                <a:ea typeface="Consolas"/>
                <a:cs typeface="Consolas"/>
                <a:sym typeface="Consolas"/>
              </a:rPr>
              <a:t>: 1;	</a:t>
            </a:r>
            <a:r>
              <a:rPr b="1" lang="en" sz="1800">
                <a:solidFill>
                  <a:srgbClr val="3F7F5F"/>
                </a:solidFill>
                <a:latin typeface="Consolas"/>
                <a:ea typeface="Consolas"/>
                <a:cs typeface="Consolas"/>
                <a:sym typeface="Consolas"/>
              </a:rPr>
              <a:t>/* should be zero in 586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pt_avail</a:t>
            </a:r>
            <a:r>
              <a:rPr b="1" lang="en" sz="1800">
                <a:solidFill>
                  <a:srgbClr val="000000"/>
                </a:solidFill>
                <a:latin typeface="Consolas"/>
                <a:ea typeface="Consolas"/>
                <a:cs typeface="Consolas"/>
                <a:sym typeface="Consolas"/>
              </a:rPr>
              <a:t> : 3;	</a:t>
            </a:r>
            <a:r>
              <a:rPr b="1" lang="en" sz="1800">
                <a:solidFill>
                  <a:srgbClr val="3F7F5F"/>
                </a:solidFill>
                <a:latin typeface="Consolas"/>
                <a:ea typeface="Consolas"/>
                <a:cs typeface="Consolas"/>
                <a:sym typeface="Consolas"/>
              </a:rPr>
              <a:t>/* for programmer's use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pt_base</a:t>
            </a:r>
            <a:r>
              <a:rPr b="1" lang="en" sz="1800">
                <a:solidFill>
                  <a:srgbClr val="000000"/>
                </a:solidFill>
                <a:latin typeface="Consolas"/>
                <a:ea typeface="Consolas"/>
                <a:cs typeface="Consolas"/>
                <a:sym typeface="Consolas"/>
              </a:rPr>
              <a:t>: 20;	</a:t>
            </a:r>
            <a:r>
              <a:rPr b="1" lang="en" sz="1800">
                <a:solidFill>
                  <a:srgbClr val="3F7F5F"/>
                </a:solidFill>
                <a:latin typeface="Consolas"/>
                <a:ea typeface="Consolas"/>
                <a:cs typeface="Consolas"/>
                <a:sym typeface="Consolas"/>
              </a:rPr>
              <a:t>/* location of page?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pt_t;</a:t>
            </a:r>
            <a:endParaRPr/>
          </a:p>
        </p:txBody>
      </p:sp>
      <p:sp>
        <p:nvSpPr>
          <p:cNvPr id="537" name="Google Shape;537;p77"/>
          <p:cNvSpPr txBox="1"/>
          <p:nvPr>
            <p:ph idx="11" type="ftr"/>
          </p:nvPr>
        </p:nvSpPr>
        <p:spPr>
          <a:xfrm>
            <a:off x="2898648" y="4767263"/>
            <a:ext cx="3505200" cy="274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
              <a:t>taken from XINU OS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78"/>
          <p:cNvSpPr txBox="1"/>
          <p:nvPr>
            <p:ph type="title"/>
          </p:nvPr>
        </p:nvSpPr>
        <p:spPr>
          <a:xfrm>
            <a:off x="6154725" y="160325"/>
            <a:ext cx="2845500" cy="457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
              <a:t>Example use</a:t>
            </a:r>
            <a:endParaRPr/>
          </a:p>
        </p:txBody>
      </p:sp>
      <p:sp>
        <p:nvSpPr>
          <p:cNvPr id="543" name="Google Shape;543;p78"/>
          <p:cNvSpPr txBox="1"/>
          <p:nvPr/>
        </p:nvSpPr>
        <p:spPr>
          <a:xfrm>
            <a:off x="143275" y="57150"/>
            <a:ext cx="6858300" cy="5077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union</a:t>
            </a: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page</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uint32_t</a:t>
            </a:r>
            <a:r>
              <a:rPr b="1" lang="en" sz="1250">
                <a:solidFill>
                  <a:schemeClr val="dk1"/>
                </a:solidFill>
                <a:highlight>
                  <a:srgbClr val="FFFFFF"/>
                </a:highlight>
                <a:latin typeface="Consolas"/>
                <a:ea typeface="Consolas"/>
                <a:cs typeface="Consolas"/>
                <a:sym typeface="Consolas"/>
              </a:rPr>
              <a:t> all;</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struct</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pt_pres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page is present?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pt_write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page is writable?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pt_user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is use level protection?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pt_pwt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write through for this page?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pt_pcd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cache disable for this page?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pt_acc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page was accessed?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pt_dirty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page was written?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pt_mbz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must be zero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pt_global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should be zero in 586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pt_avail : </a:t>
            </a:r>
            <a:r>
              <a:rPr b="1" lang="en" sz="1250">
                <a:solidFill>
                  <a:srgbClr val="098658"/>
                </a:solidFill>
                <a:highlight>
                  <a:srgbClr val="FFFFFF"/>
                </a:highlight>
                <a:latin typeface="Consolas"/>
                <a:ea typeface="Consolas"/>
                <a:cs typeface="Consolas"/>
                <a:sym typeface="Consolas"/>
              </a:rPr>
              <a:t>3</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for programmer's use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pt_base : </a:t>
            </a:r>
            <a:r>
              <a:rPr b="1" lang="en" sz="1250">
                <a:solidFill>
                  <a:srgbClr val="098658"/>
                </a:solidFill>
                <a:highlight>
                  <a:srgbClr val="FFFFFF"/>
                </a:highlight>
                <a:latin typeface="Consolas"/>
                <a:ea typeface="Consolas"/>
                <a:cs typeface="Consolas"/>
                <a:sym typeface="Consolas"/>
              </a:rPr>
              <a:t>20</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location of page?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 </a:t>
            </a:r>
            <a:r>
              <a:rPr b="1" lang="en" sz="1250">
                <a:solidFill>
                  <a:srgbClr val="74531F"/>
                </a:solidFill>
                <a:highlight>
                  <a:srgbClr val="FFFFFF"/>
                </a:highlight>
                <a:latin typeface="Consolas"/>
                <a:ea typeface="Consolas"/>
                <a:cs typeface="Consolas"/>
                <a:sym typeface="Consolas"/>
              </a:rPr>
              <a:t>__attribute__</a:t>
            </a:r>
            <a:r>
              <a:rPr b="1" lang="en" sz="1250">
                <a:solidFill>
                  <a:schemeClr val="dk1"/>
                </a:solidFill>
                <a:highlight>
                  <a:srgbClr val="FFFFFF"/>
                </a:highlight>
                <a:latin typeface="Consolas"/>
                <a:ea typeface="Consolas"/>
                <a:cs typeface="Consolas"/>
                <a:sym typeface="Consolas"/>
              </a:rPr>
              <a:t>((packed)) page;</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 </a:t>
            </a:r>
            <a:r>
              <a:rPr b="1" lang="en" sz="1250">
                <a:solidFill>
                  <a:srgbClr val="74531F"/>
                </a:solidFill>
                <a:highlight>
                  <a:srgbClr val="FFFFFF"/>
                </a:highlight>
                <a:latin typeface="Consolas"/>
                <a:ea typeface="Consolas"/>
                <a:cs typeface="Consolas"/>
                <a:sym typeface="Consolas"/>
              </a:rPr>
              <a:t>__attribute__</a:t>
            </a:r>
            <a:r>
              <a:rPr b="1" lang="en" sz="1250">
                <a:solidFill>
                  <a:schemeClr val="dk1"/>
                </a:solidFill>
                <a:highlight>
                  <a:srgbClr val="FFFFFF"/>
                </a:highlight>
                <a:latin typeface="Consolas"/>
                <a:ea typeface="Consolas"/>
                <a:cs typeface="Consolas"/>
                <a:sym typeface="Consolas"/>
              </a:rPr>
              <a:t>((packed)) </a:t>
            </a:r>
            <a:r>
              <a:rPr b="1" lang="en" sz="1250">
                <a:solidFill>
                  <a:srgbClr val="1F377F"/>
                </a:solidFill>
                <a:highlight>
                  <a:srgbClr val="FFFFFF"/>
                </a:highlight>
                <a:latin typeface="Consolas"/>
                <a:ea typeface="Consolas"/>
                <a:cs typeface="Consolas"/>
                <a:sym typeface="Consolas"/>
              </a:rPr>
              <a:t>pt_t</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pt_t</a:t>
            </a:r>
            <a:r>
              <a:rPr b="1" lang="en" sz="1250">
                <a:solidFill>
                  <a:schemeClr val="dk1"/>
                </a:solidFill>
                <a:highlight>
                  <a:srgbClr val="FFFFFF"/>
                </a:highlight>
                <a:latin typeface="Consolas"/>
                <a:ea typeface="Consolas"/>
                <a:cs typeface="Consolas"/>
                <a:sym typeface="Consolas"/>
              </a:rPr>
              <a:t>.all = </a:t>
            </a:r>
            <a:r>
              <a:rPr b="1" lang="en" sz="1250">
                <a:solidFill>
                  <a:srgbClr val="098658"/>
                </a:solidFill>
                <a:highlight>
                  <a:srgbClr val="FFFFFF"/>
                </a:highlight>
                <a:latin typeface="Consolas"/>
                <a:ea typeface="Consolas"/>
                <a:cs typeface="Consolas"/>
                <a:sym typeface="Consolas"/>
              </a:rPr>
              <a:t>5</a:t>
            </a: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try 5 &lt;&lt; 9;</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printf</a:t>
            </a:r>
            <a:r>
              <a:rPr b="1" lang="en" sz="1250">
                <a:solidFill>
                  <a:schemeClr val="dk1"/>
                </a:solidFill>
                <a:highlight>
                  <a:srgbClr val="FFFFFF"/>
                </a:highlight>
                <a:latin typeface="Consolas"/>
                <a:ea typeface="Consolas"/>
                <a:cs typeface="Consolas"/>
                <a:sym typeface="Consolas"/>
              </a:rPr>
              <a:t>(</a:t>
            </a:r>
            <a:r>
              <a:rPr b="1" lang="en" sz="1250">
                <a:solidFill>
                  <a:srgbClr val="E21F1F"/>
                </a:solidFill>
                <a:highlight>
                  <a:srgbClr val="FFFFFF"/>
                </a:highlight>
                <a:latin typeface="Consolas"/>
                <a:ea typeface="Consolas"/>
                <a:cs typeface="Consolas"/>
                <a:sym typeface="Consolas"/>
              </a:rPr>
              <a:t>"</a:t>
            </a:r>
            <a:r>
              <a:rPr b="1" lang="en" sz="1250">
                <a:solidFill>
                  <a:srgbClr val="1F377F"/>
                </a:solidFill>
                <a:highlight>
                  <a:srgbClr val="FFFFFF"/>
                </a:highlight>
                <a:latin typeface="Consolas"/>
                <a:ea typeface="Consolas"/>
                <a:cs typeface="Consolas"/>
                <a:sym typeface="Consolas"/>
              </a:rPr>
              <a:t>%u</a:t>
            </a:r>
            <a:r>
              <a:rPr b="1" lang="en" sz="1250">
                <a:solidFill>
                  <a:srgbClr val="A31515"/>
                </a:solidFill>
                <a:highlight>
                  <a:srgbClr val="FFFFFF"/>
                </a:highlight>
                <a:latin typeface="Consolas"/>
                <a:ea typeface="Consolas"/>
                <a:cs typeface="Consolas"/>
                <a:sym typeface="Consolas"/>
              </a:rPr>
              <a:t>-</a:t>
            </a:r>
            <a:r>
              <a:rPr b="1" lang="en" sz="1250">
                <a:solidFill>
                  <a:srgbClr val="1F377F"/>
                </a:solidFill>
                <a:highlight>
                  <a:srgbClr val="FFFFFF"/>
                </a:highlight>
                <a:latin typeface="Consolas"/>
                <a:ea typeface="Consolas"/>
                <a:cs typeface="Consolas"/>
                <a:sym typeface="Consolas"/>
              </a:rPr>
              <a:t>%u</a:t>
            </a:r>
            <a:r>
              <a:rPr b="1" lang="en" sz="1250">
                <a:solidFill>
                  <a:srgbClr val="A31515"/>
                </a:solidFill>
                <a:highlight>
                  <a:srgbClr val="FFFFFF"/>
                </a:highlight>
                <a:latin typeface="Consolas"/>
                <a:ea typeface="Consolas"/>
                <a:cs typeface="Consolas"/>
                <a:sym typeface="Consolas"/>
              </a:rPr>
              <a:t>-</a:t>
            </a:r>
            <a:r>
              <a:rPr b="1" lang="en" sz="1250">
                <a:solidFill>
                  <a:srgbClr val="1F377F"/>
                </a:solidFill>
                <a:highlight>
                  <a:srgbClr val="FFFFFF"/>
                </a:highlight>
                <a:latin typeface="Consolas"/>
                <a:ea typeface="Consolas"/>
                <a:cs typeface="Consolas"/>
                <a:sym typeface="Consolas"/>
              </a:rPr>
              <a:t>%u</a:t>
            </a:r>
            <a:r>
              <a:rPr b="1" lang="en" sz="1250">
                <a:solidFill>
                  <a:srgbClr val="A31515"/>
                </a:solidFill>
                <a:highlight>
                  <a:srgbClr val="FFFFFF"/>
                </a:highlight>
                <a:latin typeface="Consolas"/>
                <a:ea typeface="Consolas"/>
                <a:cs typeface="Consolas"/>
                <a:sym typeface="Consolas"/>
              </a:rPr>
              <a:t>-</a:t>
            </a:r>
            <a:r>
              <a:rPr b="1" lang="en" sz="1250">
                <a:solidFill>
                  <a:srgbClr val="1F377F"/>
                </a:solidFill>
                <a:highlight>
                  <a:srgbClr val="FFFFFF"/>
                </a:highlight>
                <a:latin typeface="Consolas"/>
                <a:ea typeface="Consolas"/>
                <a:cs typeface="Consolas"/>
                <a:sym typeface="Consolas"/>
              </a:rPr>
              <a:t>%u</a:t>
            </a:r>
            <a:r>
              <a:rPr b="1" lang="en" sz="1250">
                <a:solidFill>
                  <a:srgbClr val="A31515"/>
                </a:solidFill>
                <a:highlight>
                  <a:srgbClr val="FFFFFF"/>
                </a:highlight>
                <a:latin typeface="Consolas"/>
                <a:ea typeface="Consolas"/>
                <a:cs typeface="Consolas"/>
                <a:sym typeface="Consolas"/>
              </a:rPr>
              <a:t> </a:t>
            </a:r>
            <a:r>
              <a:rPr b="1" lang="en" sz="1250">
                <a:solidFill>
                  <a:srgbClr val="B776FB"/>
                </a:solidFill>
                <a:highlight>
                  <a:srgbClr val="FFFFFF"/>
                </a:highlight>
                <a:latin typeface="Consolas"/>
                <a:ea typeface="Consolas"/>
                <a:cs typeface="Consolas"/>
                <a:sym typeface="Consolas"/>
              </a:rPr>
              <a:t>\n</a:t>
            </a:r>
            <a:r>
              <a:rPr b="1" lang="en" sz="1250">
                <a:solidFill>
                  <a:srgbClr val="E21F1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pt_t</a:t>
            </a:r>
            <a:r>
              <a:rPr b="1" lang="en" sz="1250">
                <a:solidFill>
                  <a:schemeClr val="dk1"/>
                </a:solidFill>
                <a:highlight>
                  <a:srgbClr val="FFFFFF"/>
                </a:highlight>
                <a:latin typeface="Consolas"/>
                <a:ea typeface="Consolas"/>
                <a:cs typeface="Consolas"/>
                <a:sym typeface="Consolas"/>
              </a:rPr>
              <a:t>.page.pt_pres, </a:t>
            </a:r>
            <a:r>
              <a:rPr b="1" lang="en" sz="1250">
                <a:solidFill>
                  <a:srgbClr val="1F377F"/>
                </a:solidFill>
                <a:highlight>
                  <a:srgbClr val="FFFFFF"/>
                </a:highlight>
                <a:latin typeface="Consolas"/>
                <a:ea typeface="Consolas"/>
                <a:cs typeface="Consolas"/>
                <a:sym typeface="Consolas"/>
              </a:rPr>
              <a:t>pt_t</a:t>
            </a:r>
            <a:r>
              <a:rPr b="1" lang="en" sz="1250">
                <a:solidFill>
                  <a:schemeClr val="dk1"/>
                </a:solidFill>
                <a:highlight>
                  <a:srgbClr val="FFFFFF"/>
                </a:highlight>
                <a:latin typeface="Consolas"/>
                <a:ea typeface="Consolas"/>
                <a:cs typeface="Consolas"/>
                <a:sym typeface="Consolas"/>
              </a:rPr>
              <a:t>.page.pt_write,</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pt_t</a:t>
            </a:r>
            <a:r>
              <a:rPr b="1" lang="en" sz="1250">
                <a:solidFill>
                  <a:schemeClr val="dk1"/>
                </a:solidFill>
                <a:highlight>
                  <a:srgbClr val="FFFFFF"/>
                </a:highlight>
                <a:latin typeface="Consolas"/>
                <a:ea typeface="Consolas"/>
                <a:cs typeface="Consolas"/>
                <a:sym typeface="Consolas"/>
              </a:rPr>
              <a:t>.page.pt_user, </a:t>
            </a:r>
            <a:r>
              <a:rPr b="1" lang="en" sz="1250">
                <a:solidFill>
                  <a:srgbClr val="1F377F"/>
                </a:solidFill>
                <a:highlight>
                  <a:srgbClr val="FFFFFF"/>
                </a:highlight>
                <a:latin typeface="Consolas"/>
                <a:ea typeface="Consolas"/>
                <a:cs typeface="Consolas"/>
                <a:sym typeface="Consolas"/>
              </a:rPr>
              <a:t>pt_t</a:t>
            </a:r>
            <a:r>
              <a:rPr b="1" lang="en" sz="1250">
                <a:solidFill>
                  <a:schemeClr val="dk1"/>
                </a:solidFill>
                <a:highlight>
                  <a:srgbClr val="FFFFFF"/>
                </a:highlight>
                <a:latin typeface="Consolas"/>
                <a:ea typeface="Consolas"/>
                <a:cs typeface="Consolas"/>
                <a:sym typeface="Consolas"/>
              </a:rPr>
              <a:t>.page.pt_avail);</a:t>
            </a:r>
            <a:endParaRPr b="1" sz="1250">
              <a:solidFill>
                <a:schemeClr val="dk1"/>
              </a:solidFill>
              <a:highlight>
                <a:srgbClr val="FFFFFF"/>
              </a:highlight>
              <a:latin typeface="Consolas"/>
              <a:ea typeface="Consolas"/>
              <a:cs typeface="Consolas"/>
              <a:sym typeface="Consolas"/>
            </a:endParaRPr>
          </a:p>
        </p:txBody>
      </p:sp>
      <p:sp>
        <p:nvSpPr>
          <p:cNvPr id="544" name="Google Shape;544;p78"/>
          <p:cNvSpPr txBox="1"/>
          <p:nvPr/>
        </p:nvSpPr>
        <p:spPr>
          <a:xfrm>
            <a:off x="6390450" y="4295825"/>
            <a:ext cx="2579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Most  machines are little endian.</a:t>
            </a:r>
            <a:endParaRPr sz="1800">
              <a:solidFill>
                <a:schemeClr val="dk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9"/>
          <p:cNvSpPr txBox="1"/>
          <p:nvPr/>
        </p:nvSpPr>
        <p:spPr>
          <a:xfrm>
            <a:off x="238125" y="650875"/>
            <a:ext cx="5001300" cy="2466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250">
                <a:solidFill>
                  <a:srgbClr val="0000FF"/>
                </a:solidFill>
                <a:highlight>
                  <a:srgbClr val="FFFFFF"/>
                </a:highlight>
                <a:latin typeface="Consolas"/>
                <a:ea typeface="Consolas"/>
                <a:cs typeface="Consolas"/>
                <a:sym typeface="Consolas"/>
              </a:rPr>
              <a:t>typedef</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union</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uint32_t</a:t>
            </a:r>
            <a:r>
              <a:rPr b="1" lang="en" sz="1250">
                <a:solidFill>
                  <a:schemeClr val="dk1"/>
                </a:solidFill>
                <a:highlight>
                  <a:srgbClr val="FFFFFF"/>
                </a:highlight>
                <a:latin typeface="Consolas"/>
                <a:ea typeface="Consolas"/>
                <a:cs typeface="Consolas"/>
                <a:sym typeface="Consolas"/>
              </a:rPr>
              <a:t> pixel;</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struct</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uint8_t</a:t>
            </a:r>
            <a:r>
              <a:rPr b="1" lang="en" sz="1250">
                <a:solidFill>
                  <a:schemeClr val="dk1"/>
                </a:solidFill>
                <a:highlight>
                  <a:srgbClr val="FFFFFF"/>
                </a:highlight>
                <a:latin typeface="Consolas"/>
                <a:ea typeface="Consolas"/>
                <a:cs typeface="Consolas"/>
                <a:sym typeface="Consolas"/>
              </a:rPr>
              <a:t> b;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uint8_t</a:t>
            </a:r>
            <a:r>
              <a:rPr b="1" lang="en" sz="1250">
                <a:solidFill>
                  <a:schemeClr val="dk1"/>
                </a:solidFill>
                <a:highlight>
                  <a:srgbClr val="FFFFFF"/>
                </a:highlight>
                <a:latin typeface="Consolas"/>
                <a:ea typeface="Consolas"/>
                <a:cs typeface="Consolas"/>
                <a:sym typeface="Consolas"/>
              </a:rPr>
              <a:t> g;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uint8_t</a:t>
            </a:r>
            <a:r>
              <a:rPr b="1" lang="en" sz="1250">
                <a:solidFill>
                  <a:schemeClr val="dk1"/>
                </a:solidFill>
                <a:highlight>
                  <a:srgbClr val="FFFFFF"/>
                </a:highlight>
                <a:latin typeface="Consolas"/>
                <a:ea typeface="Consolas"/>
                <a:cs typeface="Consolas"/>
                <a:sym typeface="Consolas"/>
              </a:rPr>
              <a:t> r;</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uint8_t</a:t>
            </a:r>
            <a:r>
              <a:rPr b="1" lang="en" sz="1250">
                <a:solidFill>
                  <a:schemeClr val="dk1"/>
                </a:solidFill>
                <a:highlight>
                  <a:srgbClr val="FFFFFF"/>
                </a:highlight>
                <a:latin typeface="Consolas"/>
                <a:ea typeface="Consolas"/>
                <a:cs typeface="Consolas"/>
                <a:sym typeface="Consolas"/>
              </a:rPr>
              <a:t> a;</a:t>
            </a:r>
            <a:r>
              <a:rPr b="1" lang="en" sz="1250">
                <a:solidFill>
                  <a:srgbClr val="008000"/>
                </a:solidFill>
                <a:highlight>
                  <a:srgbClr val="FFFFFF"/>
                </a:highlight>
                <a:latin typeface="Consolas"/>
                <a:ea typeface="Consolas"/>
                <a:cs typeface="Consolas"/>
                <a:sym typeface="Consolas"/>
              </a:rPr>
              <a:t>      /* a or x in argb, xrgb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__attribute__</a:t>
            </a:r>
            <a:r>
              <a:rPr b="1" lang="en" sz="1250">
                <a:solidFill>
                  <a:schemeClr val="dk1"/>
                </a:solidFill>
                <a:highlight>
                  <a:srgbClr val="FFFFFF"/>
                </a:highlight>
                <a:latin typeface="Consolas"/>
                <a:ea typeface="Consolas"/>
                <a:cs typeface="Consolas"/>
                <a:sym typeface="Consolas"/>
              </a:rPr>
              <a:t>((packed));</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Pixel</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p:txBody>
      </p:sp>
      <p:sp>
        <p:nvSpPr>
          <p:cNvPr id="550" name="Google Shape;550;p79"/>
          <p:cNvSpPr txBox="1"/>
          <p:nvPr/>
        </p:nvSpPr>
        <p:spPr>
          <a:xfrm>
            <a:off x="397625" y="3601075"/>
            <a:ext cx="8088300" cy="1277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a:solidFill>
                  <a:srgbClr val="2B91AF"/>
                </a:solidFill>
                <a:highlight>
                  <a:srgbClr val="FFFFFF"/>
                </a:highlight>
                <a:latin typeface="Consolas"/>
                <a:ea typeface="Consolas"/>
                <a:cs typeface="Consolas"/>
                <a:sym typeface="Consolas"/>
              </a:rPr>
              <a:t>Pixel</a:t>
            </a:r>
            <a:r>
              <a:rPr b="1" lang="en">
                <a:solidFill>
                  <a:schemeClr val="dk1"/>
                </a:solidFill>
                <a:highlight>
                  <a:srgbClr val="FFFFFF"/>
                </a:highlight>
                <a:latin typeface="Consolas"/>
                <a:ea typeface="Consolas"/>
                <a:cs typeface="Consolas"/>
                <a:sym typeface="Consolas"/>
              </a:rPr>
              <a:t> </a:t>
            </a:r>
            <a:r>
              <a:rPr b="1" lang="en">
                <a:solidFill>
                  <a:srgbClr val="1F377F"/>
                </a:solidFill>
                <a:highlight>
                  <a:srgbClr val="FFFFFF"/>
                </a:highlight>
                <a:latin typeface="Consolas"/>
                <a:ea typeface="Consolas"/>
                <a:cs typeface="Consolas"/>
                <a:sym typeface="Consolas"/>
              </a:rPr>
              <a:t>p</a:t>
            </a:r>
            <a:r>
              <a:rPr b="1" lang="en">
                <a:solidFill>
                  <a:schemeClr val="dk1"/>
                </a:solidFill>
                <a:highlight>
                  <a:srgbClr val="FFFFFF"/>
                </a:highlight>
                <a:latin typeface="Consolas"/>
                <a:ea typeface="Consolas"/>
                <a:cs typeface="Consolas"/>
                <a:sym typeface="Consolas"/>
              </a:rPr>
              <a:t>;</a:t>
            </a:r>
            <a:endParaRPr b="1">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a:solidFill>
                  <a:srgbClr val="1F377F"/>
                </a:solidFill>
                <a:highlight>
                  <a:srgbClr val="FFFFFF"/>
                </a:highlight>
                <a:latin typeface="Consolas"/>
                <a:ea typeface="Consolas"/>
                <a:cs typeface="Consolas"/>
                <a:sym typeface="Consolas"/>
              </a:rPr>
              <a:t>p</a:t>
            </a:r>
            <a:r>
              <a:rPr b="1" lang="en">
                <a:solidFill>
                  <a:schemeClr val="dk1"/>
                </a:solidFill>
                <a:highlight>
                  <a:srgbClr val="FFFFFF"/>
                </a:highlight>
                <a:latin typeface="Consolas"/>
                <a:ea typeface="Consolas"/>
                <a:cs typeface="Consolas"/>
                <a:sym typeface="Consolas"/>
              </a:rPr>
              <a:t>.pixel = </a:t>
            </a:r>
            <a:r>
              <a:rPr b="1" lang="en">
                <a:solidFill>
                  <a:srgbClr val="098658"/>
                </a:solidFill>
                <a:highlight>
                  <a:srgbClr val="FFFFFF"/>
                </a:highlight>
                <a:latin typeface="Consolas"/>
                <a:ea typeface="Consolas"/>
                <a:cs typeface="Consolas"/>
                <a:sym typeface="Consolas"/>
              </a:rPr>
              <a:t>0x12345678</a:t>
            </a:r>
            <a:r>
              <a:rPr b="1" lang="en">
                <a:solidFill>
                  <a:schemeClr val="dk1"/>
                </a:solidFill>
                <a:highlight>
                  <a:srgbClr val="FFFFFF"/>
                </a:highlight>
                <a:latin typeface="Consolas"/>
                <a:ea typeface="Consolas"/>
                <a:cs typeface="Consolas"/>
                <a:sym typeface="Consolas"/>
              </a:rPr>
              <a:t>;</a:t>
            </a:r>
            <a:endParaRPr b="1">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a:solidFill>
                  <a:srgbClr val="008000"/>
                </a:solidFill>
                <a:highlight>
                  <a:srgbClr val="FFFFFF"/>
                </a:highlight>
                <a:latin typeface="Consolas"/>
                <a:ea typeface="Consolas"/>
                <a:cs typeface="Consolas"/>
                <a:sym typeface="Consolas"/>
              </a:rPr>
              <a:t>/* integers in little endian: p.b = 78, p.g = 56, p.r = 34, p.a = 12 */</a:t>
            </a:r>
            <a:endParaRPr b="1">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a:solidFill>
                <a:schemeClr val="dk1"/>
              </a:solidFill>
              <a:highlight>
                <a:srgbClr val="FFFFFF"/>
              </a:highlight>
              <a:latin typeface="Consolas"/>
              <a:ea typeface="Consolas"/>
              <a:cs typeface="Consolas"/>
              <a:sym typeface="Consolas"/>
            </a:endParaRPr>
          </a:p>
        </p:txBody>
      </p:sp>
      <p:grpSp>
        <p:nvGrpSpPr>
          <p:cNvPr id="551" name="Google Shape;551;p79"/>
          <p:cNvGrpSpPr/>
          <p:nvPr/>
        </p:nvGrpSpPr>
        <p:grpSpPr>
          <a:xfrm>
            <a:off x="2159900" y="650875"/>
            <a:ext cx="6770700" cy="1471950"/>
            <a:chOff x="2159900" y="650875"/>
            <a:chExt cx="6770700" cy="1471950"/>
          </a:xfrm>
        </p:grpSpPr>
        <p:sp>
          <p:nvSpPr>
            <p:cNvPr id="552" name="Google Shape;552;p79"/>
            <p:cNvSpPr txBox="1"/>
            <p:nvPr/>
          </p:nvSpPr>
          <p:spPr>
            <a:xfrm>
              <a:off x="4357700" y="650875"/>
              <a:ext cx="4572900" cy="6117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08000"/>
                  </a:solidFill>
                  <a:highlight>
                    <a:srgbClr val="FFFFFF"/>
                  </a:highlight>
                  <a:latin typeface="Consolas"/>
                  <a:ea typeface="Consolas"/>
                  <a:cs typeface="Consolas"/>
                  <a:sym typeface="Consolas"/>
                </a:rPr>
                <a:t>/*similar to this*/</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rgbClr val="0000FF"/>
                  </a:solidFill>
                  <a:highlight>
                    <a:srgbClr val="FFFFFF"/>
                  </a:highlight>
                  <a:latin typeface="Consolas"/>
                  <a:ea typeface="Consolas"/>
                  <a:cs typeface="Consolas"/>
                  <a:sym typeface="Consolas"/>
                </a:rPr>
                <a:t>char</a:t>
              </a:r>
              <a:r>
                <a:rPr b="1" lang="en" sz="1350">
                  <a:solidFill>
                    <a:schemeClr val="dk1"/>
                  </a:solidFill>
                  <a:highlight>
                    <a:srgbClr val="FFFFFF"/>
                  </a:highlight>
                  <a:latin typeface="Consolas"/>
                  <a:ea typeface="Consolas"/>
                  <a:cs typeface="Consolas"/>
                  <a:sym typeface="Consolas"/>
                </a:rPr>
                <a:t> pixel</a:t>
              </a:r>
              <a:r>
                <a:rPr b="1" lang="en" sz="1350">
                  <a:solidFill>
                    <a:srgbClr val="0000FF"/>
                  </a:solidFill>
                  <a:highlight>
                    <a:srgbClr val="FFFFFF"/>
                  </a:highlight>
                  <a:latin typeface="Consolas"/>
                  <a:ea typeface="Consolas"/>
                  <a:cs typeface="Consolas"/>
                  <a:sym typeface="Consolas"/>
                </a:rPr>
                <a:t>[]</a:t>
              </a:r>
              <a:r>
                <a:rPr b="1" lang="en" sz="1350">
                  <a:solidFill>
                    <a:schemeClr val="dk1"/>
                  </a:solidFill>
                  <a:highlight>
                    <a:srgbClr val="FFFFFF"/>
                  </a:highlight>
                  <a:latin typeface="Consolas"/>
                  <a:ea typeface="Consolas"/>
                  <a:cs typeface="Consolas"/>
                  <a:sym typeface="Consolas"/>
                </a:rPr>
                <a:t> = {</a:t>
              </a:r>
              <a:r>
                <a:rPr b="1" lang="en" sz="1350">
                  <a:solidFill>
                    <a:srgbClr val="098658"/>
                  </a:solidFill>
                  <a:highlight>
                    <a:srgbClr val="FFFFFF"/>
                  </a:highlight>
                  <a:latin typeface="Consolas"/>
                  <a:ea typeface="Consolas"/>
                  <a:cs typeface="Consolas"/>
                  <a:sym typeface="Consolas"/>
                </a:rPr>
                <a:t>0</a:t>
              </a:r>
              <a:r>
                <a:rPr b="1" lang="en" sz="1350">
                  <a:solidFill>
                    <a:schemeClr val="dk1"/>
                  </a:solidFill>
                  <a:highlight>
                    <a:srgbClr val="FFFFFF"/>
                  </a:highlight>
                  <a:latin typeface="Consolas"/>
                  <a:ea typeface="Consolas"/>
                  <a:cs typeface="Consolas"/>
                  <a:sym typeface="Consolas"/>
                </a:rPr>
                <a:t>,</a:t>
              </a:r>
              <a:r>
                <a:rPr b="1" lang="en" sz="1350">
                  <a:solidFill>
                    <a:srgbClr val="098658"/>
                  </a:solidFill>
                  <a:highlight>
                    <a:srgbClr val="FFFFFF"/>
                  </a:highlight>
                  <a:latin typeface="Consolas"/>
                  <a:ea typeface="Consolas"/>
                  <a:cs typeface="Consolas"/>
                  <a:sym typeface="Consolas"/>
                </a:rPr>
                <a:t>0</a:t>
              </a:r>
              <a:r>
                <a:rPr b="1" lang="en" sz="1350">
                  <a:solidFill>
                    <a:schemeClr val="dk1"/>
                  </a:solidFill>
                  <a:highlight>
                    <a:srgbClr val="FFFFFF"/>
                  </a:highlight>
                  <a:latin typeface="Consolas"/>
                  <a:ea typeface="Consolas"/>
                  <a:cs typeface="Consolas"/>
                  <a:sym typeface="Consolas"/>
                </a:rPr>
                <a:t>,</a:t>
              </a:r>
              <a:r>
                <a:rPr b="1" lang="en" sz="1350">
                  <a:solidFill>
                    <a:srgbClr val="098658"/>
                  </a:solidFill>
                  <a:highlight>
                    <a:srgbClr val="FFFFFF"/>
                  </a:highlight>
                  <a:latin typeface="Consolas"/>
                  <a:ea typeface="Consolas"/>
                  <a:cs typeface="Consolas"/>
                  <a:sym typeface="Consolas"/>
                </a:rPr>
                <a:t>0</a:t>
              </a:r>
              <a:r>
                <a:rPr b="1" lang="en" sz="1350">
                  <a:solidFill>
                    <a:schemeClr val="dk1"/>
                  </a:solidFill>
                  <a:highlight>
                    <a:srgbClr val="FFFFFF"/>
                  </a:highlight>
                  <a:latin typeface="Consolas"/>
                  <a:ea typeface="Consolas"/>
                  <a:cs typeface="Consolas"/>
                  <a:sym typeface="Consolas"/>
                </a:rPr>
                <a:t>,</a:t>
              </a:r>
              <a:r>
                <a:rPr b="1" lang="en" sz="1350">
                  <a:solidFill>
                    <a:srgbClr val="098658"/>
                  </a:solidFill>
                  <a:highlight>
                    <a:srgbClr val="FFFFFF"/>
                  </a:highlight>
                  <a:latin typeface="Consolas"/>
                  <a:ea typeface="Consolas"/>
                  <a:cs typeface="Consolas"/>
                  <a:sym typeface="Consolas"/>
                </a:rPr>
                <a:t>0</a:t>
              </a:r>
              <a:r>
                <a:rPr b="1" lang="en" sz="1350">
                  <a:solidFill>
                    <a:schemeClr val="dk1"/>
                  </a:solidFill>
                  <a:highlight>
                    <a:srgbClr val="FFFFFF"/>
                  </a:highlight>
                  <a:latin typeface="Consolas"/>
                  <a:ea typeface="Consolas"/>
                  <a:cs typeface="Consolas"/>
                  <a:sym typeface="Consolas"/>
                </a:rPr>
                <a:t>};</a:t>
              </a:r>
              <a:r>
                <a:rPr b="1" lang="en" sz="1350">
                  <a:solidFill>
                    <a:srgbClr val="008000"/>
                  </a:solidFill>
                  <a:highlight>
                    <a:srgbClr val="FFFFFF"/>
                  </a:highlight>
                  <a:latin typeface="Consolas"/>
                  <a:ea typeface="Consolas"/>
                  <a:cs typeface="Consolas"/>
                  <a:sym typeface="Consolas"/>
                </a:rPr>
                <a:t> //{b,g,r,a}</a:t>
              </a:r>
              <a:endParaRPr b="1" sz="1350">
                <a:solidFill>
                  <a:srgbClr val="008000"/>
                </a:solidFill>
                <a:highlight>
                  <a:srgbClr val="FFFFFF"/>
                </a:highlight>
                <a:latin typeface="Consolas"/>
                <a:ea typeface="Consolas"/>
                <a:cs typeface="Consolas"/>
                <a:sym typeface="Consolas"/>
              </a:endParaRPr>
            </a:p>
          </p:txBody>
        </p:sp>
        <p:cxnSp>
          <p:nvCxnSpPr>
            <p:cNvPr id="553" name="Google Shape;553;p79"/>
            <p:cNvCxnSpPr>
              <a:endCxn id="552" idx="1"/>
            </p:cNvCxnSpPr>
            <p:nvPr/>
          </p:nvCxnSpPr>
          <p:spPr>
            <a:xfrm flipH="1" rot="10800000">
              <a:off x="2159900" y="956725"/>
              <a:ext cx="2197800" cy="1166100"/>
            </a:xfrm>
            <a:prstGeom prst="straightConnector1">
              <a:avLst/>
            </a:prstGeom>
            <a:noFill/>
            <a:ln cap="flat" cmpd="sng" w="19050">
              <a:solidFill>
                <a:schemeClr val="accent1"/>
              </a:solidFill>
              <a:prstDash val="solid"/>
              <a:round/>
              <a:headEnd len="med" w="med" type="none"/>
              <a:tailEnd len="med" w="med" type="triangle"/>
            </a:ln>
          </p:spPr>
        </p:cxnSp>
      </p:gr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80"/>
          <p:cNvSpPr txBox="1"/>
          <p:nvPr/>
        </p:nvSpPr>
        <p:spPr>
          <a:xfrm>
            <a:off x="279375" y="102825"/>
            <a:ext cx="8686800" cy="47199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100">
                <a:solidFill>
                  <a:srgbClr val="2B91AF"/>
                </a:solidFill>
                <a:highlight>
                  <a:srgbClr val="FFFFFF"/>
                </a:highlight>
                <a:latin typeface="Consolas"/>
                <a:ea typeface="Consolas"/>
                <a:cs typeface="Consolas"/>
                <a:sym typeface="Consolas"/>
              </a:rPr>
              <a:t>   uint32_t</a:t>
            </a:r>
            <a:r>
              <a:rPr b="1" lang="en" sz="1100">
                <a:solidFill>
                  <a:schemeClr val="dk1"/>
                </a:solidFill>
                <a:highlight>
                  <a:srgbClr val="FFFFFF"/>
                </a:highlight>
                <a:latin typeface="Consolas"/>
                <a:ea typeface="Consolas"/>
                <a:cs typeface="Consolas"/>
                <a:sym typeface="Consolas"/>
              </a:rPr>
              <a:t> FRAMECOLOR = </a:t>
            </a:r>
            <a:r>
              <a:rPr b="1" lang="en" sz="1100">
                <a:solidFill>
                  <a:srgbClr val="098658"/>
                </a:solidFill>
                <a:highlight>
                  <a:srgbClr val="FFFFFF"/>
                </a:highlight>
                <a:latin typeface="Consolas"/>
                <a:ea typeface="Consolas"/>
                <a:cs typeface="Consolas"/>
                <a:sym typeface="Consolas"/>
              </a:rPr>
              <a:t>0</a:t>
            </a:r>
            <a:r>
              <a:rPr b="1" lang="en" sz="1100">
                <a:solidFill>
                  <a:schemeClr val="dk1"/>
                </a:solidFill>
                <a:highlight>
                  <a:srgbClr val="FFFFFF"/>
                </a:highlight>
                <a:latin typeface="Consolas"/>
                <a:ea typeface="Consolas"/>
                <a:cs typeface="Consolas"/>
                <a:sym typeface="Consolas"/>
              </a:rPr>
              <a:t> &lt;&lt; </a:t>
            </a:r>
            <a:r>
              <a:rPr b="1" lang="en" sz="1100">
                <a:solidFill>
                  <a:srgbClr val="098658"/>
                </a:solidFill>
                <a:highlight>
                  <a:srgbClr val="FFFFFF"/>
                </a:highlight>
                <a:latin typeface="Consolas"/>
                <a:ea typeface="Consolas"/>
                <a:cs typeface="Consolas"/>
                <a:sym typeface="Consolas"/>
              </a:rPr>
              <a:t>24</a:t>
            </a:r>
            <a:r>
              <a:rPr b="1" lang="en" sz="1100">
                <a:solidFill>
                  <a:schemeClr val="dk1"/>
                </a:solidFill>
                <a:highlight>
                  <a:srgbClr val="FFFFFF"/>
                </a:highlight>
                <a:latin typeface="Consolas"/>
                <a:ea typeface="Consolas"/>
                <a:cs typeface="Consolas"/>
                <a:sym typeface="Consolas"/>
              </a:rPr>
              <a:t> | </a:t>
            </a:r>
            <a:r>
              <a:rPr b="1" lang="en" sz="1100">
                <a:solidFill>
                  <a:srgbClr val="098658"/>
                </a:solidFill>
                <a:highlight>
                  <a:srgbClr val="FFFFFF"/>
                </a:highlight>
                <a:latin typeface="Consolas"/>
                <a:ea typeface="Consolas"/>
                <a:cs typeface="Consolas"/>
                <a:sym typeface="Consolas"/>
              </a:rPr>
              <a:t>255</a:t>
            </a:r>
            <a:r>
              <a:rPr b="1" lang="en" sz="1100">
                <a:solidFill>
                  <a:schemeClr val="dk1"/>
                </a:solidFill>
                <a:highlight>
                  <a:srgbClr val="FFFFFF"/>
                </a:highlight>
                <a:latin typeface="Consolas"/>
                <a:ea typeface="Consolas"/>
                <a:cs typeface="Consolas"/>
                <a:sym typeface="Consolas"/>
              </a:rPr>
              <a:t> &lt;&lt; </a:t>
            </a:r>
            <a:r>
              <a:rPr b="1" lang="en" sz="1100">
                <a:solidFill>
                  <a:srgbClr val="098658"/>
                </a:solidFill>
                <a:highlight>
                  <a:srgbClr val="FFFFFF"/>
                </a:highlight>
                <a:latin typeface="Consolas"/>
                <a:ea typeface="Consolas"/>
                <a:cs typeface="Consolas"/>
                <a:sym typeface="Consolas"/>
              </a:rPr>
              <a:t>16</a:t>
            </a:r>
            <a:r>
              <a:rPr b="1" lang="en" sz="1100">
                <a:solidFill>
                  <a:schemeClr val="dk1"/>
                </a:solidFill>
                <a:highlight>
                  <a:srgbClr val="FFFFFF"/>
                </a:highlight>
                <a:latin typeface="Consolas"/>
                <a:ea typeface="Consolas"/>
                <a:cs typeface="Consolas"/>
                <a:sym typeface="Consolas"/>
              </a:rPr>
              <a:t> | </a:t>
            </a:r>
            <a:r>
              <a:rPr b="1" lang="en" sz="1100">
                <a:solidFill>
                  <a:srgbClr val="098658"/>
                </a:solidFill>
                <a:highlight>
                  <a:srgbClr val="FFFFFF"/>
                </a:highlight>
                <a:latin typeface="Consolas"/>
                <a:ea typeface="Consolas"/>
                <a:cs typeface="Consolas"/>
                <a:sym typeface="Consolas"/>
              </a:rPr>
              <a:t>0</a:t>
            </a:r>
            <a:r>
              <a:rPr b="1" lang="en" sz="1100">
                <a:solidFill>
                  <a:schemeClr val="dk1"/>
                </a:solidFill>
                <a:highlight>
                  <a:srgbClr val="FFFFFF"/>
                </a:highlight>
                <a:latin typeface="Consolas"/>
                <a:ea typeface="Consolas"/>
                <a:cs typeface="Consolas"/>
                <a:sym typeface="Consolas"/>
              </a:rPr>
              <a:t> &lt;&lt; </a:t>
            </a:r>
            <a:r>
              <a:rPr b="1" lang="en" sz="1100">
                <a:solidFill>
                  <a:srgbClr val="098658"/>
                </a:solidFill>
                <a:highlight>
                  <a:srgbClr val="FFFFFF"/>
                </a:highlight>
                <a:latin typeface="Consolas"/>
                <a:ea typeface="Consolas"/>
                <a:cs typeface="Consolas"/>
                <a:sym typeface="Consolas"/>
              </a:rPr>
              <a:t>8</a:t>
            </a:r>
            <a:r>
              <a:rPr b="1" lang="en" sz="1100">
                <a:solidFill>
                  <a:schemeClr val="dk1"/>
                </a:solidFill>
                <a:highlight>
                  <a:srgbClr val="FFFFFF"/>
                </a:highlight>
                <a:latin typeface="Consolas"/>
                <a:ea typeface="Consolas"/>
                <a:cs typeface="Consolas"/>
                <a:sym typeface="Consolas"/>
              </a:rPr>
              <a:t> | </a:t>
            </a:r>
            <a:r>
              <a:rPr b="1" lang="en" sz="1100">
                <a:solidFill>
                  <a:srgbClr val="098658"/>
                </a:solidFill>
                <a:highlight>
                  <a:srgbClr val="FFFFFF"/>
                </a:highlight>
                <a:latin typeface="Consolas"/>
                <a:ea typeface="Consolas"/>
                <a:cs typeface="Consolas"/>
                <a:sym typeface="Consolas"/>
              </a:rPr>
              <a:t>0</a:t>
            </a:r>
            <a:r>
              <a:rPr b="1" lang="en" sz="1100">
                <a:solidFill>
                  <a:schemeClr val="dk1"/>
                </a:solidFill>
                <a:highlight>
                  <a:srgbClr val="FFFFFF"/>
                </a:highlight>
                <a:latin typeface="Consolas"/>
                <a:ea typeface="Consolas"/>
                <a:cs typeface="Consolas"/>
                <a:sym typeface="Consolas"/>
              </a:rPr>
              <a:t>;</a:t>
            </a:r>
            <a:r>
              <a:rPr b="1" lang="en" sz="1100">
                <a:solidFill>
                  <a:srgbClr val="008000"/>
                </a:solidFill>
                <a:highlight>
                  <a:srgbClr val="FFFFFF"/>
                </a:highlight>
                <a:latin typeface="Consolas"/>
                <a:ea typeface="Consolas"/>
                <a:cs typeface="Consolas"/>
                <a:sym typeface="Consolas"/>
              </a:rPr>
              <a:t> /*a-r-g-b*/</a:t>
            </a:r>
            <a:endParaRPr b="1" sz="110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rgbClr val="808080"/>
                </a:solidFill>
                <a:highlight>
                  <a:srgbClr val="FFFFFF"/>
                </a:highlight>
                <a:latin typeface="Consolas"/>
                <a:ea typeface="Consolas"/>
                <a:cs typeface="Consolas"/>
                <a:sym typeface="Consolas"/>
              </a:rPr>
              <a:t>   #define</a:t>
            </a:r>
            <a:r>
              <a:rPr b="1" lang="en" sz="1100">
                <a:solidFill>
                  <a:schemeClr val="dk1"/>
                </a:solidFill>
                <a:highlight>
                  <a:srgbClr val="FFFFFF"/>
                </a:highlight>
                <a:latin typeface="Consolas"/>
                <a:ea typeface="Consolas"/>
                <a:cs typeface="Consolas"/>
                <a:sym typeface="Consolas"/>
              </a:rPr>
              <a:t> </a:t>
            </a:r>
            <a:r>
              <a:rPr b="1" lang="en" sz="1100">
                <a:solidFill>
                  <a:srgbClr val="8A1BFF"/>
                </a:solidFill>
                <a:highlight>
                  <a:srgbClr val="FFFFFF"/>
                </a:highlight>
                <a:latin typeface="Consolas"/>
                <a:ea typeface="Consolas"/>
                <a:cs typeface="Consolas"/>
                <a:sym typeface="Consolas"/>
              </a:rPr>
              <a:t>FRAMESIZE</a:t>
            </a:r>
            <a:r>
              <a:rPr b="1" lang="en" sz="1100">
                <a:solidFill>
                  <a:schemeClr val="dk1"/>
                </a:solidFill>
                <a:highlight>
                  <a:srgbClr val="FFFFFF"/>
                </a:highlight>
                <a:latin typeface="Consolas"/>
                <a:ea typeface="Consolas"/>
                <a:cs typeface="Consolas"/>
                <a:sym typeface="Consolas"/>
              </a:rPr>
              <a:t> </a:t>
            </a:r>
            <a:r>
              <a:rPr b="1" lang="en" sz="1100">
                <a:solidFill>
                  <a:srgbClr val="098658"/>
                </a:solidFill>
                <a:highlight>
                  <a:srgbClr val="FFFFFF"/>
                </a:highlight>
                <a:latin typeface="Consolas"/>
                <a:ea typeface="Consolas"/>
                <a:cs typeface="Consolas"/>
                <a:sym typeface="Consolas"/>
              </a:rPr>
              <a:t>50</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rgbClr val="2B91AF"/>
                </a:solidFill>
                <a:highlight>
                  <a:srgbClr val="FFFFFF"/>
                </a:highlight>
                <a:latin typeface="Consolas"/>
                <a:ea typeface="Consolas"/>
                <a:cs typeface="Consolas"/>
                <a:sym typeface="Consolas"/>
              </a:rPr>
              <a:t>   </a:t>
            </a:r>
            <a:r>
              <a:rPr b="1" lang="en" sz="1100">
                <a:solidFill>
                  <a:srgbClr val="2B91AF"/>
                </a:solidFill>
                <a:highlight>
                  <a:srgbClr val="FFFFFF"/>
                </a:highlight>
                <a:latin typeface="Consolas"/>
                <a:ea typeface="Consolas"/>
                <a:cs typeface="Consolas"/>
                <a:sym typeface="Consolas"/>
              </a:rPr>
              <a:t>Pixel</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p</a:t>
            </a:r>
            <a:r>
              <a:rPr b="1" lang="en" sz="1100">
                <a:solidFill>
                  <a:schemeClr val="dk1"/>
                </a:solidFill>
                <a:highlight>
                  <a:srgbClr val="FFFFFF"/>
                </a:highlight>
                <a:latin typeface="Consolas"/>
                <a:ea typeface="Consolas"/>
                <a:cs typeface="Consolas"/>
                <a:sym typeface="Consolas"/>
              </a:rPr>
              <a:t>;</a:t>
            </a:r>
            <a:r>
              <a:rPr b="1" lang="en" sz="1100">
                <a:solidFill>
                  <a:srgbClr val="008000"/>
                </a:solidFill>
                <a:highlight>
                  <a:srgbClr val="FFFFFF"/>
                </a:highlight>
                <a:latin typeface="Consolas"/>
                <a:ea typeface="Consolas"/>
                <a:cs typeface="Consolas"/>
                <a:sym typeface="Consolas"/>
              </a:rPr>
              <a:t> /*storage for a pixel data*/</a:t>
            </a:r>
            <a:endParaRPr b="1" sz="110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p</a:t>
            </a:r>
            <a:r>
              <a:rPr b="1" lang="en" sz="1100">
                <a:solidFill>
                  <a:schemeClr val="dk1"/>
                </a:solidFill>
                <a:highlight>
                  <a:srgbClr val="FFFFFF"/>
                </a:highlight>
                <a:latin typeface="Consolas"/>
                <a:ea typeface="Consolas"/>
                <a:cs typeface="Consolas"/>
                <a:sym typeface="Consolas"/>
              </a:rPr>
              <a:t>.pixel = </a:t>
            </a:r>
            <a:r>
              <a:rPr b="1" lang="en" sz="1100">
                <a:solidFill>
                  <a:srgbClr val="098658"/>
                </a:solidFill>
                <a:highlight>
                  <a:srgbClr val="FFFFFF"/>
                </a:highlight>
                <a:latin typeface="Consolas"/>
                <a:ea typeface="Consolas"/>
                <a:cs typeface="Consolas"/>
                <a:sym typeface="Consolas"/>
              </a:rPr>
              <a:t>0</a:t>
            </a:r>
            <a:r>
              <a:rPr b="1" lang="en"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8F08C4"/>
                </a:solidFill>
                <a:highlight>
                  <a:srgbClr val="FFFFFF"/>
                </a:highlight>
                <a:latin typeface="Consolas"/>
                <a:ea typeface="Consolas"/>
                <a:cs typeface="Consolas"/>
                <a:sym typeface="Consolas"/>
              </a:rPr>
              <a:t>for</a:t>
            </a:r>
            <a:r>
              <a:rPr b="1" lang="en" sz="1100">
                <a:solidFill>
                  <a:schemeClr val="dk1"/>
                </a:solidFill>
                <a:highlight>
                  <a:srgbClr val="FFFFFF"/>
                </a:highlight>
                <a:latin typeface="Consolas"/>
                <a:ea typeface="Consolas"/>
                <a:cs typeface="Consolas"/>
                <a:sym typeface="Consolas"/>
              </a:rPr>
              <a:t> (</a:t>
            </a:r>
            <a:r>
              <a:rPr b="1" lang="en" sz="1100">
                <a:solidFill>
                  <a:srgbClr val="0000FF"/>
                </a:solidFill>
                <a:highlight>
                  <a:srgbClr val="FFFFFF"/>
                </a:highlight>
                <a:latin typeface="Consolas"/>
                <a:ea typeface="Consolas"/>
                <a:cs typeface="Consolas"/>
                <a:sym typeface="Consolas"/>
              </a:rPr>
              <a:t>int</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i</a:t>
            </a:r>
            <a:r>
              <a:rPr b="1" lang="en" sz="1100">
                <a:solidFill>
                  <a:schemeClr val="dk1"/>
                </a:solidFill>
                <a:highlight>
                  <a:srgbClr val="FFFFFF"/>
                </a:highlight>
                <a:latin typeface="Consolas"/>
                <a:ea typeface="Consolas"/>
                <a:cs typeface="Consolas"/>
                <a:sym typeface="Consolas"/>
              </a:rPr>
              <a:t> = </a:t>
            </a:r>
            <a:r>
              <a:rPr b="1" lang="en" sz="1100">
                <a:solidFill>
                  <a:srgbClr val="808080"/>
                </a:solidFill>
                <a:highlight>
                  <a:srgbClr val="FFFFFF"/>
                </a:highlight>
                <a:latin typeface="Consolas"/>
                <a:ea typeface="Consolas"/>
                <a:cs typeface="Consolas"/>
                <a:sym typeface="Consolas"/>
              </a:rPr>
              <a:t>height</a:t>
            </a:r>
            <a:r>
              <a:rPr b="1" lang="en" sz="1100">
                <a:solidFill>
                  <a:schemeClr val="dk1"/>
                </a:solidFill>
                <a:highlight>
                  <a:srgbClr val="FFFFFF"/>
                </a:highlight>
                <a:latin typeface="Consolas"/>
                <a:ea typeface="Consolas"/>
                <a:cs typeface="Consolas"/>
                <a:sym typeface="Consolas"/>
              </a:rPr>
              <a:t> -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i</a:t>
            </a:r>
            <a:r>
              <a:rPr b="1" lang="en" sz="1100">
                <a:solidFill>
                  <a:schemeClr val="dk1"/>
                </a:solidFill>
                <a:highlight>
                  <a:srgbClr val="FFFFFF"/>
                </a:highlight>
                <a:latin typeface="Consolas"/>
                <a:ea typeface="Consolas"/>
                <a:cs typeface="Consolas"/>
                <a:sym typeface="Consolas"/>
              </a:rPr>
              <a:t> &gt;= </a:t>
            </a:r>
            <a:r>
              <a:rPr b="1" lang="en" sz="1100">
                <a:solidFill>
                  <a:srgbClr val="098658"/>
                </a:solidFill>
                <a:highlight>
                  <a:srgbClr val="FFFFFF"/>
                </a:highlight>
                <a:latin typeface="Consolas"/>
                <a:ea typeface="Consolas"/>
                <a:cs typeface="Consolas"/>
                <a:sym typeface="Consolas"/>
              </a:rPr>
              <a:t>0</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i</a:t>
            </a: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8F08C4"/>
                </a:solidFill>
                <a:highlight>
                  <a:srgbClr val="FFFFFF"/>
                </a:highlight>
                <a:latin typeface="Consolas"/>
                <a:ea typeface="Consolas"/>
                <a:cs typeface="Consolas"/>
                <a:sym typeface="Consolas"/>
              </a:rPr>
              <a:t>for</a:t>
            </a:r>
            <a:r>
              <a:rPr b="1" lang="en" sz="1100">
                <a:solidFill>
                  <a:schemeClr val="dk1"/>
                </a:solidFill>
                <a:highlight>
                  <a:srgbClr val="FFFFFF"/>
                </a:highlight>
                <a:latin typeface="Consolas"/>
                <a:ea typeface="Consolas"/>
                <a:cs typeface="Consolas"/>
                <a:sym typeface="Consolas"/>
              </a:rPr>
              <a:t> (</a:t>
            </a:r>
            <a:r>
              <a:rPr b="1" lang="en" sz="1100">
                <a:solidFill>
                  <a:srgbClr val="0000FF"/>
                </a:solidFill>
                <a:highlight>
                  <a:srgbClr val="FFFFFF"/>
                </a:highlight>
                <a:latin typeface="Consolas"/>
                <a:ea typeface="Consolas"/>
                <a:cs typeface="Consolas"/>
                <a:sym typeface="Consolas"/>
              </a:rPr>
              <a:t>int</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j</a:t>
            </a:r>
            <a:r>
              <a:rPr b="1" lang="en" sz="1100">
                <a:solidFill>
                  <a:schemeClr val="dk1"/>
                </a:solidFill>
                <a:highlight>
                  <a:srgbClr val="FFFFFF"/>
                </a:highlight>
                <a:latin typeface="Consolas"/>
                <a:ea typeface="Consolas"/>
                <a:cs typeface="Consolas"/>
                <a:sym typeface="Consolas"/>
              </a:rPr>
              <a:t> = </a:t>
            </a:r>
            <a:r>
              <a:rPr b="1" lang="en" sz="1100">
                <a:solidFill>
                  <a:srgbClr val="098658"/>
                </a:solidFill>
                <a:highlight>
                  <a:srgbClr val="FFFFFF"/>
                </a:highlight>
                <a:latin typeface="Consolas"/>
                <a:ea typeface="Consolas"/>
                <a:cs typeface="Consolas"/>
                <a:sym typeface="Consolas"/>
              </a:rPr>
              <a:t>0</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j</a:t>
            </a:r>
            <a:r>
              <a:rPr b="1" lang="en" sz="1100">
                <a:solidFill>
                  <a:schemeClr val="dk1"/>
                </a:solidFill>
                <a:highlight>
                  <a:srgbClr val="FFFFFF"/>
                </a:highlight>
                <a:latin typeface="Consolas"/>
                <a:ea typeface="Consolas"/>
                <a:cs typeface="Consolas"/>
                <a:sym typeface="Consolas"/>
              </a:rPr>
              <a:t> &lt; </a:t>
            </a:r>
            <a:r>
              <a:rPr b="1" lang="en" sz="1100">
                <a:solidFill>
                  <a:srgbClr val="808080"/>
                </a:solidFill>
                <a:highlight>
                  <a:srgbClr val="FFFFFF"/>
                </a:highlight>
                <a:latin typeface="Consolas"/>
                <a:ea typeface="Consolas"/>
                <a:cs typeface="Consolas"/>
                <a:sym typeface="Consolas"/>
              </a:rPr>
              <a:t>width</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j</a:t>
            </a: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74531F"/>
                </a:solidFill>
                <a:highlight>
                  <a:srgbClr val="FFFFFF"/>
                </a:highlight>
                <a:latin typeface="Consolas"/>
                <a:ea typeface="Consolas"/>
                <a:cs typeface="Consolas"/>
                <a:sym typeface="Consolas"/>
              </a:rPr>
              <a:t>fread</a:t>
            </a:r>
            <a:r>
              <a:rPr b="1" lang="en" sz="1100">
                <a:solidFill>
                  <a:schemeClr val="dk1"/>
                </a:solidFill>
                <a:highlight>
                  <a:srgbClr val="FFFFFF"/>
                </a:highlight>
                <a:latin typeface="Consolas"/>
                <a:ea typeface="Consolas"/>
                <a:cs typeface="Consolas"/>
                <a:sym typeface="Consolas"/>
              </a:rPr>
              <a:t>(&amp;</a:t>
            </a:r>
            <a:r>
              <a:rPr b="1" lang="en" sz="1100">
                <a:solidFill>
                  <a:srgbClr val="1F377F"/>
                </a:solidFill>
                <a:highlight>
                  <a:srgbClr val="FFFFFF"/>
                </a:highlight>
                <a:latin typeface="Consolas"/>
                <a:ea typeface="Consolas"/>
                <a:cs typeface="Consolas"/>
                <a:sym typeface="Consolas"/>
              </a:rPr>
              <a:t>p</a:t>
            </a:r>
            <a:r>
              <a:rPr b="1" lang="en" sz="1100">
                <a:solidFill>
                  <a:schemeClr val="dk1"/>
                </a:solidFill>
                <a:highlight>
                  <a:srgbClr val="FFFFFF"/>
                </a:highlight>
                <a:latin typeface="Consolas"/>
                <a:ea typeface="Consolas"/>
                <a:cs typeface="Consolas"/>
                <a:sym typeface="Consolas"/>
              </a:rPr>
              <a:t>.pixel, </a:t>
            </a:r>
            <a:r>
              <a:rPr b="1" lang="en" sz="1100">
                <a:solidFill>
                  <a:srgbClr val="098658"/>
                </a:solidFill>
                <a:highlight>
                  <a:srgbClr val="FFFFFF"/>
                </a:highlight>
                <a:latin typeface="Consolas"/>
                <a:ea typeface="Consolas"/>
                <a:cs typeface="Consolas"/>
                <a:sym typeface="Consolas"/>
              </a:rPr>
              <a:t>4</a:t>
            </a:r>
            <a:r>
              <a:rPr b="1" lang="en" sz="1100">
                <a:solidFill>
                  <a:schemeClr val="dk1"/>
                </a:solidFill>
                <a:highlight>
                  <a:srgbClr val="FFFFFF"/>
                </a:highlight>
                <a:latin typeface="Consolas"/>
                <a:ea typeface="Consolas"/>
                <a:cs typeface="Consolas"/>
                <a:sym typeface="Consolas"/>
              </a:rPr>
              <a:t>,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808080"/>
                </a:solidFill>
                <a:highlight>
                  <a:srgbClr val="FFFFFF"/>
                </a:highlight>
                <a:latin typeface="Consolas"/>
                <a:ea typeface="Consolas"/>
                <a:cs typeface="Consolas"/>
                <a:sym typeface="Consolas"/>
              </a:rPr>
              <a:t>infile</a:t>
            </a:r>
            <a:r>
              <a:rPr b="1" lang="en"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rgbClr val="008000"/>
                </a:solidFill>
                <a:highlight>
                  <a:srgbClr val="FFFFFF"/>
                </a:highlight>
                <a:latin typeface="Consolas"/>
                <a:ea typeface="Consolas"/>
                <a:cs typeface="Consolas"/>
                <a:sym typeface="Consolas"/>
              </a:rPr>
              <a:t>           /*write the pixel to outfile */</a:t>
            </a:r>
            <a:endParaRPr b="1" sz="110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8F08C4"/>
                </a:solidFill>
                <a:highlight>
                  <a:srgbClr val="FFFFFF"/>
                </a:highlight>
                <a:latin typeface="Consolas"/>
                <a:ea typeface="Consolas"/>
                <a:cs typeface="Consolas"/>
                <a:sym typeface="Consolas"/>
              </a:rPr>
              <a:t>if</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j</a:t>
            </a:r>
            <a:r>
              <a:rPr b="1" lang="en" sz="1100">
                <a:solidFill>
                  <a:schemeClr val="dk1"/>
                </a:solidFill>
                <a:highlight>
                  <a:srgbClr val="FFFFFF"/>
                </a:highlight>
                <a:latin typeface="Consolas"/>
                <a:ea typeface="Consolas"/>
                <a:cs typeface="Consolas"/>
                <a:sym typeface="Consolas"/>
              </a:rPr>
              <a:t> &lt; </a:t>
            </a:r>
            <a:r>
              <a:rPr b="1" lang="en" sz="1100">
                <a:solidFill>
                  <a:srgbClr val="8A1BFF"/>
                </a:solidFill>
                <a:highlight>
                  <a:srgbClr val="FFFFFF"/>
                </a:highlight>
                <a:latin typeface="Consolas"/>
                <a:ea typeface="Consolas"/>
                <a:cs typeface="Consolas"/>
                <a:sym typeface="Consolas"/>
              </a:rPr>
              <a:t>FRAMESIZE</a:t>
            </a:r>
            <a:r>
              <a:rPr b="1" lang="en" sz="1100">
                <a:solidFill>
                  <a:schemeClr val="dk1"/>
                </a:solidFill>
                <a:highlight>
                  <a:srgbClr val="FFFFFF"/>
                </a:highlight>
                <a:latin typeface="Consolas"/>
                <a:ea typeface="Consolas"/>
                <a:cs typeface="Consolas"/>
                <a:sym typeface="Consolas"/>
              </a:rPr>
              <a:t> || </a:t>
            </a:r>
            <a:r>
              <a:rPr b="1" lang="en" sz="1100">
                <a:solidFill>
                  <a:srgbClr val="1F377F"/>
                </a:solidFill>
                <a:highlight>
                  <a:srgbClr val="FFFFFF"/>
                </a:highlight>
                <a:latin typeface="Consolas"/>
                <a:ea typeface="Consolas"/>
                <a:cs typeface="Consolas"/>
                <a:sym typeface="Consolas"/>
              </a:rPr>
              <a:t>i</a:t>
            </a:r>
            <a:r>
              <a:rPr b="1" lang="en" sz="1100">
                <a:solidFill>
                  <a:schemeClr val="dk1"/>
                </a:solidFill>
                <a:highlight>
                  <a:srgbClr val="FFFFFF"/>
                </a:highlight>
                <a:latin typeface="Consolas"/>
                <a:ea typeface="Consolas"/>
                <a:cs typeface="Consolas"/>
                <a:sym typeface="Consolas"/>
              </a:rPr>
              <a:t> &lt; </a:t>
            </a:r>
            <a:r>
              <a:rPr b="1" lang="en" sz="1100">
                <a:solidFill>
                  <a:srgbClr val="8A1BFF"/>
                </a:solidFill>
                <a:highlight>
                  <a:srgbClr val="FFFFFF"/>
                </a:highlight>
                <a:latin typeface="Consolas"/>
                <a:ea typeface="Consolas"/>
                <a:cs typeface="Consolas"/>
                <a:sym typeface="Consolas"/>
              </a:rPr>
              <a:t>FRAMESIZE</a:t>
            </a:r>
            <a:r>
              <a:rPr b="1" lang="en" sz="1100">
                <a:solidFill>
                  <a:schemeClr val="dk1"/>
                </a:solidFill>
                <a:highlight>
                  <a:srgbClr val="FFFFFF"/>
                </a:highlight>
                <a:latin typeface="Consolas"/>
                <a:ea typeface="Consolas"/>
                <a:cs typeface="Consolas"/>
                <a:sym typeface="Consolas"/>
              </a:rPr>
              <a:t> || </a:t>
            </a:r>
            <a:r>
              <a:rPr b="1" lang="en" sz="1100">
                <a:solidFill>
                  <a:srgbClr val="1F377F"/>
                </a:solidFill>
                <a:highlight>
                  <a:srgbClr val="FFFFFF"/>
                </a:highlight>
                <a:latin typeface="Consolas"/>
                <a:ea typeface="Consolas"/>
                <a:cs typeface="Consolas"/>
                <a:sym typeface="Consolas"/>
              </a:rPr>
              <a:t>i</a:t>
            </a:r>
            <a:r>
              <a:rPr b="1" lang="en" sz="1100">
                <a:solidFill>
                  <a:schemeClr val="dk1"/>
                </a:solidFill>
                <a:highlight>
                  <a:srgbClr val="FFFFFF"/>
                </a:highlight>
                <a:latin typeface="Consolas"/>
                <a:ea typeface="Consolas"/>
                <a:cs typeface="Consolas"/>
                <a:sym typeface="Consolas"/>
              </a:rPr>
              <a:t> &gt; </a:t>
            </a:r>
            <a:r>
              <a:rPr b="1" lang="en" sz="1100">
                <a:solidFill>
                  <a:srgbClr val="808080"/>
                </a:solidFill>
                <a:highlight>
                  <a:srgbClr val="FFFFFF"/>
                </a:highlight>
                <a:latin typeface="Consolas"/>
                <a:ea typeface="Consolas"/>
                <a:cs typeface="Consolas"/>
                <a:sym typeface="Consolas"/>
              </a:rPr>
              <a:t>height</a:t>
            </a:r>
            <a:r>
              <a:rPr b="1" lang="en" sz="1100">
                <a:solidFill>
                  <a:schemeClr val="dk1"/>
                </a:solidFill>
                <a:highlight>
                  <a:srgbClr val="FFFFFF"/>
                </a:highlight>
                <a:latin typeface="Consolas"/>
                <a:ea typeface="Consolas"/>
                <a:cs typeface="Consolas"/>
                <a:sym typeface="Consolas"/>
              </a:rPr>
              <a:t> - </a:t>
            </a:r>
            <a:r>
              <a:rPr b="1" lang="en" sz="1100">
                <a:solidFill>
                  <a:srgbClr val="8A1BFF"/>
                </a:solidFill>
                <a:highlight>
                  <a:srgbClr val="FFFFFF"/>
                </a:highlight>
                <a:latin typeface="Consolas"/>
                <a:ea typeface="Consolas"/>
                <a:cs typeface="Consolas"/>
                <a:sym typeface="Consolas"/>
              </a:rPr>
              <a:t>FRAMESIZE</a:t>
            </a: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j</a:t>
            </a:r>
            <a:r>
              <a:rPr b="1" lang="en" sz="1100">
                <a:solidFill>
                  <a:schemeClr val="dk1"/>
                </a:solidFill>
                <a:highlight>
                  <a:srgbClr val="FFFFFF"/>
                </a:highlight>
                <a:latin typeface="Consolas"/>
                <a:ea typeface="Consolas"/>
                <a:cs typeface="Consolas"/>
                <a:sym typeface="Consolas"/>
              </a:rPr>
              <a:t> &gt; </a:t>
            </a:r>
            <a:r>
              <a:rPr b="1" lang="en" sz="1100">
                <a:solidFill>
                  <a:srgbClr val="808080"/>
                </a:solidFill>
                <a:highlight>
                  <a:srgbClr val="FFFFFF"/>
                </a:highlight>
                <a:latin typeface="Consolas"/>
                <a:ea typeface="Consolas"/>
                <a:cs typeface="Consolas"/>
                <a:sym typeface="Consolas"/>
              </a:rPr>
              <a:t>width</a:t>
            </a:r>
            <a:r>
              <a:rPr b="1" lang="en" sz="1100">
                <a:solidFill>
                  <a:schemeClr val="dk1"/>
                </a:solidFill>
                <a:highlight>
                  <a:srgbClr val="FFFFFF"/>
                </a:highlight>
                <a:latin typeface="Consolas"/>
                <a:ea typeface="Consolas"/>
                <a:cs typeface="Consolas"/>
                <a:sym typeface="Consolas"/>
              </a:rPr>
              <a:t> - </a:t>
            </a:r>
            <a:r>
              <a:rPr b="1" lang="en" sz="1100">
                <a:solidFill>
                  <a:srgbClr val="8A1BFF"/>
                </a:solidFill>
                <a:highlight>
                  <a:srgbClr val="FFFFFF"/>
                </a:highlight>
                <a:latin typeface="Consolas"/>
                <a:ea typeface="Consolas"/>
                <a:cs typeface="Consolas"/>
                <a:sym typeface="Consolas"/>
              </a:rPr>
              <a:t>FRAMESIZE</a:t>
            </a: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74531F"/>
                </a:solidFill>
                <a:highlight>
                  <a:srgbClr val="FFFFFF"/>
                </a:highlight>
                <a:latin typeface="Consolas"/>
                <a:ea typeface="Consolas"/>
                <a:cs typeface="Consolas"/>
                <a:sym typeface="Consolas"/>
              </a:rPr>
              <a:t>fwrite</a:t>
            </a:r>
            <a:r>
              <a:rPr b="1" lang="en" sz="1100">
                <a:solidFill>
                  <a:schemeClr val="dk1"/>
                </a:solidFill>
                <a:highlight>
                  <a:srgbClr val="FFFFFF"/>
                </a:highlight>
                <a:latin typeface="Consolas"/>
                <a:ea typeface="Consolas"/>
                <a:cs typeface="Consolas"/>
                <a:sym typeface="Consolas"/>
              </a:rPr>
              <a:t>(&amp;FRAMECOLOR, </a:t>
            </a:r>
            <a:r>
              <a:rPr b="1" lang="en" sz="1100">
                <a:solidFill>
                  <a:srgbClr val="098658"/>
                </a:solidFill>
                <a:highlight>
                  <a:srgbClr val="FFFFFF"/>
                </a:highlight>
                <a:latin typeface="Consolas"/>
                <a:ea typeface="Consolas"/>
                <a:cs typeface="Consolas"/>
                <a:sym typeface="Consolas"/>
              </a:rPr>
              <a:t>4</a:t>
            </a:r>
            <a:r>
              <a:rPr b="1" lang="en" sz="1100">
                <a:solidFill>
                  <a:schemeClr val="dk1"/>
                </a:solidFill>
                <a:highlight>
                  <a:srgbClr val="FFFFFF"/>
                </a:highlight>
                <a:latin typeface="Consolas"/>
                <a:ea typeface="Consolas"/>
                <a:cs typeface="Consolas"/>
                <a:sym typeface="Consolas"/>
              </a:rPr>
              <a:t>,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808080"/>
                </a:solidFill>
                <a:highlight>
                  <a:srgbClr val="FFFFFF"/>
                </a:highlight>
                <a:latin typeface="Consolas"/>
                <a:ea typeface="Consolas"/>
                <a:cs typeface="Consolas"/>
                <a:sym typeface="Consolas"/>
              </a:rPr>
              <a:t>outfile</a:t>
            </a:r>
            <a:r>
              <a:rPr b="1" lang="en"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 </a:t>
            </a:r>
            <a:r>
              <a:rPr b="1" lang="en" sz="1100">
                <a:solidFill>
                  <a:srgbClr val="8F08C4"/>
                </a:solidFill>
                <a:highlight>
                  <a:srgbClr val="FFFFFF"/>
                </a:highlight>
                <a:latin typeface="Consolas"/>
                <a:ea typeface="Consolas"/>
                <a:cs typeface="Consolas"/>
                <a:sym typeface="Consolas"/>
              </a:rPr>
              <a:t>else</a:t>
            </a: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74531F"/>
                </a:solidFill>
                <a:highlight>
                  <a:srgbClr val="FFFFFF"/>
                </a:highlight>
                <a:latin typeface="Consolas"/>
                <a:ea typeface="Consolas"/>
                <a:cs typeface="Consolas"/>
                <a:sym typeface="Consolas"/>
              </a:rPr>
              <a:t>fwrite</a:t>
            </a:r>
            <a:r>
              <a:rPr b="1" lang="en" sz="1100">
                <a:solidFill>
                  <a:schemeClr val="dk1"/>
                </a:solidFill>
                <a:highlight>
                  <a:srgbClr val="FFFFFF"/>
                </a:highlight>
                <a:latin typeface="Consolas"/>
                <a:ea typeface="Consolas"/>
                <a:cs typeface="Consolas"/>
                <a:sym typeface="Consolas"/>
              </a:rPr>
              <a:t>(&amp;</a:t>
            </a:r>
            <a:r>
              <a:rPr b="1" lang="en" sz="1100">
                <a:solidFill>
                  <a:srgbClr val="1F377F"/>
                </a:solidFill>
                <a:highlight>
                  <a:srgbClr val="FFFFFF"/>
                </a:highlight>
                <a:latin typeface="Consolas"/>
                <a:ea typeface="Consolas"/>
                <a:cs typeface="Consolas"/>
                <a:sym typeface="Consolas"/>
              </a:rPr>
              <a:t>p</a:t>
            </a:r>
            <a:r>
              <a:rPr b="1" lang="en" sz="1100">
                <a:solidFill>
                  <a:schemeClr val="dk1"/>
                </a:solidFill>
                <a:highlight>
                  <a:srgbClr val="FFFFFF"/>
                </a:highlight>
                <a:latin typeface="Consolas"/>
                <a:ea typeface="Consolas"/>
                <a:cs typeface="Consolas"/>
                <a:sym typeface="Consolas"/>
              </a:rPr>
              <a:t>.b,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808080"/>
                </a:solidFill>
                <a:highlight>
                  <a:srgbClr val="FFFFFF"/>
                </a:highlight>
                <a:latin typeface="Consolas"/>
                <a:ea typeface="Consolas"/>
                <a:cs typeface="Consolas"/>
                <a:sym typeface="Consolas"/>
              </a:rPr>
              <a:t>outfile</a:t>
            </a:r>
            <a:r>
              <a:rPr b="1" lang="en"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74531F"/>
                </a:solidFill>
                <a:highlight>
                  <a:srgbClr val="FFFFFF"/>
                </a:highlight>
                <a:latin typeface="Consolas"/>
                <a:ea typeface="Consolas"/>
                <a:cs typeface="Consolas"/>
                <a:sym typeface="Consolas"/>
              </a:rPr>
              <a:t>fwrite</a:t>
            </a:r>
            <a:r>
              <a:rPr b="1" lang="en" sz="1100">
                <a:solidFill>
                  <a:schemeClr val="dk1"/>
                </a:solidFill>
                <a:highlight>
                  <a:srgbClr val="FFFFFF"/>
                </a:highlight>
                <a:latin typeface="Consolas"/>
                <a:ea typeface="Consolas"/>
                <a:cs typeface="Consolas"/>
                <a:sym typeface="Consolas"/>
              </a:rPr>
              <a:t>(&amp;</a:t>
            </a:r>
            <a:r>
              <a:rPr b="1" lang="en" sz="1100">
                <a:solidFill>
                  <a:srgbClr val="1F377F"/>
                </a:solidFill>
                <a:highlight>
                  <a:srgbClr val="FFFFFF"/>
                </a:highlight>
                <a:latin typeface="Consolas"/>
                <a:ea typeface="Consolas"/>
                <a:cs typeface="Consolas"/>
                <a:sym typeface="Consolas"/>
              </a:rPr>
              <a:t>p</a:t>
            </a:r>
            <a:r>
              <a:rPr b="1" lang="en" sz="1100">
                <a:solidFill>
                  <a:schemeClr val="dk1"/>
                </a:solidFill>
                <a:highlight>
                  <a:srgbClr val="FFFFFF"/>
                </a:highlight>
                <a:latin typeface="Consolas"/>
                <a:ea typeface="Consolas"/>
                <a:cs typeface="Consolas"/>
                <a:sym typeface="Consolas"/>
              </a:rPr>
              <a:t>.g,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808080"/>
                </a:solidFill>
                <a:highlight>
                  <a:srgbClr val="FFFFFF"/>
                </a:highlight>
                <a:latin typeface="Consolas"/>
                <a:ea typeface="Consolas"/>
                <a:cs typeface="Consolas"/>
                <a:sym typeface="Consolas"/>
              </a:rPr>
              <a:t>outfile</a:t>
            </a:r>
            <a:r>
              <a:rPr b="1" lang="en"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74531F"/>
                </a:solidFill>
                <a:highlight>
                  <a:srgbClr val="FFFFFF"/>
                </a:highlight>
                <a:latin typeface="Consolas"/>
                <a:ea typeface="Consolas"/>
                <a:cs typeface="Consolas"/>
                <a:sym typeface="Consolas"/>
              </a:rPr>
              <a:t>fwrite</a:t>
            </a:r>
            <a:r>
              <a:rPr b="1" lang="en" sz="1100">
                <a:solidFill>
                  <a:schemeClr val="dk1"/>
                </a:solidFill>
                <a:highlight>
                  <a:srgbClr val="FFFFFF"/>
                </a:highlight>
                <a:latin typeface="Consolas"/>
                <a:ea typeface="Consolas"/>
                <a:cs typeface="Consolas"/>
                <a:sym typeface="Consolas"/>
              </a:rPr>
              <a:t>(&amp;</a:t>
            </a:r>
            <a:r>
              <a:rPr b="1" lang="en" sz="1100">
                <a:solidFill>
                  <a:srgbClr val="1F377F"/>
                </a:solidFill>
                <a:highlight>
                  <a:srgbClr val="FFFFFF"/>
                </a:highlight>
                <a:latin typeface="Consolas"/>
                <a:ea typeface="Consolas"/>
                <a:cs typeface="Consolas"/>
                <a:sym typeface="Consolas"/>
              </a:rPr>
              <a:t>p</a:t>
            </a:r>
            <a:r>
              <a:rPr b="1" lang="en" sz="1100">
                <a:solidFill>
                  <a:schemeClr val="dk1"/>
                </a:solidFill>
                <a:highlight>
                  <a:srgbClr val="FFFFFF"/>
                </a:highlight>
                <a:latin typeface="Consolas"/>
                <a:ea typeface="Consolas"/>
                <a:cs typeface="Consolas"/>
                <a:sym typeface="Consolas"/>
              </a:rPr>
              <a:t>.r,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808080"/>
                </a:solidFill>
                <a:highlight>
                  <a:srgbClr val="FFFFFF"/>
                </a:highlight>
                <a:latin typeface="Consolas"/>
                <a:ea typeface="Consolas"/>
                <a:cs typeface="Consolas"/>
                <a:sym typeface="Consolas"/>
              </a:rPr>
              <a:t>outfile</a:t>
            </a:r>
            <a:r>
              <a:rPr b="1" lang="en"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74531F"/>
                </a:solidFill>
                <a:highlight>
                  <a:srgbClr val="FFFFFF"/>
                </a:highlight>
                <a:latin typeface="Consolas"/>
                <a:ea typeface="Consolas"/>
                <a:cs typeface="Consolas"/>
                <a:sym typeface="Consolas"/>
              </a:rPr>
              <a:t>fwrite</a:t>
            </a:r>
            <a:r>
              <a:rPr b="1" lang="en" sz="1100">
                <a:solidFill>
                  <a:schemeClr val="dk1"/>
                </a:solidFill>
                <a:highlight>
                  <a:srgbClr val="FFFFFF"/>
                </a:highlight>
                <a:latin typeface="Consolas"/>
                <a:ea typeface="Consolas"/>
                <a:cs typeface="Consolas"/>
                <a:sym typeface="Consolas"/>
              </a:rPr>
              <a:t>(&amp;</a:t>
            </a:r>
            <a:r>
              <a:rPr b="1" lang="en" sz="1100">
                <a:solidFill>
                  <a:srgbClr val="1F377F"/>
                </a:solidFill>
                <a:highlight>
                  <a:srgbClr val="FFFFFF"/>
                </a:highlight>
                <a:latin typeface="Consolas"/>
                <a:ea typeface="Consolas"/>
                <a:cs typeface="Consolas"/>
                <a:sym typeface="Consolas"/>
              </a:rPr>
              <a:t>p</a:t>
            </a:r>
            <a:r>
              <a:rPr b="1" lang="en" sz="1100">
                <a:solidFill>
                  <a:schemeClr val="dk1"/>
                </a:solidFill>
                <a:highlight>
                  <a:srgbClr val="FFFFFF"/>
                </a:highlight>
                <a:latin typeface="Consolas"/>
                <a:ea typeface="Consolas"/>
                <a:cs typeface="Consolas"/>
                <a:sym typeface="Consolas"/>
              </a:rPr>
              <a:t>.a,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808080"/>
                </a:solidFill>
                <a:highlight>
                  <a:srgbClr val="FFFFFF"/>
                </a:highlight>
                <a:latin typeface="Consolas"/>
                <a:ea typeface="Consolas"/>
                <a:cs typeface="Consolas"/>
                <a:sym typeface="Consolas"/>
              </a:rPr>
              <a:t>outfile</a:t>
            </a:r>
            <a:r>
              <a:rPr b="1" lang="en"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8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 functions and System calls</a:t>
            </a:r>
            <a:endParaRPr/>
          </a:p>
        </p:txBody>
      </p:sp>
      <p:sp>
        <p:nvSpPr>
          <p:cNvPr id="564" name="Google Shape;564;p8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65" name="Google Shape;565;p8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8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Common </a:t>
            </a:r>
            <a:r>
              <a:rPr lang="en"/>
              <a:t>C functions</a:t>
            </a:r>
            <a:endParaRPr/>
          </a:p>
        </p:txBody>
      </p:sp>
      <p:sp>
        <p:nvSpPr>
          <p:cNvPr id="571" name="Google Shape;571;p82"/>
          <p:cNvSpPr txBox="1"/>
          <p:nvPr>
            <p:ph idx="1" type="body"/>
          </p:nvPr>
        </p:nvSpPr>
        <p:spPr>
          <a:xfrm>
            <a:off x="311700" y="1152475"/>
            <a:ext cx="4548300" cy="367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POSIX mantra; “</a:t>
            </a:r>
            <a:r>
              <a:rPr b="1" lang="en"/>
              <a:t>Everything is a file</a:t>
            </a:r>
            <a:r>
              <a:rPr lang="en"/>
              <a:t>” </a:t>
            </a:r>
            <a:endParaRPr/>
          </a:p>
          <a:p>
            <a:pPr indent="-317500" lvl="0" marL="457200" rtl="0" algn="l">
              <a:spcBef>
                <a:spcPts val="1600"/>
              </a:spcBef>
              <a:spcAft>
                <a:spcPts val="0"/>
              </a:spcAft>
              <a:buSzPts val="1400"/>
              <a:buChar char="●"/>
            </a:pPr>
            <a:r>
              <a:rPr lang="en"/>
              <a:t>Everything is a </a:t>
            </a:r>
            <a:r>
              <a:rPr b="1" lang="en"/>
              <a:t>file descriptor </a:t>
            </a:r>
            <a:endParaRPr b="1"/>
          </a:p>
          <a:p>
            <a:pPr indent="-304800" lvl="1" marL="914400" rtl="0" algn="l">
              <a:spcBef>
                <a:spcPts val="0"/>
              </a:spcBef>
              <a:spcAft>
                <a:spcPts val="0"/>
              </a:spcAft>
              <a:buSzPts val="1200"/>
              <a:buChar char="○"/>
            </a:pPr>
            <a:r>
              <a:rPr lang="en"/>
              <a:t>an integer. </a:t>
            </a:r>
            <a:endParaRPr/>
          </a:p>
          <a:p>
            <a:pPr indent="0" lvl="0" marL="0" rtl="0" algn="l">
              <a:spcBef>
                <a:spcPts val="1600"/>
              </a:spcBef>
              <a:spcAft>
                <a:spcPts val="0"/>
              </a:spcAft>
              <a:buClr>
                <a:schemeClr val="dk1"/>
              </a:buClr>
              <a:buSzPts val="1100"/>
              <a:buFont typeface="Arial"/>
              <a:buNone/>
            </a:pPr>
            <a:r>
              <a:rPr b="1" lang="en">
                <a:solidFill>
                  <a:srgbClr val="A31515"/>
                </a:solidFill>
                <a:latin typeface="Consolas"/>
                <a:ea typeface="Consolas"/>
                <a:cs typeface="Consolas"/>
                <a:sym typeface="Consolas"/>
              </a:rPr>
              <a:t>int file_fd = open(...);</a:t>
            </a:r>
            <a:endParaRPr b="1">
              <a:solidFill>
                <a:srgbClr val="A31515"/>
              </a:solidFill>
              <a:latin typeface="Consolas"/>
              <a:ea typeface="Consolas"/>
              <a:cs typeface="Consolas"/>
              <a:sym typeface="Consolas"/>
            </a:endParaRPr>
          </a:p>
          <a:p>
            <a:pPr indent="0" lvl="0" marL="0" rtl="0" algn="l">
              <a:spcBef>
                <a:spcPts val="1600"/>
              </a:spcBef>
              <a:spcAft>
                <a:spcPts val="0"/>
              </a:spcAft>
              <a:buClr>
                <a:schemeClr val="dk1"/>
              </a:buClr>
              <a:buSzPts val="1100"/>
              <a:buFont typeface="Arial"/>
              <a:buNone/>
            </a:pPr>
            <a:r>
              <a:rPr b="1" lang="en">
                <a:solidFill>
                  <a:srgbClr val="A31515"/>
                </a:solidFill>
                <a:latin typeface="Consolas"/>
                <a:ea typeface="Consolas"/>
                <a:cs typeface="Consolas"/>
                <a:sym typeface="Consolas"/>
              </a:rPr>
              <a:t>int network_fd = socket(...);</a:t>
            </a:r>
            <a:endParaRPr b="1">
              <a:solidFill>
                <a:srgbClr val="A31515"/>
              </a:solidFill>
              <a:latin typeface="Consolas"/>
              <a:ea typeface="Consolas"/>
              <a:cs typeface="Consolas"/>
              <a:sym typeface="Consolas"/>
            </a:endParaRPr>
          </a:p>
          <a:p>
            <a:pPr indent="0" lvl="0" marL="0" rtl="0" algn="l">
              <a:spcBef>
                <a:spcPts val="1600"/>
              </a:spcBef>
              <a:spcAft>
                <a:spcPts val="0"/>
              </a:spcAft>
              <a:buClr>
                <a:schemeClr val="dk1"/>
              </a:buClr>
              <a:buSzPts val="1100"/>
              <a:buFont typeface="Arial"/>
              <a:buNone/>
            </a:pPr>
            <a:r>
              <a:rPr b="1" lang="en">
                <a:solidFill>
                  <a:srgbClr val="A31515"/>
                </a:solidFill>
                <a:latin typeface="Consolas"/>
                <a:ea typeface="Consolas"/>
                <a:cs typeface="Consolas"/>
                <a:sym typeface="Consolas"/>
              </a:rPr>
              <a:t>int kernel_fd = epoll_create1(...);</a:t>
            </a:r>
            <a:endParaRPr b="1">
              <a:solidFill>
                <a:srgbClr val="A31515"/>
              </a:solidFill>
              <a:latin typeface="Consolas"/>
              <a:ea typeface="Consolas"/>
              <a:cs typeface="Consolas"/>
              <a:sym typeface="Consolas"/>
            </a:endParaRPr>
          </a:p>
          <a:p>
            <a:pPr indent="-317500" lvl="0" marL="457200" rtl="0" algn="l">
              <a:spcBef>
                <a:spcPts val="1600"/>
              </a:spcBef>
              <a:spcAft>
                <a:spcPts val="0"/>
              </a:spcAft>
              <a:buSzPts val="1400"/>
              <a:buChar char="●"/>
            </a:pPr>
            <a:r>
              <a:rPr lang="en"/>
              <a:t>These are all references to </a:t>
            </a:r>
            <a:r>
              <a:rPr b="1" lang="en"/>
              <a:t>the kernel’s file descriptor table (a table of objects)</a:t>
            </a:r>
            <a:r>
              <a:rPr lang="en"/>
              <a:t>.</a:t>
            </a:r>
            <a:endParaRPr/>
          </a:p>
          <a:p>
            <a:pPr indent="-317500" lvl="0" marL="457200" rtl="0" algn="l">
              <a:spcBef>
                <a:spcPts val="0"/>
              </a:spcBef>
              <a:spcAft>
                <a:spcPts val="0"/>
              </a:spcAft>
              <a:buSzPts val="1400"/>
              <a:buChar char="●"/>
            </a:pPr>
            <a:r>
              <a:rPr lang="en"/>
              <a:t>File descriptors are simply pointers to these objects.</a:t>
            </a:r>
            <a:endParaRPr/>
          </a:p>
        </p:txBody>
      </p:sp>
      <p:sp>
        <p:nvSpPr>
          <p:cNvPr id="572" name="Google Shape;572;p8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Operations on </a:t>
            </a:r>
            <a:r>
              <a:rPr b="1" lang="en"/>
              <a:t>these objects</a:t>
            </a:r>
            <a:endParaRPr b="1"/>
          </a:p>
          <a:p>
            <a:pPr indent="-317500" lvl="0" marL="457200" rtl="0" algn="l">
              <a:spcBef>
                <a:spcPts val="1600"/>
              </a:spcBef>
              <a:spcAft>
                <a:spcPts val="0"/>
              </a:spcAft>
              <a:buSzPts val="1400"/>
              <a:buChar char="●"/>
            </a:pPr>
            <a:r>
              <a:rPr lang="en"/>
              <a:t>open, close, allocation, deallocation</a:t>
            </a:r>
            <a:endParaRPr/>
          </a:p>
          <a:p>
            <a:pPr indent="-304800" lvl="1" marL="914400" rtl="0" algn="l">
              <a:spcBef>
                <a:spcPts val="0"/>
              </a:spcBef>
              <a:spcAft>
                <a:spcPts val="0"/>
              </a:spcAft>
              <a:buSzPts val="1200"/>
              <a:buChar char="○"/>
            </a:pPr>
            <a:r>
              <a:rPr lang="en"/>
              <a:t>are done through </a:t>
            </a:r>
            <a:r>
              <a:rPr b="1" lang="en"/>
              <a:t>system calls.</a:t>
            </a:r>
            <a:endParaRPr b="1"/>
          </a:p>
          <a:p>
            <a:pPr indent="0" lvl="0" marL="0" rtl="0" algn="l">
              <a:spcBef>
                <a:spcPts val="1600"/>
              </a:spcBef>
              <a:spcAft>
                <a:spcPts val="0"/>
              </a:spcAft>
              <a:buNone/>
            </a:pPr>
            <a:r>
              <a:t/>
            </a:r>
            <a:endParaRPr b="1"/>
          </a:p>
          <a:p>
            <a:pPr indent="0" lvl="0" marL="0" rtl="0" algn="l">
              <a:spcBef>
                <a:spcPts val="1600"/>
              </a:spcBef>
              <a:spcAft>
                <a:spcPts val="0"/>
              </a:spcAft>
              <a:buNone/>
            </a:pPr>
            <a:r>
              <a:t/>
            </a:r>
            <a:endParaRPr b="1"/>
          </a:p>
          <a:p>
            <a:pPr indent="0" lvl="0" marL="0" rtl="0" algn="l">
              <a:spcBef>
                <a:spcPts val="1600"/>
              </a:spcBef>
              <a:spcAft>
                <a:spcPts val="1600"/>
              </a:spcAft>
              <a:buNone/>
            </a:pPr>
            <a:r>
              <a:rPr lang="en"/>
              <a:t>The program interacts with these objects using the API specified through system calls and library functions.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8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 calls</a:t>
            </a:r>
            <a:endParaRPr/>
          </a:p>
        </p:txBody>
      </p:sp>
      <p:sp>
        <p:nvSpPr>
          <p:cNvPr id="578" name="Google Shape;578;p83"/>
          <p:cNvSpPr txBox="1"/>
          <p:nvPr>
            <p:ph idx="1" type="body"/>
          </p:nvPr>
        </p:nvSpPr>
        <p:spPr>
          <a:xfrm>
            <a:off x="311700" y="1152475"/>
            <a:ext cx="2924100" cy="375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rPr>
              <a:t>User processes</a:t>
            </a:r>
            <a:endParaRPr sz="1700">
              <a:solidFill>
                <a:schemeClr val="dk1"/>
              </a:solidFill>
            </a:endParaRPr>
          </a:p>
          <a:p>
            <a:pPr indent="-336550" lvl="0" marL="457200" rtl="0" algn="l">
              <a:spcBef>
                <a:spcPts val="1600"/>
              </a:spcBef>
              <a:spcAft>
                <a:spcPts val="0"/>
              </a:spcAft>
              <a:buClr>
                <a:schemeClr val="dk1"/>
              </a:buClr>
              <a:buSzPts val="1700"/>
              <a:buChar char="●"/>
            </a:pPr>
            <a:r>
              <a:rPr lang="en" sz="1700">
                <a:solidFill>
                  <a:schemeClr val="dk1"/>
                </a:solidFill>
              </a:rPr>
              <a:t>cannot perform privileged operations </a:t>
            </a:r>
            <a:endParaRPr sz="1700">
              <a:solidFill>
                <a:schemeClr val="dk1"/>
              </a:solidFill>
            </a:endParaRPr>
          </a:p>
          <a:p>
            <a:pPr indent="0" lvl="0" marL="457200" rtl="0" algn="l">
              <a:spcBef>
                <a:spcPts val="1600"/>
              </a:spcBef>
              <a:spcAft>
                <a:spcPts val="0"/>
              </a:spcAft>
              <a:buNone/>
            </a:pPr>
            <a:r>
              <a:t/>
            </a:r>
            <a:endParaRPr sz="1700">
              <a:solidFill>
                <a:schemeClr val="dk1"/>
              </a:solidFill>
            </a:endParaRPr>
          </a:p>
          <a:p>
            <a:pPr indent="-336550" lvl="0" marL="457200" rtl="0" algn="l">
              <a:spcBef>
                <a:spcPts val="1600"/>
              </a:spcBef>
              <a:spcAft>
                <a:spcPts val="0"/>
              </a:spcAft>
              <a:buClr>
                <a:schemeClr val="dk1"/>
              </a:buClr>
              <a:buSzPts val="1700"/>
              <a:buChar char="●"/>
            </a:pPr>
            <a:r>
              <a:rPr lang="en" sz="1700">
                <a:solidFill>
                  <a:schemeClr val="dk1"/>
                </a:solidFill>
              </a:rPr>
              <a:t>request OS to do so on their behalf by issuing </a:t>
            </a:r>
            <a:r>
              <a:rPr b="1" lang="en" sz="1700">
                <a:solidFill>
                  <a:schemeClr val="dk1"/>
                </a:solidFill>
              </a:rPr>
              <a:t>system calls</a:t>
            </a:r>
            <a:endParaRPr b="1" sz="1700">
              <a:solidFill>
                <a:schemeClr val="dk1"/>
              </a:solidFill>
            </a:endParaRPr>
          </a:p>
          <a:p>
            <a:pPr indent="0" lvl="0" marL="0" rtl="0" algn="l">
              <a:spcBef>
                <a:spcPts val="1600"/>
              </a:spcBef>
              <a:spcAft>
                <a:spcPts val="1600"/>
              </a:spcAft>
              <a:buNone/>
            </a:pPr>
            <a:r>
              <a:t/>
            </a:r>
            <a:endParaRPr sz="1700">
              <a:solidFill>
                <a:schemeClr val="dk1"/>
              </a:solidFill>
            </a:endParaRPr>
          </a:p>
        </p:txBody>
      </p:sp>
      <p:sp>
        <p:nvSpPr>
          <p:cNvPr id="579" name="Google Shape;579;p83"/>
          <p:cNvSpPr txBox="1"/>
          <p:nvPr>
            <p:ph idx="2" type="body"/>
          </p:nvPr>
        </p:nvSpPr>
        <p:spPr>
          <a:xfrm>
            <a:off x="4079625" y="445025"/>
            <a:ext cx="4752600" cy="461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chemeClr val="dk1"/>
                </a:solidFill>
              </a:rPr>
              <a:t>A</a:t>
            </a:r>
            <a:r>
              <a:rPr b="1" lang="en" sz="1700">
                <a:solidFill>
                  <a:schemeClr val="dk1"/>
                </a:solidFill>
              </a:rPr>
              <a:t> system call</a:t>
            </a:r>
            <a:r>
              <a:rPr lang="en" sz="1700">
                <a:solidFill>
                  <a:schemeClr val="dk1"/>
                </a:solidFill>
              </a:rPr>
              <a:t> is a request made by </a:t>
            </a:r>
            <a:r>
              <a:rPr b="1" lang="en" sz="1700">
                <a:solidFill>
                  <a:schemeClr val="dk1"/>
                </a:solidFill>
              </a:rPr>
              <a:t>an </a:t>
            </a:r>
            <a:r>
              <a:rPr b="1" i="1" lang="en" sz="1700">
                <a:solidFill>
                  <a:schemeClr val="dk1"/>
                </a:solidFill>
              </a:rPr>
              <a:t>active process (through traps or software interrupts)</a:t>
            </a:r>
            <a:r>
              <a:rPr lang="en" sz="1700">
                <a:solidFill>
                  <a:schemeClr val="dk1"/>
                </a:solidFill>
              </a:rPr>
              <a:t> for a service performed by the kernel.</a:t>
            </a:r>
            <a:endParaRPr sz="1700">
              <a:solidFill>
                <a:schemeClr val="dk1"/>
              </a:solidFill>
            </a:endParaRPr>
          </a:p>
          <a:p>
            <a:pPr indent="0" lvl="0" marL="0" rtl="0" algn="l">
              <a:spcBef>
                <a:spcPts val="1600"/>
              </a:spcBef>
              <a:spcAft>
                <a:spcPts val="0"/>
              </a:spcAft>
              <a:buClr>
                <a:schemeClr val="dk1"/>
              </a:buClr>
              <a:buSzPts val="1100"/>
              <a:buFont typeface="Arial"/>
              <a:buNone/>
            </a:pPr>
            <a:r>
              <a:rPr lang="en" sz="1700">
                <a:solidFill>
                  <a:schemeClr val="dk1"/>
                </a:solidFill>
              </a:rPr>
              <a:t> Examples:</a:t>
            </a:r>
            <a:endParaRPr sz="1700">
              <a:solidFill>
                <a:schemeClr val="dk1"/>
              </a:solidFill>
            </a:endParaRPr>
          </a:p>
          <a:p>
            <a:pPr indent="-336550" lvl="0" marL="457200" rtl="0" algn="l">
              <a:spcBef>
                <a:spcPts val="1600"/>
              </a:spcBef>
              <a:spcAft>
                <a:spcPts val="0"/>
              </a:spcAft>
              <a:buClr>
                <a:schemeClr val="dk1"/>
              </a:buClr>
              <a:buSzPts val="1700"/>
              <a:buChar char="●"/>
            </a:pPr>
            <a:r>
              <a:rPr lang="en" sz="1700">
                <a:solidFill>
                  <a:schemeClr val="dk1"/>
                </a:solidFill>
              </a:rPr>
              <a:t>input/output (i.e., any movement of information to or from the combination of the CPU and main memory)</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creation of a new process. </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And many more </a:t>
            </a:r>
            <a:r>
              <a:rPr lang="en" sz="1700" u="sng">
                <a:solidFill>
                  <a:schemeClr val="accent5"/>
                </a:solidFill>
                <a:hlinkClick r:id="rId3">
                  <a:extLst>
                    <a:ext uri="{A12FA001-AC4F-418D-AE19-62706E023703}">
                      <ahyp:hlinkClr val="tx"/>
                    </a:ext>
                  </a:extLst>
                </a:hlinkClick>
              </a:rPr>
              <a:t>https://man7.org/linux/man-pages/man2/syscalls.2.html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do we need a system call?</a:t>
            </a:r>
            <a:endParaRPr/>
          </a:p>
        </p:txBody>
      </p:sp>
      <p:pic>
        <p:nvPicPr>
          <p:cNvPr id="585" name="Google Shape;585;p84"/>
          <p:cNvPicPr preferRelativeResize="0"/>
          <p:nvPr/>
        </p:nvPicPr>
        <p:blipFill rotWithShape="1">
          <a:blip r:embed="rId3">
            <a:alphaModFix/>
          </a:blip>
          <a:srcRect b="11676" l="2704" r="0" t="0"/>
          <a:stretch/>
        </p:blipFill>
        <p:spPr>
          <a:xfrm>
            <a:off x="868425" y="1038975"/>
            <a:ext cx="7413526" cy="3206675"/>
          </a:xfrm>
          <a:prstGeom prst="rect">
            <a:avLst/>
          </a:prstGeom>
          <a:noFill/>
          <a:ln>
            <a:noFill/>
          </a:ln>
        </p:spPr>
      </p:pic>
      <p:sp>
        <p:nvSpPr>
          <p:cNvPr id="586" name="Google Shape;586;p84"/>
          <p:cNvSpPr txBox="1"/>
          <p:nvPr/>
        </p:nvSpPr>
        <p:spPr>
          <a:xfrm>
            <a:off x="1403400" y="4743300"/>
            <a:ext cx="545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https://www.guru99.com/system-call-operating-system.html#2</a:t>
            </a:r>
            <a:r>
              <a:rPr lang="en"/>
              <a:t> </a:t>
            </a:r>
            <a:endParaRPr/>
          </a:p>
        </p:txBody>
      </p:sp>
      <p:sp>
        <p:nvSpPr>
          <p:cNvPr id="587" name="Google Shape;587;p84"/>
          <p:cNvSpPr txBox="1"/>
          <p:nvPr/>
        </p:nvSpPr>
        <p:spPr>
          <a:xfrm>
            <a:off x="1280475" y="3964550"/>
            <a:ext cx="1939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t>
            </a:r>
            <a:r>
              <a:rPr lang="en" sz="1000"/>
              <a:t>Privileged</a:t>
            </a:r>
            <a:r>
              <a:rPr lang="en" sz="1000"/>
              <a:t> mode)</a:t>
            </a:r>
            <a:endParaRPr sz="10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8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we </a:t>
            </a:r>
            <a:r>
              <a:rPr lang="en"/>
              <a:t>switch(transition)</a:t>
            </a:r>
            <a:r>
              <a:rPr lang="en"/>
              <a:t> to kernel mode?</a:t>
            </a:r>
            <a:endParaRPr/>
          </a:p>
        </p:txBody>
      </p:sp>
      <p:sp>
        <p:nvSpPr>
          <p:cNvPr id="593" name="Google Shape;593;p85"/>
          <p:cNvSpPr txBox="1"/>
          <p:nvPr/>
        </p:nvSpPr>
        <p:spPr>
          <a:xfrm>
            <a:off x="346450" y="4374225"/>
            <a:ext cx="61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https://man7.org/linux/man-pages/man2/syscall.2.html</a:t>
            </a:r>
            <a:r>
              <a:rPr lang="en"/>
              <a:t> </a:t>
            </a:r>
            <a:endParaRPr/>
          </a:p>
        </p:txBody>
      </p:sp>
      <p:sp>
        <p:nvSpPr>
          <p:cNvPr id="594" name="Google Shape;594;p85"/>
          <p:cNvSpPr txBox="1"/>
          <p:nvPr/>
        </p:nvSpPr>
        <p:spPr>
          <a:xfrm>
            <a:off x="195000" y="1048150"/>
            <a:ext cx="8754000" cy="340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Arch/ABI    Instruction           System  Ret  Ret  Error    Notes</a:t>
            </a:r>
            <a:endParaRPr sz="1100"/>
          </a:p>
          <a:p>
            <a:pPr indent="0" lvl="0" marL="0" rtl="0" algn="l">
              <a:spcBef>
                <a:spcPts val="0"/>
              </a:spcBef>
              <a:spcAft>
                <a:spcPts val="0"/>
              </a:spcAft>
              <a:buNone/>
            </a:pPr>
            <a:r>
              <a:rPr lang="en" sz="1100"/>
              <a:t>                                         call #  val  val2</a:t>
            </a:r>
            <a:endParaRPr sz="1100"/>
          </a:p>
          <a:p>
            <a:pPr indent="0" lvl="0" marL="0" rtl="0" algn="l">
              <a:spcBef>
                <a:spcPts val="0"/>
              </a:spcBef>
              <a:spcAft>
                <a:spcPts val="0"/>
              </a:spcAft>
              <a:buNone/>
            </a:pPr>
            <a:r>
              <a:rPr lang="en" sz="1100"/>
              <a:t>  ───────────────────────────────────────────────────────────────────</a:t>
            </a:r>
            <a:endParaRPr sz="1100"/>
          </a:p>
          <a:p>
            <a:pPr indent="0" lvl="0" marL="0" rtl="0" algn="l">
              <a:spcBef>
                <a:spcPts val="0"/>
              </a:spcBef>
              <a:spcAft>
                <a:spcPts val="0"/>
              </a:spcAft>
              <a:buNone/>
            </a:pPr>
            <a:r>
              <a:rPr lang="en" sz="1100"/>
              <a:t>       alpha       callsys               v0      v0   a4   a3       1, 6</a:t>
            </a:r>
            <a:endParaRPr sz="1100"/>
          </a:p>
          <a:p>
            <a:pPr indent="0" lvl="0" marL="0" rtl="0" algn="l">
              <a:spcBef>
                <a:spcPts val="0"/>
              </a:spcBef>
              <a:spcAft>
                <a:spcPts val="0"/>
              </a:spcAft>
              <a:buNone/>
            </a:pPr>
            <a:r>
              <a:rPr lang="en" sz="1100"/>
              <a:t>       arc        	 trap0                 r8      r0   -    -</a:t>
            </a:r>
            <a:endParaRPr sz="1100"/>
          </a:p>
          <a:p>
            <a:pPr indent="0" lvl="0" marL="0" rtl="0" algn="l">
              <a:spcBef>
                <a:spcPts val="0"/>
              </a:spcBef>
              <a:spcAft>
                <a:spcPts val="0"/>
              </a:spcAft>
              <a:buNone/>
            </a:pPr>
            <a:r>
              <a:rPr lang="en" sz="1100"/>
              <a:t>       arm/OABI    swi NR                -       r0   -    -        2</a:t>
            </a:r>
            <a:endParaRPr sz="1100"/>
          </a:p>
          <a:p>
            <a:pPr indent="0" lvl="0" marL="0" rtl="0" algn="l">
              <a:spcBef>
                <a:spcPts val="0"/>
              </a:spcBef>
              <a:spcAft>
                <a:spcPts val="0"/>
              </a:spcAft>
              <a:buNone/>
            </a:pPr>
            <a:r>
              <a:rPr lang="en" sz="1100"/>
              <a:t>       arm/EABI    swi 0x0               r7      r0   r1   -</a:t>
            </a:r>
            <a:endParaRPr sz="1100"/>
          </a:p>
          <a:p>
            <a:pPr indent="0" lvl="0" marL="0" rtl="0" algn="l">
              <a:spcBef>
                <a:spcPts val="0"/>
              </a:spcBef>
              <a:spcAft>
                <a:spcPts val="0"/>
              </a:spcAft>
              <a:buNone/>
            </a:pPr>
            <a:r>
              <a:rPr lang="en" sz="1100"/>
              <a:t>       arm64       svc #0                w8      x0   x1   -</a:t>
            </a:r>
            <a:endParaRPr sz="1100"/>
          </a:p>
          <a:p>
            <a:pPr indent="0" lvl="0" marL="0" rtl="0" algn="l">
              <a:spcBef>
                <a:spcPts val="0"/>
              </a:spcBef>
              <a:spcAft>
                <a:spcPts val="0"/>
              </a:spcAft>
              <a:buNone/>
            </a:pPr>
            <a:r>
              <a:rPr lang="en" sz="1100"/>
              <a:t>       blackfin    excpt 0x0             P0      R0   -    -</a:t>
            </a:r>
            <a:endParaRPr sz="1100"/>
          </a:p>
          <a:p>
            <a:pPr indent="0" lvl="0" marL="0" rtl="0" algn="l">
              <a:spcBef>
                <a:spcPts val="0"/>
              </a:spcBef>
              <a:spcAft>
                <a:spcPts val="0"/>
              </a:spcAft>
              <a:buNone/>
            </a:pPr>
            <a:r>
              <a:rPr lang="en" sz="1100"/>
              <a:t>      </a:t>
            </a:r>
            <a:r>
              <a:rPr b="1" lang="en" sz="1100"/>
              <a:t> i386        int $0x80             eax     eax  edx  -</a:t>
            </a:r>
            <a:endParaRPr b="1" sz="1100"/>
          </a:p>
          <a:p>
            <a:pPr indent="0" lvl="0" marL="0" rtl="0" algn="l">
              <a:spcBef>
                <a:spcPts val="0"/>
              </a:spcBef>
              <a:spcAft>
                <a:spcPts val="0"/>
              </a:spcAft>
              <a:buNone/>
            </a:pPr>
            <a:r>
              <a:rPr lang="en" sz="1100"/>
              <a:t>       ia64        break 0x100000        r15     r8   r9   r10      1, 6</a:t>
            </a:r>
            <a:endParaRPr sz="1100"/>
          </a:p>
          <a:p>
            <a:pPr indent="0" lvl="0" marL="0" rtl="0" algn="l">
              <a:spcBef>
                <a:spcPts val="0"/>
              </a:spcBef>
              <a:spcAft>
                <a:spcPts val="0"/>
              </a:spcAft>
              <a:buNone/>
            </a:pPr>
            <a:r>
              <a:rPr lang="en" sz="1100"/>
              <a:t>       m68k        trap #0               d0      d0   -    -</a:t>
            </a:r>
            <a:endParaRPr sz="1100"/>
          </a:p>
          <a:p>
            <a:pPr indent="0" lvl="0" marL="0" rtl="0" algn="l">
              <a:spcBef>
                <a:spcPts val="0"/>
              </a:spcBef>
              <a:spcAft>
                <a:spcPts val="0"/>
              </a:spcAft>
              <a:buNone/>
            </a:pPr>
            <a:r>
              <a:rPr lang="en" sz="1100"/>
              <a:t>       microblaze  brki r14,8            r12     r3   -    -</a:t>
            </a:r>
            <a:endParaRPr sz="1100"/>
          </a:p>
          <a:p>
            <a:pPr indent="0" lvl="0" marL="0" rtl="0" algn="l">
              <a:spcBef>
                <a:spcPts val="0"/>
              </a:spcBef>
              <a:spcAft>
                <a:spcPts val="0"/>
              </a:spcAft>
              <a:buNone/>
            </a:pPr>
            <a:r>
              <a:rPr lang="en" sz="1100"/>
              <a:t>       mips        syscall               v0      v0   v1   a3       1, 6</a:t>
            </a:r>
            <a:endParaRPr sz="1100"/>
          </a:p>
          <a:p>
            <a:pPr indent="0" lvl="0" marL="0" rtl="0" algn="l">
              <a:spcBef>
                <a:spcPts val="0"/>
              </a:spcBef>
              <a:spcAft>
                <a:spcPts val="0"/>
              </a:spcAft>
              <a:buNone/>
            </a:pPr>
            <a:r>
              <a:rPr lang="en" sz="1100"/>
              <a:t>       nios2       trap                  r2      r2   -    r7</a:t>
            </a:r>
            <a:endParaRPr sz="1100"/>
          </a:p>
          <a:p>
            <a:pPr indent="0" lvl="0" marL="0" rtl="0" algn="l">
              <a:spcBef>
                <a:spcPts val="0"/>
              </a:spcBef>
              <a:spcAft>
                <a:spcPts val="0"/>
              </a:spcAft>
              <a:buNone/>
            </a:pPr>
            <a:r>
              <a:rPr lang="en" sz="1100"/>
              <a:t>…</a:t>
            </a:r>
            <a:endParaRPr sz="1100"/>
          </a:p>
          <a:p>
            <a:pPr indent="0" lvl="0" marL="0" rtl="0" algn="l">
              <a:spcBef>
                <a:spcPts val="0"/>
              </a:spcBef>
              <a:spcAft>
                <a:spcPts val="0"/>
              </a:spcAft>
              <a:buNone/>
            </a:pPr>
            <a:r>
              <a:rPr lang="en" sz="1100"/>
              <a:t>       </a:t>
            </a:r>
            <a:r>
              <a:rPr b="1" lang="en" sz="1100"/>
              <a:t>x86-64      syscall               rax     rax  rdx  -        5</a:t>
            </a:r>
            <a:endParaRPr b="1" sz="1100"/>
          </a:p>
          <a:p>
            <a:pPr indent="0" lvl="0" marL="0" rtl="0" algn="l">
              <a:spcBef>
                <a:spcPts val="0"/>
              </a:spcBef>
              <a:spcAft>
                <a:spcPts val="0"/>
              </a:spcAft>
              <a:buNone/>
            </a:pPr>
            <a:r>
              <a:rPr lang="en" sz="1100"/>
              <a:t>       x32         syscall               rax     rax  rdx  -        5</a:t>
            </a:r>
            <a:endParaRPr sz="1100"/>
          </a:p>
          <a:p>
            <a:pPr indent="0" lvl="0" marL="0" rtl="0" algn="l">
              <a:spcBef>
                <a:spcPts val="0"/>
              </a:spcBef>
              <a:spcAft>
                <a:spcPts val="0"/>
              </a:spcAft>
              <a:buNone/>
            </a:pPr>
            <a:r>
              <a:rPr lang="en" sz="1100"/>
              <a:t>       xtensa      syscall               a2      a2   -    -</a:t>
            </a:r>
            <a:endParaRPr sz="11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86"/>
          <p:cNvSpPr txBox="1"/>
          <p:nvPr/>
        </p:nvSpPr>
        <p:spPr>
          <a:xfrm>
            <a:off x="977225" y="56275"/>
            <a:ext cx="6675000" cy="1322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150">
                <a:solidFill>
                  <a:srgbClr val="808080"/>
                </a:solidFill>
                <a:highlight>
                  <a:srgbClr val="FFFFFF"/>
                </a:highlight>
                <a:latin typeface="Consolas"/>
                <a:ea typeface="Consolas"/>
                <a:cs typeface="Consolas"/>
                <a:sym typeface="Consolas"/>
              </a:rPr>
              <a:t>#include</a:t>
            </a:r>
            <a:r>
              <a:rPr b="1" lang="en" sz="1150">
                <a:solidFill>
                  <a:schemeClr val="dk1"/>
                </a:solidFill>
                <a:highlight>
                  <a:srgbClr val="FFFFFF"/>
                </a:highlight>
                <a:latin typeface="Consolas"/>
                <a:ea typeface="Consolas"/>
                <a:cs typeface="Consolas"/>
                <a:sym typeface="Consolas"/>
              </a:rPr>
              <a:t> </a:t>
            </a:r>
            <a:r>
              <a:rPr b="1" lang="en" sz="1150">
                <a:solidFill>
                  <a:srgbClr val="E21F1F"/>
                </a:solidFill>
                <a:highlight>
                  <a:srgbClr val="FFFFFF"/>
                </a:highlight>
                <a:latin typeface="Consolas"/>
                <a:ea typeface="Consolas"/>
                <a:cs typeface="Consolas"/>
                <a:sym typeface="Consolas"/>
              </a:rPr>
              <a:t>&lt;</a:t>
            </a:r>
            <a:r>
              <a:rPr b="1" lang="en" sz="1150">
                <a:solidFill>
                  <a:srgbClr val="A31515"/>
                </a:solidFill>
                <a:highlight>
                  <a:srgbClr val="FFFFFF"/>
                </a:highlight>
                <a:latin typeface="Consolas"/>
                <a:ea typeface="Consolas"/>
                <a:cs typeface="Consolas"/>
                <a:sym typeface="Consolas"/>
              </a:rPr>
              <a:t>unistd.h</a:t>
            </a:r>
            <a:r>
              <a:rPr b="1" lang="en" sz="1150">
                <a:solidFill>
                  <a:srgbClr val="E21F1F"/>
                </a:solidFill>
                <a:highlight>
                  <a:srgbClr val="FFFFFF"/>
                </a:highlight>
                <a:latin typeface="Consolas"/>
                <a:ea typeface="Consolas"/>
                <a:cs typeface="Consolas"/>
                <a:sym typeface="Consolas"/>
              </a:rPr>
              <a:t>&gt;</a:t>
            </a:r>
            <a:endParaRPr b="1" sz="11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50">
                <a:solidFill>
                  <a:srgbClr val="0000FF"/>
                </a:solidFill>
                <a:highlight>
                  <a:srgbClr val="FFFFFF"/>
                </a:highlight>
                <a:latin typeface="Consolas"/>
                <a:ea typeface="Consolas"/>
                <a:cs typeface="Consolas"/>
                <a:sym typeface="Consolas"/>
              </a:rPr>
              <a:t>int</a:t>
            </a:r>
            <a:r>
              <a:rPr b="1" lang="en" sz="1150">
                <a:solidFill>
                  <a:schemeClr val="dk1"/>
                </a:solidFill>
                <a:highlight>
                  <a:srgbClr val="FFFFFF"/>
                </a:highlight>
                <a:latin typeface="Consolas"/>
                <a:ea typeface="Consolas"/>
                <a:cs typeface="Consolas"/>
                <a:sym typeface="Consolas"/>
              </a:rPr>
              <a:t> </a:t>
            </a:r>
            <a:r>
              <a:rPr b="1" lang="en" sz="1150">
                <a:solidFill>
                  <a:srgbClr val="74531F"/>
                </a:solidFill>
                <a:highlight>
                  <a:srgbClr val="FFFFFF"/>
                </a:highlight>
                <a:latin typeface="Consolas"/>
                <a:ea typeface="Consolas"/>
                <a:cs typeface="Consolas"/>
                <a:sym typeface="Consolas"/>
              </a:rPr>
              <a:t>main</a:t>
            </a:r>
            <a:r>
              <a:rPr b="1" lang="en" sz="1150">
                <a:solidFill>
                  <a:schemeClr val="dk1"/>
                </a:solidFill>
                <a:highlight>
                  <a:srgbClr val="FFFFFF"/>
                </a:highlight>
                <a:latin typeface="Consolas"/>
                <a:ea typeface="Consolas"/>
                <a:cs typeface="Consolas"/>
                <a:sym typeface="Consolas"/>
              </a:rPr>
              <a:t>(</a:t>
            </a:r>
            <a:r>
              <a:rPr b="1" lang="en" sz="1150">
                <a:solidFill>
                  <a:srgbClr val="0000FF"/>
                </a:solidFill>
                <a:highlight>
                  <a:srgbClr val="FFFFFF"/>
                </a:highlight>
                <a:latin typeface="Consolas"/>
                <a:ea typeface="Consolas"/>
                <a:cs typeface="Consolas"/>
                <a:sym typeface="Consolas"/>
              </a:rPr>
              <a:t>int</a:t>
            </a:r>
            <a:r>
              <a:rPr b="1" lang="en" sz="1150">
                <a:solidFill>
                  <a:schemeClr val="dk1"/>
                </a:solidFill>
                <a:highlight>
                  <a:srgbClr val="FFFFFF"/>
                </a:highlight>
                <a:latin typeface="Consolas"/>
                <a:ea typeface="Consolas"/>
                <a:cs typeface="Consolas"/>
                <a:sym typeface="Consolas"/>
              </a:rPr>
              <a:t> </a:t>
            </a:r>
            <a:r>
              <a:rPr b="1" lang="en" sz="1150">
                <a:solidFill>
                  <a:srgbClr val="808080"/>
                </a:solidFill>
                <a:highlight>
                  <a:srgbClr val="FFFFFF"/>
                </a:highlight>
                <a:latin typeface="Consolas"/>
                <a:ea typeface="Consolas"/>
                <a:cs typeface="Consolas"/>
                <a:sym typeface="Consolas"/>
              </a:rPr>
              <a:t>argc</a:t>
            </a: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a:t>
            </a:r>
            <a:r>
              <a:rPr b="1" lang="en" sz="1150">
                <a:solidFill>
                  <a:srgbClr val="808080"/>
                </a:solidFill>
                <a:highlight>
                  <a:srgbClr val="FFFFFF"/>
                </a:highlight>
                <a:latin typeface="Consolas"/>
                <a:ea typeface="Consolas"/>
                <a:cs typeface="Consolas"/>
                <a:sym typeface="Consolas"/>
              </a:rPr>
              <a:t>argv</a:t>
            </a:r>
            <a:r>
              <a:rPr b="1" lang="en" sz="1150">
                <a:solidFill>
                  <a:srgbClr val="0000FF"/>
                </a:solidFill>
                <a:highlight>
                  <a:srgbClr val="FFFFFF"/>
                </a:highlight>
                <a:latin typeface="Consolas"/>
                <a:ea typeface="Consolas"/>
                <a:cs typeface="Consolas"/>
                <a:sym typeface="Consolas"/>
              </a:rPr>
              <a:t>[]</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   </a:t>
            </a:r>
            <a:r>
              <a:rPr b="1" lang="en" sz="1150">
                <a:solidFill>
                  <a:srgbClr val="74531F"/>
                </a:solidFill>
                <a:highlight>
                  <a:srgbClr val="FFFFFF"/>
                </a:highlight>
                <a:latin typeface="Consolas"/>
                <a:ea typeface="Consolas"/>
                <a:cs typeface="Consolas"/>
                <a:sym typeface="Consolas"/>
              </a:rPr>
              <a:t>write</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1</a:t>
            </a:r>
            <a:r>
              <a:rPr b="1" lang="en" sz="1150">
                <a:solidFill>
                  <a:schemeClr val="dk1"/>
                </a:solidFill>
                <a:highlight>
                  <a:srgbClr val="FFFFFF"/>
                </a:highlight>
                <a:latin typeface="Consolas"/>
                <a:ea typeface="Consolas"/>
                <a:cs typeface="Consolas"/>
                <a:sym typeface="Consolas"/>
              </a:rPr>
              <a:t>, </a:t>
            </a:r>
            <a:r>
              <a:rPr b="1" lang="en" sz="1150">
                <a:solidFill>
                  <a:srgbClr val="E21F1F"/>
                </a:solidFill>
                <a:highlight>
                  <a:srgbClr val="FFFFFF"/>
                </a:highlight>
                <a:latin typeface="Consolas"/>
                <a:ea typeface="Consolas"/>
                <a:cs typeface="Consolas"/>
                <a:sym typeface="Consolas"/>
              </a:rPr>
              <a:t>"</a:t>
            </a:r>
            <a:r>
              <a:rPr b="1" lang="en" sz="1150">
                <a:solidFill>
                  <a:srgbClr val="A31515"/>
                </a:solidFill>
                <a:highlight>
                  <a:srgbClr val="FFFFFF"/>
                </a:highlight>
                <a:latin typeface="Consolas"/>
                <a:ea typeface="Consolas"/>
                <a:cs typeface="Consolas"/>
                <a:sym typeface="Consolas"/>
              </a:rPr>
              <a:t>Hello World</a:t>
            </a:r>
            <a:r>
              <a:rPr b="1" lang="en" sz="1150">
                <a:solidFill>
                  <a:srgbClr val="B776FB"/>
                </a:solidFill>
                <a:highlight>
                  <a:srgbClr val="FFFFFF"/>
                </a:highlight>
                <a:latin typeface="Consolas"/>
                <a:ea typeface="Consolas"/>
                <a:cs typeface="Consolas"/>
                <a:sym typeface="Consolas"/>
              </a:rPr>
              <a:t>\n</a:t>
            </a:r>
            <a:r>
              <a:rPr b="1" lang="en" sz="1150">
                <a:solidFill>
                  <a:srgbClr val="E21F1F"/>
                </a:solidFill>
                <a:highlight>
                  <a:srgbClr val="FFFFFF"/>
                </a:highlight>
                <a:latin typeface="Consolas"/>
                <a:ea typeface="Consolas"/>
                <a:cs typeface="Consolas"/>
                <a:sym typeface="Consolas"/>
              </a:rPr>
              <a:t>"</a:t>
            </a:r>
            <a:r>
              <a:rPr b="1" lang="en" sz="1150">
                <a:solidFill>
                  <a:schemeClr val="dk1"/>
                </a:solidFill>
                <a:highlight>
                  <a:srgbClr val="FFFFFF"/>
                </a:highlight>
                <a:latin typeface="Consolas"/>
                <a:ea typeface="Consolas"/>
                <a:cs typeface="Consolas"/>
                <a:sym typeface="Consolas"/>
              </a:rPr>
              <a:t>, </a:t>
            </a:r>
            <a:r>
              <a:rPr b="1" lang="en" sz="1150">
                <a:solidFill>
                  <a:srgbClr val="098658"/>
                </a:solidFill>
                <a:highlight>
                  <a:srgbClr val="FFFFFF"/>
                </a:highlight>
                <a:latin typeface="Consolas"/>
                <a:ea typeface="Consolas"/>
                <a:cs typeface="Consolas"/>
                <a:sym typeface="Consolas"/>
              </a:rPr>
              <a:t>12</a:t>
            </a:r>
            <a:r>
              <a:rPr b="1" lang="en" sz="1150">
                <a:solidFill>
                  <a:schemeClr val="dk1"/>
                </a:solidFill>
                <a:highlight>
                  <a:srgbClr val="FFFFFF"/>
                </a:highlight>
                <a:latin typeface="Consolas"/>
                <a:ea typeface="Consolas"/>
                <a:cs typeface="Consolas"/>
                <a:sym typeface="Consolas"/>
              </a:rPr>
              <a:t>); </a:t>
            </a:r>
            <a:r>
              <a:rPr b="1" lang="en" sz="1150">
                <a:solidFill>
                  <a:srgbClr val="008000"/>
                </a:solidFill>
                <a:highlight>
                  <a:srgbClr val="FFFFFF"/>
                </a:highlight>
                <a:latin typeface="Consolas"/>
                <a:ea typeface="Consolas"/>
                <a:cs typeface="Consolas"/>
                <a:sym typeface="Consolas"/>
              </a:rPr>
              <a:t>/* write "Hello World" to stdout */</a:t>
            </a:r>
            <a:endParaRPr b="1" sz="11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   </a:t>
            </a:r>
            <a:r>
              <a:rPr b="1" lang="en" sz="1150">
                <a:solidFill>
                  <a:srgbClr val="74531F"/>
                </a:solidFill>
                <a:highlight>
                  <a:srgbClr val="FFFFFF"/>
                </a:highlight>
                <a:latin typeface="Consolas"/>
                <a:ea typeface="Consolas"/>
                <a:cs typeface="Consolas"/>
                <a:sym typeface="Consolas"/>
              </a:rPr>
              <a:t>_exit</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0</a:t>
            </a:r>
            <a:r>
              <a:rPr b="1" lang="en" sz="1150">
                <a:solidFill>
                  <a:schemeClr val="dk1"/>
                </a:solidFill>
                <a:highlight>
                  <a:srgbClr val="FFFFFF"/>
                </a:highlight>
                <a:latin typeface="Consolas"/>
                <a:ea typeface="Consolas"/>
                <a:cs typeface="Consolas"/>
                <a:sym typeface="Consolas"/>
              </a:rPr>
              <a:t>);                      </a:t>
            </a:r>
            <a:r>
              <a:rPr b="1" lang="en" sz="1150">
                <a:solidFill>
                  <a:srgbClr val="008000"/>
                </a:solidFill>
                <a:highlight>
                  <a:srgbClr val="FFFFFF"/>
                </a:highlight>
                <a:latin typeface="Consolas"/>
                <a:ea typeface="Consolas"/>
                <a:cs typeface="Consolas"/>
                <a:sym typeface="Consolas"/>
              </a:rPr>
              <a:t>/* exit with error code 0 (no error) */</a:t>
            </a:r>
            <a:endParaRPr b="1" sz="11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p:txBody>
      </p:sp>
      <p:sp>
        <p:nvSpPr>
          <p:cNvPr id="600" name="Google Shape;600;p86"/>
          <p:cNvSpPr txBox="1"/>
          <p:nvPr/>
        </p:nvSpPr>
        <p:spPr>
          <a:xfrm>
            <a:off x="685350" y="2190875"/>
            <a:ext cx="8268900" cy="2727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50">
                <a:solidFill>
                  <a:srgbClr val="74531F"/>
                </a:solidFill>
                <a:highlight>
                  <a:srgbClr val="FFFFFF"/>
                </a:highlight>
                <a:latin typeface="Consolas"/>
                <a:ea typeface="Consolas"/>
                <a:cs typeface="Consolas"/>
                <a:sym typeface="Consolas"/>
              </a:rPr>
              <a:t>_start:</a:t>
            </a:r>
            <a:endParaRPr sz="1250">
              <a:solidFill>
                <a:srgbClr val="74531F"/>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movl </a:t>
            </a:r>
            <a:r>
              <a:rPr lang="en" sz="1250">
                <a:solidFill>
                  <a:srgbClr val="098658"/>
                </a:solidFill>
                <a:highlight>
                  <a:srgbClr val="FFFFFF"/>
                </a:highlight>
                <a:latin typeface="Consolas"/>
                <a:ea typeface="Consolas"/>
                <a:cs typeface="Consolas"/>
                <a:sym typeface="Consolas"/>
              </a:rPr>
              <a:t>$4</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eax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use the `write` [interrupt-flavor] system call</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movl </a:t>
            </a:r>
            <a:r>
              <a:rPr lang="en" sz="1250">
                <a:solidFill>
                  <a:srgbClr val="098658"/>
                </a:solidFill>
                <a:highlight>
                  <a:srgbClr val="FFFFFF"/>
                </a:highlight>
                <a:latin typeface="Consolas"/>
                <a:ea typeface="Consolas"/>
                <a:cs typeface="Consolas"/>
                <a:sym typeface="Consolas"/>
              </a:rPr>
              <a:t>$1</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ebx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write to stdout</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movl $msg, %</a:t>
            </a:r>
            <a:r>
              <a:rPr lang="en" sz="1250">
                <a:solidFill>
                  <a:srgbClr val="0000FF"/>
                </a:solidFill>
                <a:highlight>
                  <a:srgbClr val="FFFFFF"/>
                </a:highlight>
                <a:latin typeface="Consolas"/>
                <a:ea typeface="Consolas"/>
                <a:cs typeface="Consolas"/>
                <a:sym typeface="Consolas"/>
              </a:rPr>
              <a:t>ecx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use string "Hello World"</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movl </a:t>
            </a:r>
            <a:r>
              <a:rPr lang="en" sz="1250">
                <a:solidFill>
                  <a:srgbClr val="098658"/>
                </a:solidFill>
                <a:highlight>
                  <a:srgbClr val="FFFFFF"/>
                </a:highlight>
                <a:latin typeface="Consolas"/>
                <a:ea typeface="Consolas"/>
                <a:cs typeface="Consolas"/>
                <a:sym typeface="Consolas"/>
              </a:rPr>
              <a:t>$12</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edx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write 12 characters</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b="1" lang="en" sz="1250">
                <a:solidFill>
                  <a:schemeClr val="dk1"/>
                </a:solidFill>
                <a:highlight>
                  <a:srgbClr val="FFFFFF"/>
                </a:highlight>
                <a:latin typeface="Consolas"/>
                <a:ea typeface="Consolas"/>
                <a:cs typeface="Consolas"/>
                <a:sym typeface="Consolas"/>
              </a:rPr>
              <a:t>  int $0x80       </a:t>
            </a:r>
            <a:r>
              <a:rPr b="1" lang="en" sz="1250">
                <a:solidFill>
                  <a:srgbClr val="008000"/>
                </a:solidFill>
                <a:highlight>
                  <a:srgbClr val="FFFFFF"/>
                </a:highlight>
                <a:latin typeface="Consolas"/>
                <a:ea typeface="Consolas"/>
                <a:cs typeface="Consolas"/>
                <a:sym typeface="Consolas"/>
              </a:rPr>
              <a:t>; make system call</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endParaRPr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movl </a:t>
            </a:r>
            <a:r>
              <a:rPr lang="en" sz="1250">
                <a:solidFill>
                  <a:srgbClr val="098658"/>
                </a:solidFill>
                <a:highlight>
                  <a:srgbClr val="FFFFFF"/>
                </a:highlight>
                <a:latin typeface="Consolas"/>
                <a:ea typeface="Consolas"/>
                <a:cs typeface="Consolas"/>
                <a:sym typeface="Consolas"/>
              </a:rPr>
              <a:t>$1</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eax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use the `_exit` [interrupt-flavor] system call</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movl </a:t>
            </a:r>
            <a:r>
              <a:rPr lang="en" sz="1250">
                <a:solidFill>
                  <a:srgbClr val="098658"/>
                </a:solidFill>
                <a:highlight>
                  <a:srgbClr val="FFFFFF"/>
                </a:highlight>
                <a:latin typeface="Consolas"/>
                <a:ea typeface="Consolas"/>
                <a:cs typeface="Consolas"/>
                <a:sym typeface="Consolas"/>
              </a:rPr>
              <a:t>$0</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ebx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error code 0</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b="1" lang="en" sz="1250">
                <a:solidFill>
                  <a:schemeClr val="dk1"/>
                </a:solidFill>
                <a:highlight>
                  <a:srgbClr val="FFFFFF"/>
                </a:highlight>
                <a:latin typeface="Consolas"/>
                <a:ea typeface="Consolas"/>
                <a:cs typeface="Consolas"/>
                <a:sym typeface="Consolas"/>
              </a:rPr>
              <a:t>  int $0x80       </a:t>
            </a:r>
            <a:r>
              <a:rPr b="1" lang="en" sz="1250">
                <a:solidFill>
                  <a:srgbClr val="008000"/>
                </a:solidFill>
                <a:highlight>
                  <a:srgbClr val="FFFFFF"/>
                </a:highlight>
                <a:latin typeface="Consolas"/>
                <a:ea typeface="Consolas"/>
                <a:cs typeface="Consolas"/>
                <a:sym typeface="Consolas"/>
              </a:rPr>
              <a:t>; make system call</a:t>
            </a:r>
            <a:endParaRPr b="1" sz="1250">
              <a:solidFill>
                <a:srgbClr val="008000"/>
              </a:solidFill>
              <a:highlight>
                <a:srgbClr val="FFFFFF"/>
              </a:highlight>
              <a:latin typeface="Consolas"/>
              <a:ea typeface="Consolas"/>
              <a:cs typeface="Consolas"/>
              <a:sym typeface="Consolas"/>
            </a:endParaRPr>
          </a:p>
        </p:txBody>
      </p:sp>
      <p:sp>
        <p:nvSpPr>
          <p:cNvPr id="601" name="Google Shape;601;p86"/>
          <p:cNvSpPr txBox="1"/>
          <p:nvPr/>
        </p:nvSpPr>
        <p:spPr>
          <a:xfrm>
            <a:off x="361100" y="1830825"/>
            <a:ext cx="343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x86-32 </a:t>
            </a:r>
            <a:r>
              <a:rPr lang="en"/>
              <a:t>equivalent</a:t>
            </a:r>
            <a:r>
              <a:rPr lang="en"/>
              <a:t> assembly code</a:t>
            </a:r>
            <a:endParaRPr/>
          </a:p>
        </p:txBody>
      </p:sp>
      <p:sp>
        <p:nvSpPr>
          <p:cNvPr id="602" name="Google Shape;602;p86"/>
          <p:cNvSpPr txBox="1"/>
          <p:nvPr/>
        </p:nvSpPr>
        <p:spPr>
          <a:xfrm>
            <a:off x="1960100" y="4778225"/>
            <a:ext cx="7081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https://en.wikibooks.org/wiki/X86_Assembly/Interfacing_with_Linux</a:t>
            </a:r>
            <a:r>
              <a:rPr lang="en" sz="1000"/>
              <a:t> </a:t>
            </a:r>
            <a:endParaRPr sz="10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87"/>
          <p:cNvSpPr txBox="1"/>
          <p:nvPr/>
        </p:nvSpPr>
        <p:spPr>
          <a:xfrm>
            <a:off x="635775" y="56275"/>
            <a:ext cx="7310400" cy="1421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250">
                <a:solidFill>
                  <a:srgbClr val="808080"/>
                </a:solidFill>
                <a:highlight>
                  <a:srgbClr val="FFFFFF"/>
                </a:highlight>
                <a:latin typeface="Consolas"/>
                <a:ea typeface="Consolas"/>
                <a:cs typeface="Consolas"/>
                <a:sym typeface="Consolas"/>
              </a:rPr>
              <a:t>#include</a:t>
            </a:r>
            <a:r>
              <a:rPr b="1" lang="en" sz="1250">
                <a:solidFill>
                  <a:schemeClr val="dk1"/>
                </a:solidFill>
                <a:highlight>
                  <a:srgbClr val="FFFFFF"/>
                </a:highlight>
                <a:latin typeface="Consolas"/>
                <a:ea typeface="Consolas"/>
                <a:cs typeface="Consolas"/>
                <a:sym typeface="Consolas"/>
              </a:rPr>
              <a:t> </a:t>
            </a:r>
            <a:r>
              <a:rPr b="1" lang="en" sz="1250">
                <a:solidFill>
                  <a:srgbClr val="E21F1F"/>
                </a:solidFill>
                <a:highlight>
                  <a:srgbClr val="FFFFFF"/>
                </a:highlight>
                <a:latin typeface="Consolas"/>
                <a:ea typeface="Consolas"/>
                <a:cs typeface="Consolas"/>
                <a:sym typeface="Consolas"/>
              </a:rPr>
              <a:t>&lt;</a:t>
            </a:r>
            <a:r>
              <a:rPr b="1" lang="en" sz="1250">
                <a:solidFill>
                  <a:srgbClr val="A31515"/>
                </a:solidFill>
                <a:highlight>
                  <a:srgbClr val="FFFFFF"/>
                </a:highlight>
                <a:latin typeface="Consolas"/>
                <a:ea typeface="Consolas"/>
                <a:cs typeface="Consolas"/>
                <a:sym typeface="Consolas"/>
              </a:rPr>
              <a:t>unistd.h</a:t>
            </a:r>
            <a:r>
              <a:rPr b="1" lang="en" sz="1250">
                <a:solidFill>
                  <a:srgbClr val="E21F1F"/>
                </a:solidFill>
                <a:highlight>
                  <a:srgbClr val="FFFFFF"/>
                </a:highlight>
                <a:latin typeface="Consolas"/>
                <a:ea typeface="Consolas"/>
                <a:cs typeface="Consolas"/>
                <a:sym typeface="Consolas"/>
              </a:rPr>
              <a:t>&gt;</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main</a:t>
            </a:r>
            <a:r>
              <a:rPr b="1" lang="en" sz="1250">
                <a:solidFill>
                  <a:schemeClr val="dk1"/>
                </a:solidFill>
                <a:highlight>
                  <a:srgbClr val="FFFFFF"/>
                </a:highlight>
                <a:latin typeface="Consolas"/>
                <a:ea typeface="Consolas"/>
                <a:cs typeface="Consolas"/>
                <a:sym typeface="Consolas"/>
              </a:rPr>
              <a:t>(</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argc</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argv</a:t>
            </a:r>
            <a:r>
              <a:rPr b="1" lang="en" sz="1250">
                <a:solidFill>
                  <a:srgbClr val="0000F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write</a:t>
            </a:r>
            <a:r>
              <a:rPr b="1" lang="en" sz="1250">
                <a:solidFill>
                  <a:schemeClr val="dk1"/>
                </a:solidFill>
                <a:highlight>
                  <a:srgbClr val="FFFFFF"/>
                </a:highlight>
                <a:latin typeface="Consolas"/>
                <a:ea typeface="Consolas"/>
                <a:cs typeface="Consolas"/>
                <a:sym typeface="Consolas"/>
              </a:rPr>
              <a:t>(</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E21F1F"/>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Hello World</a:t>
            </a:r>
            <a:r>
              <a:rPr b="1" lang="en" sz="1250">
                <a:solidFill>
                  <a:srgbClr val="B776FB"/>
                </a:solidFill>
                <a:highlight>
                  <a:srgbClr val="FFFFFF"/>
                </a:highlight>
                <a:latin typeface="Consolas"/>
                <a:ea typeface="Consolas"/>
                <a:cs typeface="Consolas"/>
                <a:sym typeface="Consolas"/>
              </a:rPr>
              <a:t>\n</a:t>
            </a:r>
            <a:r>
              <a:rPr b="1" lang="en" sz="1250">
                <a:solidFill>
                  <a:srgbClr val="E21F1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12</a:t>
            </a: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write "Hello World" to stdout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_exit</a:t>
            </a:r>
            <a:r>
              <a:rPr b="1" lang="en" sz="1250">
                <a:solidFill>
                  <a:schemeClr val="dk1"/>
                </a:solidFill>
                <a:highlight>
                  <a:srgbClr val="FFFFFF"/>
                </a:highlight>
                <a:latin typeface="Consolas"/>
                <a:ea typeface="Consolas"/>
                <a:cs typeface="Consolas"/>
                <a:sym typeface="Consolas"/>
              </a:rPr>
              <a:t>(</a:t>
            </a:r>
            <a:r>
              <a:rPr b="1" lang="en" sz="1250">
                <a:solidFill>
                  <a:srgbClr val="098658"/>
                </a:solidFill>
                <a:highlight>
                  <a:srgbClr val="FFFFFF"/>
                </a:highlight>
                <a:latin typeface="Consolas"/>
                <a:ea typeface="Consolas"/>
                <a:cs typeface="Consolas"/>
                <a:sym typeface="Consolas"/>
              </a:rPr>
              <a:t>0</a:t>
            </a: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exit with error code 0 (no error)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p:txBody>
      </p:sp>
      <p:sp>
        <p:nvSpPr>
          <p:cNvPr id="608" name="Google Shape;608;p87"/>
          <p:cNvSpPr txBox="1"/>
          <p:nvPr/>
        </p:nvSpPr>
        <p:spPr>
          <a:xfrm>
            <a:off x="685350" y="2114675"/>
            <a:ext cx="6967200" cy="2988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50">
                <a:solidFill>
                  <a:srgbClr val="74531F"/>
                </a:solidFill>
                <a:highlight>
                  <a:srgbClr val="FFFFFF"/>
                </a:highlight>
                <a:latin typeface="Consolas"/>
                <a:ea typeface="Consolas"/>
                <a:cs typeface="Consolas"/>
                <a:sym typeface="Consolas"/>
              </a:rPr>
              <a:t>_start:</a:t>
            </a:r>
            <a:endParaRPr sz="1250">
              <a:solidFill>
                <a:srgbClr val="74531F"/>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b="1" lang="en" sz="1250">
                <a:solidFill>
                  <a:schemeClr val="dk1"/>
                </a:solidFill>
                <a:highlight>
                  <a:srgbClr val="FFFFFF"/>
                </a:highlight>
                <a:latin typeface="Consolas"/>
                <a:ea typeface="Consolas"/>
                <a:cs typeface="Consolas"/>
                <a:sym typeface="Consolas"/>
              </a:rPr>
              <a:t>movq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rax</a:t>
            </a:r>
            <a:r>
              <a:rPr b="1" lang="en" sz="1250">
                <a:solidFill>
                  <a:schemeClr val="dk1"/>
                </a:solidFill>
                <a:highlight>
                  <a:srgbClr val="FFFFFF"/>
                </a:highlight>
                <a:latin typeface="Consolas"/>
                <a:ea typeface="Consolas"/>
                <a:cs typeface="Consolas"/>
                <a:sym typeface="Consolas"/>
              </a:rPr>
              <a:t> </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use the `write` [fast] syscall</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movq </a:t>
            </a:r>
            <a:r>
              <a:rPr lang="en" sz="1250">
                <a:solidFill>
                  <a:srgbClr val="098658"/>
                </a:solidFill>
                <a:highlight>
                  <a:srgbClr val="FFFFFF"/>
                </a:highlight>
                <a:latin typeface="Consolas"/>
                <a:ea typeface="Consolas"/>
                <a:cs typeface="Consolas"/>
                <a:sym typeface="Consolas"/>
              </a:rPr>
              <a:t>$1</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rdi</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write to stdout</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movq $msg, %</a:t>
            </a:r>
            <a:r>
              <a:rPr lang="en" sz="1250">
                <a:solidFill>
                  <a:srgbClr val="0000FF"/>
                </a:solidFill>
                <a:highlight>
                  <a:srgbClr val="FFFFFF"/>
                </a:highlight>
                <a:latin typeface="Consolas"/>
                <a:ea typeface="Consolas"/>
                <a:cs typeface="Consolas"/>
                <a:sym typeface="Consolas"/>
              </a:rPr>
              <a:t>rsi</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use string "Hello World"</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movq </a:t>
            </a:r>
            <a:r>
              <a:rPr lang="en" sz="1250">
                <a:solidFill>
                  <a:srgbClr val="098658"/>
                </a:solidFill>
                <a:highlight>
                  <a:srgbClr val="FFFFFF"/>
                </a:highlight>
                <a:latin typeface="Consolas"/>
                <a:ea typeface="Consolas"/>
                <a:cs typeface="Consolas"/>
                <a:sym typeface="Consolas"/>
              </a:rPr>
              <a:t>$12</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rdx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write 12 characters</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syscall         </a:t>
            </a:r>
            <a:r>
              <a:rPr b="1" lang="en" sz="1250">
                <a:solidFill>
                  <a:srgbClr val="008000"/>
                </a:solidFill>
                <a:highlight>
                  <a:srgbClr val="FFFFFF"/>
                </a:highlight>
                <a:latin typeface="Consolas"/>
                <a:ea typeface="Consolas"/>
                <a:cs typeface="Consolas"/>
                <a:sym typeface="Consolas"/>
              </a:rPr>
              <a:t>; make syscall</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endParaRPr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b="1" lang="en" sz="1250">
                <a:solidFill>
                  <a:schemeClr val="dk1"/>
                </a:solidFill>
                <a:highlight>
                  <a:srgbClr val="FFFFFF"/>
                </a:highlight>
                <a:latin typeface="Consolas"/>
                <a:ea typeface="Consolas"/>
                <a:cs typeface="Consolas"/>
                <a:sym typeface="Consolas"/>
              </a:rPr>
              <a:t> movq </a:t>
            </a:r>
            <a:r>
              <a:rPr b="1" lang="en" sz="1250">
                <a:solidFill>
                  <a:srgbClr val="098658"/>
                </a:solidFill>
                <a:highlight>
                  <a:srgbClr val="FFFFFF"/>
                </a:highlight>
                <a:latin typeface="Consolas"/>
                <a:ea typeface="Consolas"/>
                <a:cs typeface="Consolas"/>
                <a:sym typeface="Consolas"/>
              </a:rPr>
              <a:t>$60</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rax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use the `_exit` [fast] syscall</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movq </a:t>
            </a:r>
            <a:r>
              <a:rPr lang="en" sz="1250">
                <a:solidFill>
                  <a:srgbClr val="098658"/>
                </a:solidFill>
                <a:highlight>
                  <a:srgbClr val="FFFFFF"/>
                </a:highlight>
                <a:latin typeface="Consolas"/>
                <a:ea typeface="Consolas"/>
                <a:cs typeface="Consolas"/>
                <a:sym typeface="Consolas"/>
              </a:rPr>
              <a:t>$0</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rdi</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error code 0</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syscall         </a:t>
            </a:r>
            <a:r>
              <a:rPr b="1" lang="en" sz="1250">
                <a:solidFill>
                  <a:srgbClr val="008000"/>
                </a:solidFill>
                <a:highlight>
                  <a:srgbClr val="FFFFFF"/>
                </a:highlight>
                <a:latin typeface="Consolas"/>
                <a:ea typeface="Consolas"/>
                <a:cs typeface="Consolas"/>
                <a:sym typeface="Consolas"/>
              </a:rPr>
              <a:t>; make syscall</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250">
              <a:solidFill>
                <a:srgbClr val="74531F"/>
              </a:solidFill>
              <a:highlight>
                <a:srgbClr val="FFFFFF"/>
              </a:highlight>
              <a:latin typeface="Consolas"/>
              <a:ea typeface="Consolas"/>
              <a:cs typeface="Consolas"/>
              <a:sym typeface="Consolas"/>
            </a:endParaRPr>
          </a:p>
        </p:txBody>
      </p:sp>
      <p:sp>
        <p:nvSpPr>
          <p:cNvPr id="609" name="Google Shape;609;p87"/>
          <p:cNvSpPr txBox="1"/>
          <p:nvPr/>
        </p:nvSpPr>
        <p:spPr>
          <a:xfrm>
            <a:off x="1960100" y="4778225"/>
            <a:ext cx="7081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https://en.wikibooks.org/wiki/X86_Assembly/Interfacing_with_Linux</a:t>
            </a:r>
            <a:r>
              <a:rPr lang="en" sz="1000"/>
              <a:t> </a:t>
            </a:r>
            <a:endParaRPr sz="1000"/>
          </a:p>
        </p:txBody>
      </p:sp>
      <p:sp>
        <p:nvSpPr>
          <p:cNvPr id="610" name="Google Shape;610;p87"/>
          <p:cNvSpPr txBox="1"/>
          <p:nvPr/>
        </p:nvSpPr>
        <p:spPr>
          <a:xfrm>
            <a:off x="361100" y="1830825"/>
            <a:ext cx="343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x86-64 equivalent assembly code</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88"/>
          <p:cNvSpPr txBox="1"/>
          <p:nvPr/>
        </p:nvSpPr>
        <p:spPr>
          <a:xfrm>
            <a:off x="920880" y="158220"/>
            <a:ext cx="7840500" cy="432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b="1" lang="en" sz="2700"/>
              <a:t>API – System Call – OS Relationship</a:t>
            </a:r>
            <a:endParaRPr b="1" sz="4500" strike="noStrike">
              <a:solidFill>
                <a:srgbClr val="000000"/>
              </a:solidFill>
              <a:latin typeface="Verdana"/>
              <a:ea typeface="Verdana"/>
              <a:cs typeface="Verdana"/>
              <a:sym typeface="Verdana"/>
            </a:endParaRPr>
          </a:p>
        </p:txBody>
      </p:sp>
      <p:pic>
        <p:nvPicPr>
          <p:cNvPr id="617" name="Google Shape;617;p88"/>
          <p:cNvPicPr preferRelativeResize="0"/>
          <p:nvPr/>
        </p:nvPicPr>
        <p:blipFill rotWithShape="1">
          <a:blip r:embed="rId3">
            <a:alphaModFix/>
          </a:blip>
          <a:srcRect b="0" l="0" r="0" t="0"/>
          <a:stretch/>
        </p:blipFill>
        <p:spPr>
          <a:xfrm>
            <a:off x="949326" y="913151"/>
            <a:ext cx="6484450" cy="3958351"/>
          </a:xfrm>
          <a:prstGeom prst="rect">
            <a:avLst/>
          </a:prstGeom>
          <a:noFill/>
          <a:ln>
            <a:noFill/>
          </a:ln>
        </p:spPr>
      </p:pic>
      <p:sp>
        <p:nvSpPr>
          <p:cNvPr id="618" name="Google Shape;618;p88"/>
          <p:cNvSpPr txBox="1"/>
          <p:nvPr/>
        </p:nvSpPr>
        <p:spPr>
          <a:xfrm>
            <a:off x="132650" y="4844975"/>
            <a:ext cx="79383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Operating System Concepts Tenth Edition by  Avi Silberschatz, Peter Baer, Galvin Greg Gagne </a:t>
            </a:r>
            <a:endParaRPr sz="800"/>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89"/>
          <p:cNvSpPr txBox="1"/>
          <p:nvPr>
            <p:ph type="title"/>
          </p:nvPr>
        </p:nvSpPr>
        <p:spPr>
          <a:xfrm>
            <a:off x="311700" y="216425"/>
            <a:ext cx="4508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dup2() on x86</a:t>
            </a:r>
            <a:endParaRPr/>
          </a:p>
        </p:txBody>
      </p:sp>
      <p:sp>
        <p:nvSpPr>
          <p:cNvPr id="624" name="Google Shape;624;p89"/>
          <p:cNvSpPr txBox="1"/>
          <p:nvPr/>
        </p:nvSpPr>
        <p:spPr>
          <a:xfrm>
            <a:off x="76350" y="4602950"/>
            <a:ext cx="61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https://linux-kernel-labs.github.io/refs/heads/master/lectures/syscalls.html</a:t>
            </a:r>
            <a:r>
              <a:rPr lang="en"/>
              <a:t> </a:t>
            </a:r>
            <a:endParaRPr/>
          </a:p>
        </p:txBody>
      </p:sp>
      <p:pic>
        <p:nvPicPr>
          <p:cNvPr id="625" name="Google Shape;625;p89"/>
          <p:cNvPicPr preferRelativeResize="0"/>
          <p:nvPr/>
        </p:nvPicPr>
        <p:blipFill>
          <a:blip r:embed="rId4">
            <a:alphaModFix/>
          </a:blip>
          <a:stretch>
            <a:fillRect/>
          </a:stretch>
        </p:blipFill>
        <p:spPr>
          <a:xfrm>
            <a:off x="5007925" y="179525"/>
            <a:ext cx="3363000" cy="1464775"/>
          </a:xfrm>
          <a:prstGeom prst="rect">
            <a:avLst/>
          </a:prstGeom>
          <a:noFill/>
          <a:ln>
            <a:noFill/>
          </a:ln>
        </p:spPr>
      </p:pic>
      <p:sp>
        <p:nvSpPr>
          <p:cNvPr id="626" name="Google Shape;626;p89"/>
          <p:cNvSpPr txBox="1"/>
          <p:nvPr/>
        </p:nvSpPr>
        <p:spPr>
          <a:xfrm>
            <a:off x="311700" y="1277075"/>
            <a:ext cx="3675000" cy="179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t>System calls are specific assembly instructions that</a:t>
            </a:r>
            <a:endParaRPr/>
          </a:p>
          <a:p>
            <a:pPr indent="-298450" lvl="0" marL="457200" rtl="0" algn="l">
              <a:lnSpc>
                <a:spcPct val="115000"/>
              </a:lnSpc>
              <a:spcBef>
                <a:spcPts val="1200"/>
              </a:spcBef>
              <a:spcAft>
                <a:spcPts val="0"/>
              </a:spcAft>
              <a:buClr>
                <a:schemeClr val="dk1"/>
              </a:buClr>
              <a:buSzPts val="1100"/>
              <a:buChar char="●"/>
            </a:pPr>
            <a:r>
              <a:rPr lang="en"/>
              <a:t>setup information to identify the system call and its parameters</a:t>
            </a:r>
            <a:endParaRPr/>
          </a:p>
          <a:p>
            <a:pPr indent="-298450" lvl="0" marL="457200" rtl="0" algn="l">
              <a:lnSpc>
                <a:spcPct val="115000"/>
              </a:lnSpc>
              <a:spcBef>
                <a:spcPts val="0"/>
              </a:spcBef>
              <a:spcAft>
                <a:spcPts val="0"/>
              </a:spcAft>
              <a:buClr>
                <a:schemeClr val="dk1"/>
              </a:buClr>
              <a:buSzPts val="1100"/>
              <a:buChar char="●"/>
            </a:pPr>
            <a:r>
              <a:rPr lang="en"/>
              <a:t>trigger a kernel mode switch</a:t>
            </a:r>
            <a:endParaRPr/>
          </a:p>
          <a:p>
            <a:pPr indent="-298450" lvl="0" marL="457200" rtl="0" algn="l">
              <a:lnSpc>
                <a:spcPct val="115000"/>
              </a:lnSpc>
              <a:spcBef>
                <a:spcPts val="0"/>
              </a:spcBef>
              <a:spcAft>
                <a:spcPts val="0"/>
              </a:spcAft>
              <a:buClr>
                <a:schemeClr val="dk1"/>
              </a:buClr>
              <a:buSzPts val="1100"/>
              <a:buChar char="●"/>
            </a:pPr>
            <a:r>
              <a:rPr lang="en"/>
              <a:t>retrieve the result of the system call</a:t>
            </a:r>
            <a:endParaRPr/>
          </a:p>
        </p:txBody>
      </p:sp>
      <p:pic>
        <p:nvPicPr>
          <p:cNvPr id="627" name="Google Shape;627;p89"/>
          <p:cNvPicPr preferRelativeResize="0"/>
          <p:nvPr/>
        </p:nvPicPr>
        <p:blipFill>
          <a:blip r:embed="rId5">
            <a:alphaModFix/>
          </a:blip>
          <a:stretch>
            <a:fillRect/>
          </a:stretch>
        </p:blipFill>
        <p:spPr>
          <a:xfrm>
            <a:off x="4278525" y="1790050"/>
            <a:ext cx="4531825" cy="2955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9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definitions</a:t>
            </a:r>
            <a:endParaRPr/>
          </a:p>
        </p:txBody>
      </p:sp>
      <p:sp>
        <p:nvSpPr>
          <p:cNvPr id="633" name="Google Shape;633;p9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Interrupt</a:t>
            </a:r>
            <a:endParaRPr b="1" sz="1500">
              <a:solidFill>
                <a:schemeClr val="dk1"/>
              </a:solidFill>
            </a:endParaRPr>
          </a:p>
          <a:p>
            <a:pPr indent="0" lvl="0" marL="0" rtl="0" algn="l">
              <a:spcBef>
                <a:spcPts val="1600"/>
              </a:spcBef>
              <a:spcAft>
                <a:spcPts val="0"/>
              </a:spcAft>
              <a:buNone/>
            </a:pPr>
            <a:r>
              <a:rPr lang="en" sz="1500">
                <a:solidFill>
                  <a:schemeClr val="dk1"/>
                </a:solidFill>
              </a:rPr>
              <a:t>A signal to the kernel from a hardware or a software that indicates an event need “immediate” attention</a:t>
            </a:r>
            <a:endParaRPr sz="1500">
              <a:solidFill>
                <a:schemeClr val="dk1"/>
              </a:solidFill>
            </a:endParaRPr>
          </a:p>
          <a:p>
            <a:pPr indent="-323850" lvl="0" marL="457200" rtl="0" algn="l">
              <a:spcBef>
                <a:spcPts val="1600"/>
              </a:spcBef>
              <a:spcAft>
                <a:spcPts val="0"/>
              </a:spcAft>
              <a:buClr>
                <a:schemeClr val="dk1"/>
              </a:buClr>
              <a:buSzPts val="1500"/>
              <a:buChar char="●"/>
            </a:pPr>
            <a:r>
              <a:rPr b="1" lang="en" sz="1500">
                <a:solidFill>
                  <a:schemeClr val="dk1"/>
                </a:solidFill>
              </a:rPr>
              <a:t>Hardware interrupts: </a:t>
            </a:r>
            <a:r>
              <a:rPr lang="en" sz="1500">
                <a:solidFill>
                  <a:schemeClr val="dk1"/>
                </a:solidFill>
              </a:rPr>
              <a:t> the  pressing of a key on the keyboard, a movement of the mouse.</a:t>
            </a:r>
            <a:endParaRPr sz="1500">
              <a:solidFill>
                <a:schemeClr val="dk1"/>
              </a:solidFill>
            </a:endParaRPr>
          </a:p>
          <a:p>
            <a:pPr indent="0" lvl="0" marL="0" rtl="0" algn="l">
              <a:spcBef>
                <a:spcPts val="1600"/>
              </a:spcBef>
              <a:spcAft>
                <a:spcPts val="0"/>
              </a:spcAft>
              <a:buNone/>
            </a:pPr>
            <a:r>
              <a:rPr lang="en" sz="1500">
                <a:solidFill>
                  <a:schemeClr val="dk1"/>
                </a:solidFill>
              </a:rPr>
              <a:t> </a:t>
            </a:r>
            <a:endParaRPr sz="1500">
              <a:solidFill>
                <a:schemeClr val="dk1"/>
              </a:solidFill>
            </a:endParaRPr>
          </a:p>
          <a:p>
            <a:pPr indent="0" lvl="0" marL="457200" rtl="0" algn="l">
              <a:spcBef>
                <a:spcPts val="1600"/>
              </a:spcBef>
              <a:spcAft>
                <a:spcPts val="1600"/>
              </a:spcAft>
              <a:buNone/>
            </a:pPr>
            <a:r>
              <a:t/>
            </a:r>
            <a:endParaRPr sz="1500">
              <a:solidFill>
                <a:schemeClr val="dk1"/>
              </a:solidFill>
            </a:endParaRPr>
          </a:p>
        </p:txBody>
      </p:sp>
      <p:sp>
        <p:nvSpPr>
          <p:cNvPr id="634" name="Google Shape;634;p9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b="1" lang="en" sz="1500">
                <a:solidFill>
                  <a:schemeClr val="dk1"/>
                </a:solidFill>
              </a:rPr>
              <a:t>Software interrupts (e.g. int 0x80)</a:t>
            </a:r>
            <a:endParaRPr b="1"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requests by an application program to operating systems</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each interrupt is associated with an interrupt handler</a:t>
            </a:r>
            <a:endParaRPr/>
          </a:p>
        </p:txBody>
      </p:sp>
      <p:sp>
        <p:nvSpPr>
          <p:cNvPr id="635" name="Google Shape;635;p90"/>
          <p:cNvSpPr txBox="1"/>
          <p:nvPr/>
        </p:nvSpPr>
        <p:spPr>
          <a:xfrm>
            <a:off x="437250" y="3810000"/>
            <a:ext cx="80211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dk1"/>
              </a:buClr>
              <a:buSzPts val="1500"/>
              <a:buChar char="★"/>
            </a:pPr>
            <a:r>
              <a:rPr lang="en" sz="1500">
                <a:solidFill>
                  <a:schemeClr val="dk1"/>
                </a:solidFill>
              </a:rPr>
              <a:t>CPU switch control to an interrupt handler</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The execution of the program resumes after the interrupt is handled</a:t>
            </a:r>
            <a:endParaRPr sz="15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9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trap vs exception vs interrupt</a:t>
            </a:r>
            <a:endParaRPr/>
          </a:p>
        </p:txBody>
      </p:sp>
      <p:sp>
        <p:nvSpPr>
          <p:cNvPr id="641" name="Google Shape;641;p9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An exception</a:t>
            </a:r>
            <a:r>
              <a:rPr lang="en"/>
              <a:t> is an unexpected event occurs because of </a:t>
            </a:r>
            <a:r>
              <a:rPr b="1" lang="en"/>
              <a:t>the execution of an instruction </a:t>
            </a:r>
            <a:r>
              <a:rPr lang="en"/>
              <a:t>(</a:t>
            </a:r>
            <a:r>
              <a:rPr lang="en"/>
              <a:t>synchronous</a:t>
            </a:r>
            <a:r>
              <a:rPr lang="en"/>
              <a:t> event). </a:t>
            </a:r>
            <a:endParaRPr/>
          </a:p>
          <a:p>
            <a:pPr indent="-317500" lvl="0" marL="457200" rtl="0" algn="l">
              <a:spcBef>
                <a:spcPts val="1600"/>
              </a:spcBef>
              <a:spcAft>
                <a:spcPts val="0"/>
              </a:spcAft>
              <a:buSzPts val="1400"/>
              <a:buChar char="●"/>
            </a:pPr>
            <a:r>
              <a:rPr lang="en"/>
              <a:t>Division by zero</a:t>
            </a:r>
            <a:endParaRPr/>
          </a:p>
          <a:p>
            <a:pPr indent="-317500" lvl="0" marL="457200" rtl="0" algn="l">
              <a:spcBef>
                <a:spcPts val="0"/>
              </a:spcBef>
              <a:spcAft>
                <a:spcPts val="0"/>
              </a:spcAft>
              <a:buSzPts val="1400"/>
              <a:buChar char="●"/>
            </a:pPr>
            <a:r>
              <a:rPr b="1" lang="en"/>
              <a:t>CPU detects this:</a:t>
            </a:r>
            <a:endParaRPr b="1"/>
          </a:p>
          <a:p>
            <a:pPr indent="-317500" lvl="0" marL="457200" rtl="0" algn="l">
              <a:spcBef>
                <a:spcPts val="0"/>
              </a:spcBef>
              <a:spcAft>
                <a:spcPts val="0"/>
              </a:spcAft>
              <a:buSzPts val="1400"/>
              <a:buChar char="●"/>
            </a:pPr>
            <a:r>
              <a:rPr b="1" lang="en"/>
              <a:t>Exception Types</a:t>
            </a:r>
            <a:endParaRPr b="1"/>
          </a:p>
          <a:p>
            <a:pPr indent="-304800" lvl="1" marL="1371600" rtl="0" algn="l">
              <a:spcBef>
                <a:spcPts val="0"/>
              </a:spcBef>
              <a:spcAft>
                <a:spcPts val="0"/>
              </a:spcAft>
              <a:buSzPts val="1200"/>
              <a:buChar char="○"/>
            </a:pPr>
            <a:r>
              <a:rPr lang="en"/>
              <a:t>Traps,</a:t>
            </a:r>
            <a:endParaRPr/>
          </a:p>
          <a:p>
            <a:pPr indent="-304800" lvl="2" marL="1828800" rtl="0" algn="l">
              <a:spcBef>
                <a:spcPts val="0"/>
              </a:spcBef>
              <a:spcAft>
                <a:spcPts val="0"/>
              </a:spcAft>
              <a:buSzPts val="1200"/>
              <a:buChar char="■"/>
            </a:pPr>
            <a:r>
              <a:rPr lang="en"/>
              <a:t>Breakpoint, Trap, Syscall</a:t>
            </a:r>
            <a:r>
              <a:rPr lang="en"/>
              <a:t>s, division by zero</a:t>
            </a:r>
            <a:endParaRPr/>
          </a:p>
          <a:p>
            <a:pPr indent="-304800" lvl="1" marL="1371600" rtl="0" algn="l">
              <a:spcBef>
                <a:spcPts val="0"/>
              </a:spcBef>
              <a:spcAft>
                <a:spcPts val="0"/>
              </a:spcAft>
              <a:buSzPts val="1200"/>
              <a:buChar char="○"/>
            </a:pPr>
            <a:r>
              <a:rPr lang="en"/>
              <a:t>faults, </a:t>
            </a:r>
            <a:endParaRPr/>
          </a:p>
          <a:p>
            <a:pPr indent="-304800" lvl="2" marL="1828800" rtl="0" algn="l">
              <a:spcBef>
                <a:spcPts val="0"/>
              </a:spcBef>
              <a:spcAft>
                <a:spcPts val="0"/>
              </a:spcAft>
              <a:buSzPts val="1200"/>
              <a:buChar char="■"/>
            </a:pPr>
            <a:r>
              <a:rPr lang="en"/>
              <a:t>Memory faults(Page fault),</a:t>
            </a:r>
            <a:endParaRPr/>
          </a:p>
          <a:p>
            <a:pPr indent="-304800" lvl="1" marL="1371600" rtl="0" algn="l">
              <a:spcBef>
                <a:spcPts val="0"/>
              </a:spcBef>
              <a:spcAft>
                <a:spcPts val="0"/>
              </a:spcAft>
              <a:buSzPts val="1200"/>
              <a:buChar char="○"/>
            </a:pPr>
            <a:r>
              <a:rPr lang="en"/>
              <a:t>aborts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 </a:t>
            </a:r>
            <a:endParaRPr/>
          </a:p>
          <a:p>
            <a:pPr indent="0" lvl="0" marL="0" rtl="0" algn="l">
              <a:spcBef>
                <a:spcPts val="1600"/>
              </a:spcBef>
              <a:spcAft>
                <a:spcPts val="1600"/>
              </a:spcAft>
              <a:buNone/>
            </a:pPr>
            <a:r>
              <a:t/>
            </a:r>
            <a:endParaRPr/>
          </a:p>
        </p:txBody>
      </p:sp>
      <p:sp>
        <p:nvSpPr>
          <p:cNvPr id="642" name="Google Shape;642;p91"/>
          <p:cNvSpPr txBox="1"/>
          <p:nvPr/>
        </p:nvSpPr>
        <p:spPr>
          <a:xfrm>
            <a:off x="356125" y="4261175"/>
            <a:ext cx="8145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https://stackoverflow.com/questions/3149175/what-is-the-difference-between-trap-and-interrupt</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643" name="Google Shape;643;p91"/>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t>Hardware interrupt</a:t>
            </a:r>
            <a:r>
              <a:rPr lang="en" sz="1800"/>
              <a:t> is an unexpected event from outside the processor. </a:t>
            </a:r>
            <a:endParaRPr sz="1800"/>
          </a:p>
          <a:p>
            <a:pPr indent="0" lvl="0" marL="0" rtl="0" algn="l">
              <a:spcBef>
                <a:spcPts val="1600"/>
              </a:spcBef>
              <a:spcAft>
                <a:spcPts val="1600"/>
              </a:spcAft>
              <a:buClr>
                <a:schemeClr val="dk1"/>
              </a:buClr>
              <a:buSzPts val="1100"/>
              <a:buFont typeface="Arial"/>
              <a:buNone/>
            </a:pPr>
            <a:r>
              <a:rPr b="1" lang="en" sz="1800"/>
              <a:t>Software interrupt (e.g.,  int 0x80)</a:t>
            </a:r>
            <a:r>
              <a:rPr lang="en" sz="1800"/>
              <a:t> is generated by the application programs(similar to traps).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92"/>
          <p:cNvSpPr txBox="1"/>
          <p:nvPr>
            <p:ph type="title"/>
          </p:nvPr>
        </p:nvSpPr>
        <p:spPr>
          <a:xfrm>
            <a:off x="178450" y="126900"/>
            <a:ext cx="3971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
            </a:r>
            <a:r>
              <a:rPr lang="en"/>
              <a:t>ummary and warnings</a:t>
            </a:r>
            <a:endParaRPr/>
          </a:p>
        </p:txBody>
      </p:sp>
      <p:sp>
        <p:nvSpPr>
          <p:cNvPr id="649" name="Google Shape;649;p92"/>
          <p:cNvSpPr txBox="1"/>
          <p:nvPr>
            <p:ph idx="1" type="body"/>
          </p:nvPr>
        </p:nvSpPr>
        <p:spPr>
          <a:xfrm>
            <a:off x="297650" y="695275"/>
            <a:ext cx="3788400" cy="26838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Consolas"/>
                <a:ea typeface="Consolas"/>
                <a:cs typeface="Consolas"/>
                <a:sym typeface="Consolas"/>
              </a:rPr>
              <a:t>int file_fd = open(...); </a:t>
            </a:r>
            <a:endParaRPr b="1">
              <a:latin typeface="Consolas"/>
              <a:ea typeface="Consolas"/>
              <a:cs typeface="Consolas"/>
              <a:sym typeface="Consolas"/>
            </a:endParaRPr>
          </a:p>
          <a:p>
            <a:pPr indent="-317500" lvl="0" marL="457200" rtl="0" algn="l">
              <a:spcBef>
                <a:spcPts val="1600"/>
              </a:spcBef>
              <a:spcAft>
                <a:spcPts val="0"/>
              </a:spcAft>
              <a:buSzPts val="1400"/>
              <a:buChar char="●"/>
            </a:pPr>
            <a:r>
              <a:rPr lang="en"/>
              <a:t>We got access to a file descriptor object.</a:t>
            </a:r>
            <a:endParaRPr/>
          </a:p>
          <a:p>
            <a:pPr indent="0" lvl="0" marL="0" rtl="0" algn="l">
              <a:spcBef>
                <a:spcPts val="1600"/>
              </a:spcBef>
              <a:spcAft>
                <a:spcPts val="0"/>
              </a:spcAft>
              <a:buNone/>
            </a:pPr>
            <a:r>
              <a:t/>
            </a:r>
            <a:endParaRPr/>
          </a:p>
          <a:p>
            <a:pPr indent="0" lvl="0" marL="0" rtl="0" algn="l">
              <a:spcBef>
                <a:spcPts val="1600"/>
              </a:spcBef>
              <a:spcAft>
                <a:spcPts val="0"/>
              </a:spcAft>
              <a:buNone/>
            </a:pPr>
            <a:r>
              <a:rPr b="1" lang="en">
                <a:latin typeface="Consolas"/>
                <a:ea typeface="Consolas"/>
                <a:cs typeface="Consolas"/>
                <a:sym typeface="Consolas"/>
              </a:rPr>
              <a:t>write(file_fd, "Hello!", 6);</a:t>
            </a:r>
            <a:endParaRPr b="1">
              <a:latin typeface="Consolas"/>
              <a:ea typeface="Consolas"/>
              <a:cs typeface="Consolas"/>
              <a:sym typeface="Consolas"/>
            </a:endParaRPr>
          </a:p>
          <a:p>
            <a:pPr indent="-317500" lvl="0" marL="457200" rtl="0" algn="l">
              <a:spcBef>
                <a:spcPts val="1600"/>
              </a:spcBef>
              <a:spcAft>
                <a:spcPts val="0"/>
              </a:spcAft>
              <a:buSzPts val="1400"/>
              <a:buChar char="●"/>
            </a:pPr>
            <a:r>
              <a:rPr lang="en"/>
              <a:t>writes some bytes to the file descriptor object that represents a file</a:t>
            </a:r>
            <a:endParaRPr/>
          </a:p>
          <a:p>
            <a:pPr indent="0" lvl="0" marL="0" rtl="0" algn="l">
              <a:spcBef>
                <a:spcPts val="1600"/>
              </a:spcBef>
              <a:spcAft>
                <a:spcPts val="1600"/>
              </a:spcAft>
              <a:buNone/>
            </a:pPr>
            <a:r>
              <a:t/>
            </a:r>
            <a:endParaRPr/>
          </a:p>
        </p:txBody>
      </p:sp>
      <p:sp>
        <p:nvSpPr>
          <p:cNvPr id="650" name="Google Shape;650;p92"/>
          <p:cNvSpPr txBox="1"/>
          <p:nvPr>
            <p:ph idx="2" type="body"/>
          </p:nvPr>
        </p:nvSpPr>
        <p:spPr>
          <a:xfrm>
            <a:off x="4984650" y="2630350"/>
            <a:ext cx="3999900" cy="1460700"/>
          </a:xfrm>
          <a:prstGeom prst="rect">
            <a:avLst/>
          </a:prstGeom>
          <a:solidFill>
            <a:srgbClr val="FCE5CD"/>
          </a:solidFill>
          <a:ln cap="flat" cmpd="sng" w="9525">
            <a:solidFill>
              <a:srgbClr val="FF9900"/>
            </a:solidFill>
            <a:prstDash val="solid"/>
            <a:round/>
            <a:headEnd len="sm" w="sm" type="none"/>
            <a:tailEnd len="sm" w="sm" type="none"/>
          </a:ln>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System calls are expensive. </a:t>
            </a:r>
            <a:endParaRPr/>
          </a:p>
          <a:p>
            <a:pPr indent="-304800" lvl="1" marL="914400" rtl="0" algn="l">
              <a:spcBef>
                <a:spcPts val="0"/>
              </a:spcBef>
              <a:spcAft>
                <a:spcPts val="0"/>
              </a:spcAft>
              <a:buSzPts val="1200"/>
              <a:buChar char="○"/>
            </a:pPr>
            <a:r>
              <a:rPr lang="en"/>
              <a:t>Their cost in terms of time and CPU cycles has recently been decreased, but try to use them as sparingly as possible.</a:t>
            </a:r>
            <a:endParaRPr/>
          </a:p>
        </p:txBody>
      </p:sp>
      <p:sp>
        <p:nvSpPr>
          <p:cNvPr id="651" name="Google Shape;651;p92"/>
          <p:cNvSpPr txBox="1"/>
          <p:nvPr/>
        </p:nvSpPr>
        <p:spPr>
          <a:xfrm>
            <a:off x="4572000" y="126900"/>
            <a:ext cx="4178100" cy="2092200"/>
          </a:xfrm>
          <a:prstGeom prst="rect">
            <a:avLst/>
          </a:prstGeom>
          <a:solidFill>
            <a:srgbClr val="C9DAF8"/>
          </a:solidFill>
          <a:ln cap="flat" cmpd="sng" w="9525">
            <a:solidFill>
              <a:srgbClr val="00108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rPr>
              <a:t>A system call is an operation that the kernel carries out. </a:t>
            </a:r>
            <a:endParaRPr>
              <a:solidFill>
                <a:schemeClr val="dk2"/>
              </a:solidFill>
            </a:endParaRPr>
          </a:p>
          <a:p>
            <a:pPr indent="-317500" lvl="0" marL="457200" rtl="0" algn="l">
              <a:lnSpc>
                <a:spcPct val="115000"/>
              </a:lnSpc>
              <a:spcBef>
                <a:spcPts val="1600"/>
              </a:spcBef>
              <a:spcAft>
                <a:spcPts val="0"/>
              </a:spcAft>
              <a:buClr>
                <a:schemeClr val="dk2"/>
              </a:buClr>
              <a:buSzPts val="1400"/>
              <a:buChar char="●"/>
            </a:pPr>
            <a:r>
              <a:rPr lang="en">
                <a:solidFill>
                  <a:schemeClr val="dk2"/>
                </a:solidFill>
              </a:rPr>
              <a:t>First, the operating system prepares a system call.</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Next, the kernel executes the system call to the best of its ability in kernel space (a privileged operation).</a:t>
            </a:r>
            <a:endParaRPr/>
          </a:p>
        </p:txBody>
      </p:sp>
      <p:sp>
        <p:nvSpPr>
          <p:cNvPr id="652" name="Google Shape;652;p92"/>
          <p:cNvSpPr txBox="1"/>
          <p:nvPr/>
        </p:nvSpPr>
        <p:spPr>
          <a:xfrm>
            <a:off x="1104125" y="3680400"/>
            <a:ext cx="3717900" cy="1391400"/>
          </a:xfrm>
          <a:prstGeom prst="rect">
            <a:avLst/>
          </a:prstGeom>
          <a:solidFill>
            <a:srgbClr val="E6B8AF"/>
          </a:solidFill>
          <a:ln cap="flat" cmpd="sng" w="9525">
            <a:solidFill>
              <a:srgbClr val="E21F1F"/>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2"/>
              </a:buClr>
              <a:buSzPts val="1400"/>
              <a:buChar char="★"/>
            </a:pPr>
            <a:r>
              <a:rPr lang="en">
                <a:solidFill>
                  <a:schemeClr val="dk2"/>
                </a:solidFill>
              </a:rPr>
              <a:t>this operation could fail for several reasons:</a:t>
            </a:r>
            <a:endParaRPr>
              <a:solidFill>
                <a:schemeClr val="dk2"/>
              </a:solidFill>
            </a:endParaRPr>
          </a:p>
          <a:p>
            <a:pPr indent="-304800" lvl="1" marL="914400" rtl="0" algn="l">
              <a:lnSpc>
                <a:spcPct val="115000"/>
              </a:lnSpc>
              <a:spcBef>
                <a:spcPts val="0"/>
              </a:spcBef>
              <a:spcAft>
                <a:spcPts val="0"/>
              </a:spcAft>
              <a:buClr>
                <a:schemeClr val="dk2"/>
              </a:buClr>
              <a:buSzPts val="1200"/>
              <a:buChar char="○"/>
            </a:pPr>
            <a:r>
              <a:rPr lang="en">
                <a:solidFill>
                  <a:schemeClr val="dk2"/>
                </a:solidFill>
              </a:rPr>
              <a:t>the file is no longer valid, </a:t>
            </a:r>
            <a:endParaRPr>
              <a:solidFill>
                <a:schemeClr val="dk2"/>
              </a:solidFill>
            </a:endParaRPr>
          </a:p>
          <a:p>
            <a:pPr indent="-304800" lvl="1" marL="914400" rtl="0" algn="l">
              <a:lnSpc>
                <a:spcPct val="115000"/>
              </a:lnSpc>
              <a:spcBef>
                <a:spcPts val="0"/>
              </a:spcBef>
              <a:spcAft>
                <a:spcPts val="0"/>
              </a:spcAft>
              <a:buClr>
                <a:schemeClr val="dk2"/>
              </a:buClr>
              <a:buSzPts val="1200"/>
              <a:buChar char="○"/>
            </a:pPr>
            <a:r>
              <a:rPr lang="en">
                <a:solidFill>
                  <a:schemeClr val="dk2"/>
                </a:solidFill>
              </a:rPr>
              <a:t>the hard drive failed, </a:t>
            </a:r>
            <a:endParaRPr>
              <a:solidFill>
                <a:schemeClr val="dk2"/>
              </a:solidFill>
            </a:endParaRPr>
          </a:p>
          <a:p>
            <a:pPr indent="-304800" lvl="1" marL="914400" rtl="0" algn="l">
              <a:lnSpc>
                <a:spcPct val="115000"/>
              </a:lnSpc>
              <a:spcBef>
                <a:spcPts val="0"/>
              </a:spcBef>
              <a:spcAft>
                <a:spcPts val="0"/>
              </a:spcAft>
              <a:buClr>
                <a:schemeClr val="dk2"/>
              </a:buClr>
              <a:buSzPts val="1200"/>
              <a:buChar char="○"/>
            </a:pPr>
            <a:r>
              <a:rPr lang="en">
                <a:solidFill>
                  <a:schemeClr val="dk2"/>
                </a:solidFill>
              </a:rPr>
              <a:t>the system was interrupted etc. </a:t>
            </a:r>
            <a:endParaRPr>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0"/>
                                        </p:tgtEl>
                                        <p:attrNameLst>
                                          <p:attrName>style.visibility</p:attrName>
                                        </p:attrNameLst>
                                      </p:cBhvr>
                                      <p:to>
                                        <p:strVal val="visible"/>
                                      </p:to>
                                    </p:set>
                                    <p:animEffect filter="fade" transition="in">
                                      <p:cBhvr>
                                        <p:cTn dur="1000"/>
                                        <p:tgtEl>
                                          <p:spTgt spid="6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9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 system call-abstractions</a:t>
            </a:r>
            <a:endParaRPr/>
          </a:p>
        </p:txBody>
      </p:sp>
      <p:sp>
        <p:nvSpPr>
          <p:cNvPr id="658" name="Google Shape;658;p9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Many C functions are abstractions that call the correct underlying system call</a:t>
            </a:r>
            <a:endParaRPr/>
          </a:p>
          <a:p>
            <a:pPr indent="0" lvl="0" marL="0" rtl="0" algn="l">
              <a:spcBef>
                <a:spcPts val="1600"/>
              </a:spcBef>
              <a:spcAft>
                <a:spcPts val="1600"/>
              </a:spcAft>
              <a:buNone/>
            </a:pPr>
            <a:r>
              <a:rPr lang="en"/>
              <a:t>The implementations are different based on the platforms.</a:t>
            </a:r>
            <a:endParaRPr/>
          </a:p>
        </p:txBody>
      </p:sp>
      <p:sp>
        <p:nvSpPr>
          <p:cNvPr id="659" name="Google Shape;659;p93"/>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Common C functions</a:t>
            </a:r>
            <a:endParaRPr/>
          </a:p>
          <a:p>
            <a:pPr indent="0" lvl="0" marL="0" rtl="0" algn="l">
              <a:spcBef>
                <a:spcPts val="1600"/>
              </a:spcBef>
              <a:spcAft>
                <a:spcPts val="0"/>
              </a:spcAft>
              <a:buNone/>
            </a:pPr>
            <a:r>
              <a:rPr lang="en"/>
              <a:t>m</a:t>
            </a:r>
            <a:r>
              <a:rPr lang="en"/>
              <a:t>an pages are organized into sections:</a:t>
            </a:r>
            <a:endParaRPr/>
          </a:p>
          <a:p>
            <a:pPr indent="0" lvl="0" marL="0" rtl="0" algn="l">
              <a:spcBef>
                <a:spcPts val="1600"/>
              </a:spcBef>
              <a:spcAft>
                <a:spcPts val="0"/>
              </a:spcAft>
              <a:buNone/>
            </a:pPr>
            <a:r>
              <a:rPr lang="en"/>
              <a:t>Section 2 are system calls</a:t>
            </a:r>
            <a:endParaRPr/>
          </a:p>
          <a:p>
            <a:pPr indent="0" lvl="0" marL="0" rtl="0" algn="l">
              <a:spcBef>
                <a:spcPts val="1600"/>
              </a:spcBef>
              <a:spcAft>
                <a:spcPts val="0"/>
              </a:spcAft>
              <a:buNone/>
            </a:pPr>
            <a:r>
              <a:rPr lang="en">
                <a:latin typeface="Consolas"/>
                <a:ea typeface="Consolas"/>
                <a:cs typeface="Consolas"/>
                <a:sym typeface="Consolas"/>
              </a:rPr>
              <a:t>man -S2 open</a:t>
            </a:r>
            <a:endParaRPr>
              <a:latin typeface="Consolas"/>
              <a:ea typeface="Consolas"/>
              <a:cs typeface="Consolas"/>
              <a:sym typeface="Consolas"/>
            </a:endParaRPr>
          </a:p>
          <a:p>
            <a:pPr indent="0" lvl="0" marL="0" rtl="0" algn="l">
              <a:spcBef>
                <a:spcPts val="1600"/>
              </a:spcBef>
              <a:spcAft>
                <a:spcPts val="0"/>
              </a:spcAft>
              <a:buNone/>
            </a:pPr>
            <a:r>
              <a:rPr lang="en"/>
              <a:t>Section 3 are C libraries</a:t>
            </a:r>
            <a:endParaRPr/>
          </a:p>
          <a:p>
            <a:pPr indent="0" lvl="0" marL="0" rtl="0" algn="l">
              <a:spcBef>
                <a:spcPts val="1600"/>
              </a:spcBef>
              <a:spcAft>
                <a:spcPts val="0"/>
              </a:spcAft>
              <a:buClr>
                <a:schemeClr val="dk1"/>
              </a:buClr>
              <a:buSzPts val="1100"/>
              <a:buFont typeface="Arial"/>
              <a:buNone/>
            </a:pPr>
            <a:r>
              <a:rPr lang="en">
                <a:latin typeface="Consolas"/>
                <a:ea typeface="Consolas"/>
                <a:cs typeface="Consolas"/>
                <a:sym typeface="Consolas"/>
              </a:rPr>
              <a:t>man -S3 printf</a:t>
            </a:r>
            <a:endParaRPr>
              <a:latin typeface="Consolas"/>
              <a:ea typeface="Consolas"/>
              <a:cs typeface="Consolas"/>
              <a:sym typeface="Consolas"/>
            </a:endParaRPr>
          </a:p>
          <a:p>
            <a:pPr indent="0" lvl="0" marL="0" rtl="0" algn="l">
              <a:spcBef>
                <a:spcPts val="1600"/>
              </a:spcBef>
              <a:spcAft>
                <a:spcPts val="160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9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Handling Errors</a:t>
            </a:r>
            <a:endParaRPr/>
          </a:p>
        </p:txBody>
      </p:sp>
      <p:sp>
        <p:nvSpPr>
          <p:cNvPr id="665" name="Google Shape;665;p9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In Java and C++ errors handled through exceptions</a:t>
            </a:r>
            <a:endParaRPr sz="1500"/>
          </a:p>
          <a:p>
            <a:pPr indent="0" lvl="0" marL="0" rtl="0" algn="l">
              <a:spcBef>
                <a:spcPts val="1600"/>
              </a:spcBef>
              <a:spcAft>
                <a:spcPts val="0"/>
              </a:spcAft>
              <a:buNone/>
            </a:pPr>
            <a:r>
              <a:rPr lang="en" sz="1500"/>
              <a:t>Arguments</a:t>
            </a:r>
            <a:r>
              <a:rPr lang="en" sz="1500"/>
              <a:t> against exceptions</a:t>
            </a:r>
            <a:endParaRPr sz="1500"/>
          </a:p>
          <a:p>
            <a:pPr indent="-323850" lvl="0" marL="457200" rtl="0" algn="l">
              <a:spcBef>
                <a:spcPts val="1600"/>
              </a:spcBef>
              <a:spcAft>
                <a:spcPts val="0"/>
              </a:spcAft>
              <a:buClr>
                <a:srgbClr val="EE0000"/>
              </a:buClr>
              <a:buSzPts val="1500"/>
              <a:buChar char="-"/>
            </a:pPr>
            <a:r>
              <a:rPr lang="en" sz="1500"/>
              <a:t>Exceptions make control flow harder to understand.</a:t>
            </a:r>
            <a:endParaRPr sz="1500"/>
          </a:p>
          <a:p>
            <a:pPr indent="-323850" lvl="0" marL="457200" rtl="0" algn="l">
              <a:spcBef>
                <a:spcPts val="0"/>
              </a:spcBef>
              <a:spcAft>
                <a:spcPts val="0"/>
              </a:spcAft>
              <a:buClr>
                <a:srgbClr val="EE0000"/>
              </a:buClr>
              <a:buSzPts val="1500"/>
              <a:buChar char="-"/>
            </a:pPr>
            <a:r>
              <a:rPr lang="en" sz="1500"/>
              <a:t>Exception oriented languages need to keep stack traces and maintain jump tables.</a:t>
            </a:r>
            <a:endParaRPr sz="1500"/>
          </a:p>
          <a:p>
            <a:pPr indent="-323850" lvl="0" marL="457200" rtl="0" algn="l">
              <a:spcBef>
                <a:spcPts val="0"/>
              </a:spcBef>
              <a:spcAft>
                <a:spcPts val="0"/>
              </a:spcAft>
              <a:buClr>
                <a:srgbClr val="EE0000"/>
              </a:buClr>
              <a:buSzPts val="1500"/>
              <a:buChar char="-"/>
            </a:pPr>
            <a:r>
              <a:rPr lang="en" sz="1500"/>
              <a:t>Exceptions may be complex objects.</a:t>
            </a:r>
            <a:endParaRPr sz="1500"/>
          </a:p>
        </p:txBody>
      </p:sp>
      <p:sp>
        <p:nvSpPr>
          <p:cNvPr id="666" name="Google Shape;666;p9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600"/>
              <a:t>There are a few arguments for exceptions as well</a:t>
            </a:r>
            <a:endParaRPr sz="1600"/>
          </a:p>
          <a:p>
            <a:pPr indent="-330200" lvl="0" marL="457200" rtl="0" algn="l">
              <a:spcBef>
                <a:spcPts val="1600"/>
              </a:spcBef>
              <a:spcAft>
                <a:spcPts val="0"/>
              </a:spcAft>
              <a:buClr>
                <a:srgbClr val="008000"/>
              </a:buClr>
              <a:buSzPts val="1600"/>
              <a:buChar char="+"/>
            </a:pPr>
            <a:r>
              <a:rPr lang="en" sz="1600"/>
              <a:t>Exceptions can come from several layers deep.</a:t>
            </a:r>
            <a:endParaRPr sz="1600"/>
          </a:p>
          <a:p>
            <a:pPr indent="-330200" lvl="0" marL="457200" rtl="0" algn="l">
              <a:spcBef>
                <a:spcPts val="0"/>
              </a:spcBef>
              <a:spcAft>
                <a:spcPts val="0"/>
              </a:spcAft>
              <a:buClr>
                <a:srgbClr val="008000"/>
              </a:buClr>
              <a:buSzPts val="1600"/>
              <a:buChar char="+"/>
            </a:pPr>
            <a:r>
              <a:rPr lang="en" sz="1600"/>
              <a:t>Exceptions help reduce global state.</a:t>
            </a:r>
            <a:endParaRPr sz="1600"/>
          </a:p>
          <a:p>
            <a:pPr indent="-330200" lvl="0" marL="457200" rtl="0" algn="l">
              <a:spcBef>
                <a:spcPts val="0"/>
              </a:spcBef>
              <a:spcAft>
                <a:spcPts val="0"/>
              </a:spcAft>
              <a:buClr>
                <a:srgbClr val="008000"/>
              </a:buClr>
              <a:buSzPts val="1600"/>
              <a:buChar char="+"/>
            </a:pPr>
            <a:r>
              <a:rPr lang="en" sz="1600"/>
              <a:t>Exceptions differentiate business logic and normal flow.</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95"/>
          <p:cNvSpPr txBox="1"/>
          <p:nvPr>
            <p:ph type="title"/>
          </p:nvPr>
        </p:nvSpPr>
        <p:spPr>
          <a:xfrm>
            <a:off x="311700" y="250800"/>
            <a:ext cx="8641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t>C stderr, error </a:t>
            </a:r>
            <a:r>
              <a:rPr lang="en" sz="2800"/>
              <a:t>messages </a:t>
            </a:r>
            <a:endParaRPr/>
          </a:p>
        </p:txBody>
      </p:sp>
      <p:sp>
        <p:nvSpPr>
          <p:cNvPr id="672" name="Google Shape;672;p95"/>
          <p:cNvSpPr txBox="1"/>
          <p:nvPr>
            <p:ph idx="2" type="body"/>
          </p:nvPr>
        </p:nvSpPr>
        <p:spPr>
          <a:xfrm>
            <a:off x="372775" y="1208350"/>
            <a:ext cx="62718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stdio.h</a:t>
            </a:r>
            <a:r>
              <a:rPr b="1" lang="en" sz="1250">
                <a:solidFill>
                  <a:srgbClr val="E21F1F"/>
                </a:solidFill>
                <a:highlight>
                  <a:srgbClr val="FFFFFF"/>
                </a:highlight>
              </a:rPr>
              <a:t>&gt;</a:t>
            </a:r>
            <a:endParaRPr b="1" sz="12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stdlib.h</a:t>
            </a:r>
            <a:r>
              <a:rPr b="1" lang="en" sz="1250">
                <a:solidFill>
                  <a:srgbClr val="E21F1F"/>
                </a:solidFill>
                <a:highlight>
                  <a:srgbClr val="FFFFFF"/>
                </a:highlight>
              </a:rPr>
              <a:t>&gt;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74531F"/>
                </a:solidFill>
                <a:highlight>
                  <a:srgbClr val="FFFFFF"/>
                </a:highlight>
              </a:rPr>
              <a:t>main</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a:t>
            </a:r>
            <a:r>
              <a:rPr b="1" lang="en" sz="1250">
                <a:solidFill>
                  <a:srgbClr val="1F377F"/>
                </a:solidFill>
                <a:highlight>
                  <a:srgbClr val="FFFFFF"/>
                </a:highlight>
              </a:rPr>
              <a:t>dividend</a:t>
            </a:r>
            <a:r>
              <a:rPr b="1" lang="en" sz="1250">
                <a:solidFill>
                  <a:schemeClr val="dk1"/>
                </a:solidFill>
                <a:highlight>
                  <a:srgbClr val="FFFFFF"/>
                </a:highlight>
              </a:rPr>
              <a:t> = </a:t>
            </a:r>
            <a:r>
              <a:rPr b="1" lang="en" sz="1250">
                <a:solidFill>
                  <a:srgbClr val="098658"/>
                </a:solidFill>
                <a:highlight>
                  <a:srgbClr val="FFFFFF"/>
                </a:highlight>
              </a:rPr>
              <a:t>20</a:t>
            </a:r>
            <a:r>
              <a:rPr b="1" lang="en" sz="1250">
                <a:solidFill>
                  <a:schemeClr val="dk1"/>
                </a:solidFill>
                <a:highlight>
                  <a:srgbClr val="FFFFFF"/>
                </a:highlight>
              </a:rPr>
              <a:t>, </a:t>
            </a:r>
            <a:r>
              <a:rPr b="1" lang="en" sz="1250">
                <a:solidFill>
                  <a:srgbClr val="1F377F"/>
                </a:solidFill>
                <a:highlight>
                  <a:srgbClr val="FFFFFF"/>
                </a:highlight>
              </a:rPr>
              <a:t>divisor</a:t>
            </a:r>
            <a:r>
              <a:rPr b="1" lang="en" sz="1250">
                <a:solidFill>
                  <a:schemeClr val="dk1"/>
                </a:solidFill>
                <a:highlight>
                  <a:srgbClr val="FFFFFF"/>
                </a:highlight>
              </a:rPr>
              <a:t> = </a:t>
            </a:r>
            <a:r>
              <a:rPr b="1" lang="en" sz="1250">
                <a:solidFill>
                  <a:srgbClr val="098658"/>
                </a:solidFill>
                <a:highlight>
                  <a:srgbClr val="FFFFFF"/>
                </a:highlight>
              </a:rPr>
              <a:t>0</a:t>
            </a:r>
            <a:r>
              <a:rPr b="1" lang="en" sz="1250">
                <a:solidFill>
                  <a:schemeClr val="dk1"/>
                </a:solidFill>
                <a:highlight>
                  <a:srgbClr val="FFFFFF"/>
                </a:highlight>
              </a:rPr>
              <a:t>, </a:t>
            </a:r>
            <a:r>
              <a:rPr b="1" lang="en" sz="1250">
                <a:solidFill>
                  <a:srgbClr val="1F377F"/>
                </a:solidFill>
                <a:highlight>
                  <a:srgbClr val="FFFFFF"/>
                </a:highlight>
              </a:rPr>
              <a:t>quotient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8F08C4"/>
                </a:solidFill>
                <a:highlight>
                  <a:srgbClr val="FFFFFF"/>
                </a:highlight>
              </a:rPr>
              <a:t>if</a:t>
            </a:r>
            <a:r>
              <a:rPr b="1" lang="en" sz="1250">
                <a:solidFill>
                  <a:schemeClr val="dk1"/>
                </a:solidFill>
                <a:highlight>
                  <a:srgbClr val="FFFFFF"/>
                </a:highlight>
              </a:rPr>
              <a:t> (</a:t>
            </a:r>
            <a:r>
              <a:rPr b="1" lang="en" sz="1250">
                <a:solidFill>
                  <a:srgbClr val="1F377F"/>
                </a:solidFill>
                <a:highlight>
                  <a:srgbClr val="FFFFFF"/>
                </a:highlight>
              </a:rPr>
              <a:t>divisor</a:t>
            </a:r>
            <a:r>
              <a:rPr b="1" lang="en" sz="1250">
                <a:solidFill>
                  <a:schemeClr val="dk1"/>
                </a:solidFill>
                <a:highlight>
                  <a:srgbClr val="FFFFFF"/>
                </a:highlight>
              </a:rPr>
              <a:t> == </a:t>
            </a:r>
            <a:r>
              <a:rPr b="1" lang="en" sz="1250">
                <a:solidFill>
                  <a:srgbClr val="098658"/>
                </a:solidFill>
                <a:highlight>
                  <a:srgbClr val="FFFFFF"/>
                </a:highlight>
              </a:rPr>
              <a:t>0</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fprintf</a:t>
            </a:r>
            <a:r>
              <a:rPr b="1" lang="en" sz="1250">
                <a:solidFill>
                  <a:schemeClr val="dk1"/>
                </a:solidFill>
                <a:highlight>
                  <a:srgbClr val="FFFFFF"/>
                </a:highlight>
              </a:rPr>
              <a:t>(</a:t>
            </a:r>
            <a:r>
              <a:rPr b="1" lang="en" sz="1250">
                <a:solidFill>
                  <a:srgbClr val="8A1BFF"/>
                </a:solidFill>
                <a:highlight>
                  <a:srgbClr val="FFFFFF"/>
                </a:highlight>
              </a:rPr>
              <a:t>stderr</a:t>
            </a:r>
            <a:r>
              <a:rPr b="1" lang="en" sz="1250">
                <a:solidFill>
                  <a:schemeClr val="dk1"/>
                </a:solidFill>
                <a:highlight>
                  <a:srgbClr val="FFFFFF"/>
                </a:highlight>
              </a:rPr>
              <a:t>, </a:t>
            </a:r>
            <a:r>
              <a:rPr b="1" lang="en" sz="1250">
                <a:solidFill>
                  <a:srgbClr val="E21F1F"/>
                </a:solidFill>
                <a:highlight>
                  <a:srgbClr val="FFFFFF"/>
                </a:highlight>
              </a:rPr>
              <a:t>"</a:t>
            </a:r>
            <a:r>
              <a:rPr b="1" lang="en" sz="1250">
                <a:solidFill>
                  <a:srgbClr val="A31515"/>
                </a:solidFill>
                <a:highlight>
                  <a:srgbClr val="FFFFFF"/>
                </a:highlight>
              </a:rPr>
              <a:t>Division by zero! Exiting...</a:t>
            </a:r>
            <a:r>
              <a:rPr b="1" lang="en" sz="1250">
                <a:solidFill>
                  <a:srgbClr val="B776FB"/>
                </a:solidFill>
                <a:highlight>
                  <a:srgbClr val="FFFFFF"/>
                </a:highlight>
              </a:rPr>
              <a:t>\n</a:t>
            </a:r>
            <a:r>
              <a:rPr b="1" lang="en" sz="1250">
                <a:solidFill>
                  <a:srgbClr val="E21F1F"/>
                </a:solidFill>
                <a:highlight>
                  <a:srgbClr val="FFFFFF"/>
                </a:highlight>
              </a:rPr>
              <a: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exit</a:t>
            </a:r>
            <a:r>
              <a:rPr b="1" lang="en" sz="1250">
                <a:solidFill>
                  <a:schemeClr val="dk1"/>
                </a:solidFill>
                <a:highlight>
                  <a:srgbClr val="FFFFFF"/>
                </a:highlight>
              </a:rPr>
              <a:t>(-</a:t>
            </a:r>
            <a:r>
              <a:rPr b="1" lang="en" sz="1250">
                <a:solidFill>
                  <a:srgbClr val="098658"/>
                </a:solidFill>
                <a:highlight>
                  <a:srgbClr val="FFFFFF"/>
                </a:highlight>
              </a:rPr>
              <a:t>1</a:t>
            </a:r>
            <a:r>
              <a:rPr b="1" lang="en" sz="1250">
                <a:solidFill>
                  <a:schemeClr val="dk1"/>
                </a:solidFill>
                <a:highlight>
                  <a:srgbClr val="FFFFFF"/>
                </a:highlight>
              </a:rPr>
              <a:t>); </a:t>
            </a:r>
            <a:r>
              <a:rPr b="1" lang="en" sz="1250">
                <a:solidFill>
                  <a:srgbClr val="008000"/>
                </a:solidFill>
                <a:highlight>
                  <a:srgbClr val="FFFFFF"/>
                </a:highlight>
              </a:rPr>
              <a:t>/*=exit(EXIT_FAILURE)*/</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1F377F"/>
                </a:solidFill>
                <a:highlight>
                  <a:srgbClr val="FFFFFF"/>
                </a:highlight>
              </a:rPr>
              <a:t>quotient</a:t>
            </a:r>
            <a:r>
              <a:rPr b="1" lang="en" sz="1250">
                <a:solidFill>
                  <a:schemeClr val="dk1"/>
                </a:solidFill>
                <a:highlight>
                  <a:srgbClr val="FFFFFF"/>
                </a:highlight>
              </a:rPr>
              <a:t> = </a:t>
            </a:r>
            <a:r>
              <a:rPr b="1" lang="en" sz="1250">
                <a:solidFill>
                  <a:srgbClr val="1F377F"/>
                </a:solidFill>
                <a:highlight>
                  <a:srgbClr val="FFFFFF"/>
                </a:highlight>
              </a:rPr>
              <a:t>dividend</a:t>
            </a:r>
            <a:r>
              <a:rPr b="1" lang="en" sz="1250">
                <a:solidFill>
                  <a:schemeClr val="dk1"/>
                </a:solidFill>
                <a:highlight>
                  <a:srgbClr val="FFFFFF"/>
                </a:highlight>
              </a:rPr>
              <a:t> / </a:t>
            </a:r>
            <a:r>
              <a:rPr b="1" lang="en" sz="1250">
                <a:solidFill>
                  <a:srgbClr val="1F377F"/>
                </a:solidFill>
                <a:highlight>
                  <a:srgbClr val="FFFFFF"/>
                </a:highlight>
              </a:rPr>
              <a:t>divisor</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fprintf</a:t>
            </a:r>
            <a:r>
              <a:rPr b="1" lang="en" sz="1250">
                <a:solidFill>
                  <a:schemeClr val="dk1"/>
                </a:solidFill>
                <a:highlight>
                  <a:srgbClr val="FFFFFF"/>
                </a:highlight>
              </a:rPr>
              <a:t>(</a:t>
            </a:r>
            <a:r>
              <a:rPr b="1" lang="en" sz="1250">
                <a:solidFill>
                  <a:srgbClr val="8A1BFF"/>
                </a:solidFill>
                <a:highlight>
                  <a:srgbClr val="FFFFFF"/>
                </a:highlight>
              </a:rPr>
              <a:t>stderr</a:t>
            </a:r>
            <a:r>
              <a:rPr b="1" lang="en" sz="1250">
                <a:solidFill>
                  <a:schemeClr val="dk1"/>
                </a:solidFill>
                <a:highlight>
                  <a:srgbClr val="FFFFFF"/>
                </a:highlight>
              </a:rPr>
              <a:t>, </a:t>
            </a:r>
            <a:r>
              <a:rPr b="1" lang="en" sz="1250">
                <a:solidFill>
                  <a:srgbClr val="E21F1F"/>
                </a:solidFill>
                <a:highlight>
                  <a:srgbClr val="FFFFFF"/>
                </a:highlight>
              </a:rPr>
              <a:t>"</a:t>
            </a:r>
            <a:r>
              <a:rPr b="1" lang="en" sz="1250">
                <a:solidFill>
                  <a:srgbClr val="A31515"/>
                </a:solidFill>
                <a:highlight>
                  <a:srgbClr val="FFFFFF"/>
                </a:highlight>
              </a:rPr>
              <a:t>Value of quotient : </a:t>
            </a:r>
            <a:r>
              <a:rPr b="1" lang="en" sz="1250">
                <a:solidFill>
                  <a:srgbClr val="1F377F"/>
                </a:solidFill>
                <a:highlight>
                  <a:srgbClr val="FFFFFF"/>
                </a:highlight>
              </a:rPr>
              <a:t>%d</a:t>
            </a:r>
            <a:r>
              <a:rPr b="1" lang="en" sz="1250">
                <a:solidFill>
                  <a:srgbClr val="B776FB"/>
                </a:solidFill>
                <a:highlight>
                  <a:srgbClr val="FFFFFF"/>
                </a:highlight>
              </a:rPr>
              <a:t>\n</a:t>
            </a:r>
            <a:r>
              <a:rPr b="1" lang="en" sz="1250">
                <a:solidFill>
                  <a:srgbClr val="E21F1F"/>
                </a:solidFill>
                <a:highlight>
                  <a:srgbClr val="FFFFFF"/>
                </a:highlight>
              </a:rPr>
              <a:t>"</a:t>
            </a:r>
            <a:r>
              <a:rPr b="1" lang="en" sz="1250">
                <a:solidFill>
                  <a:schemeClr val="dk1"/>
                </a:solidFill>
                <a:highlight>
                  <a:srgbClr val="FFFFFF"/>
                </a:highlight>
              </a:rPr>
              <a:t>, </a:t>
            </a:r>
            <a:r>
              <a:rPr b="1" lang="en" sz="1250">
                <a:solidFill>
                  <a:srgbClr val="1F377F"/>
                </a:solidFill>
                <a:highlight>
                  <a:srgbClr val="FFFFFF"/>
                </a:highlight>
              </a:rPr>
              <a:t>quotient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exit</a:t>
            </a:r>
            <a:r>
              <a:rPr b="1" lang="en" sz="1250">
                <a:solidFill>
                  <a:schemeClr val="dk1"/>
                </a:solidFill>
                <a:highlight>
                  <a:srgbClr val="FFFFFF"/>
                </a:highlight>
              </a:rPr>
              <a:t>(</a:t>
            </a:r>
            <a:r>
              <a:rPr b="1" lang="en" sz="1250">
                <a:solidFill>
                  <a:srgbClr val="098658"/>
                </a:solidFill>
                <a:highlight>
                  <a:srgbClr val="FFFFFF"/>
                </a:highlight>
              </a:rPr>
              <a:t>0</a:t>
            </a:r>
            <a:r>
              <a:rPr b="1" lang="en" sz="1250">
                <a:solidFill>
                  <a:schemeClr val="dk1"/>
                </a:solidFill>
                <a:highlight>
                  <a:srgbClr val="FFFFFF"/>
                </a:highlight>
              </a:rPr>
              <a:t>); </a:t>
            </a:r>
            <a:r>
              <a:rPr b="1" lang="en" sz="1250">
                <a:solidFill>
                  <a:srgbClr val="008000"/>
                </a:solidFill>
                <a:highlight>
                  <a:srgbClr val="FFFFFF"/>
                </a:highlight>
              </a:rPr>
              <a:t>/*=exit(EXIT_SUCCES)*/</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spcBef>
                <a:spcPts val="0"/>
              </a:spcBef>
              <a:spcAft>
                <a:spcPts val="0"/>
              </a:spcAft>
              <a:buNone/>
            </a:pPr>
            <a:r>
              <a:t/>
            </a:r>
            <a:endParaRPr b="1" sz="140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9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Handling Errors: errno</a:t>
            </a:r>
            <a:endParaRPr/>
          </a:p>
        </p:txBody>
      </p:sp>
      <p:sp>
        <p:nvSpPr>
          <p:cNvPr id="678" name="Google Shape;678;p9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C does not provide direct support for error handling (also known as exception handling).</a:t>
            </a:r>
            <a:endParaRPr/>
          </a:p>
          <a:p>
            <a:pPr indent="-304800" lvl="0" marL="457200" rtl="0" algn="l">
              <a:spcBef>
                <a:spcPts val="1600"/>
              </a:spcBef>
              <a:spcAft>
                <a:spcPts val="0"/>
              </a:spcAft>
              <a:buSzPts val="1200"/>
              <a:buChar char="●"/>
            </a:pPr>
            <a:r>
              <a:rPr lang="en"/>
              <a:t>-1 and NULL are used to indicate errors</a:t>
            </a:r>
            <a:endParaRPr/>
          </a:p>
          <a:p>
            <a:pPr indent="-304800" lvl="0" marL="457200" rtl="0" algn="l">
              <a:spcBef>
                <a:spcPts val="1600"/>
              </a:spcBef>
              <a:spcAft>
                <a:spcPts val="0"/>
              </a:spcAft>
              <a:buSzPts val="1200"/>
              <a:buChar char="●"/>
            </a:pPr>
            <a:r>
              <a:rPr lang="en"/>
              <a:t>In Linux, global variable errno is assigned to the code</a:t>
            </a:r>
            <a:endParaRPr/>
          </a:p>
          <a:p>
            <a:pPr indent="-304800" lvl="0" marL="457200" rtl="0" algn="l">
              <a:spcBef>
                <a:spcPts val="1600"/>
              </a:spcBef>
              <a:spcAft>
                <a:spcPts val="0"/>
              </a:spcAft>
              <a:buSzPts val="1200"/>
              <a:buChar char="●"/>
            </a:pPr>
            <a:r>
              <a:rPr lang="en"/>
              <a:t>errno can be used to identify the problem</a:t>
            </a:r>
            <a:endParaRPr/>
          </a:p>
          <a:p>
            <a:pPr indent="0" lvl="0" marL="0" rtl="0" algn="l">
              <a:spcBef>
                <a:spcPts val="1600"/>
              </a:spcBef>
              <a:spcAft>
                <a:spcPts val="0"/>
              </a:spcAft>
              <a:buNone/>
            </a:pPr>
            <a:r>
              <a:rPr b="1" lang="en" sz="1200"/>
              <a:t>strerror()</a:t>
            </a:r>
            <a:r>
              <a:rPr lang="en" sz="1200"/>
              <a:t> and </a:t>
            </a:r>
            <a:r>
              <a:rPr b="1" lang="en" sz="1200"/>
              <a:t>perror()</a:t>
            </a:r>
            <a:r>
              <a:rPr lang="en" sz="1200"/>
              <a:t> can be used to display the error message associated with </a:t>
            </a:r>
            <a:r>
              <a:rPr b="1" lang="en" sz="1200"/>
              <a:t>errno</a:t>
            </a:r>
            <a:endParaRPr sz="1200"/>
          </a:p>
        </p:txBody>
      </p:sp>
      <p:sp>
        <p:nvSpPr>
          <p:cNvPr id="679" name="Google Shape;679;p9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errno </a:t>
            </a:r>
            <a:endParaRPr b="1" sz="1000">
              <a:solidFill>
                <a:schemeClr val="dk1"/>
              </a:solidFill>
            </a:endParaRPr>
          </a:p>
          <a:p>
            <a:pPr indent="0" lvl="0" marL="0" rtl="0" algn="l">
              <a:spcBef>
                <a:spcPts val="0"/>
              </a:spcBef>
              <a:spcAft>
                <a:spcPts val="0"/>
              </a:spcAft>
              <a:buNone/>
            </a:pPr>
            <a:r>
              <a:rPr b="1" lang="en" sz="1000">
                <a:solidFill>
                  <a:schemeClr val="dk1"/>
                </a:solidFill>
              </a:rPr>
              <a:t>value</a:t>
            </a:r>
            <a:r>
              <a:rPr lang="en" sz="1000">
                <a:solidFill>
                  <a:schemeClr val="dk1"/>
                </a:solidFill>
              </a:rPr>
              <a:t>      		 </a:t>
            </a:r>
            <a:r>
              <a:rPr b="1" lang="en" sz="1000">
                <a:solidFill>
                  <a:schemeClr val="dk1"/>
                </a:solidFill>
              </a:rPr>
              <a:t>Error</a:t>
            </a:r>
            <a:endParaRPr sz="1000">
              <a:solidFill>
                <a:schemeClr val="dk1"/>
              </a:solidFill>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1       </a:t>
            </a:r>
            <a:r>
              <a:rPr lang="en" sz="1200">
                <a:solidFill>
                  <a:schemeClr val="dk1"/>
                </a:solidFill>
                <a:latin typeface="Consolas"/>
                <a:ea typeface="Consolas"/>
                <a:cs typeface="Consolas"/>
                <a:sym typeface="Consolas"/>
              </a:rPr>
              <a:t>      /* Operation not permitted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2 </a:t>
            </a:r>
            <a:r>
              <a:rPr lang="en" sz="1200">
                <a:solidFill>
                  <a:schemeClr val="dk1"/>
                </a:solidFill>
                <a:latin typeface="Consolas"/>
                <a:ea typeface="Consolas"/>
                <a:cs typeface="Consolas"/>
                <a:sym typeface="Consolas"/>
              </a:rPr>
              <a:t>            /* No such file or directory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3  </a:t>
            </a:r>
            <a:r>
              <a:rPr lang="en" sz="1200">
                <a:solidFill>
                  <a:schemeClr val="dk1"/>
                </a:solidFill>
                <a:latin typeface="Consolas"/>
                <a:ea typeface="Consolas"/>
                <a:cs typeface="Consolas"/>
                <a:sym typeface="Consolas"/>
              </a:rPr>
              <a:t>           /* No such process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4</a:t>
            </a:r>
            <a:r>
              <a:rPr lang="en" sz="1200">
                <a:solidFill>
                  <a:schemeClr val="dk1"/>
                </a:solidFill>
                <a:latin typeface="Consolas"/>
                <a:ea typeface="Consolas"/>
                <a:cs typeface="Consolas"/>
                <a:sym typeface="Consolas"/>
              </a:rPr>
              <a:t>             /* Interrupted system call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5</a:t>
            </a:r>
            <a:r>
              <a:rPr lang="en" sz="1200">
                <a:solidFill>
                  <a:schemeClr val="dk1"/>
                </a:solidFill>
                <a:latin typeface="Consolas"/>
                <a:ea typeface="Consolas"/>
                <a:cs typeface="Consolas"/>
                <a:sym typeface="Consolas"/>
              </a:rPr>
              <a:t>             /* I/O error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6</a:t>
            </a:r>
            <a:r>
              <a:rPr lang="en" sz="1200">
                <a:solidFill>
                  <a:schemeClr val="dk1"/>
                </a:solidFill>
                <a:latin typeface="Consolas"/>
                <a:ea typeface="Consolas"/>
                <a:cs typeface="Consolas"/>
                <a:sym typeface="Consolas"/>
              </a:rPr>
              <a:t>             /* No such device or address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7</a:t>
            </a:r>
            <a:r>
              <a:rPr lang="en" sz="1200">
                <a:solidFill>
                  <a:schemeClr val="dk1"/>
                </a:solidFill>
                <a:latin typeface="Consolas"/>
                <a:ea typeface="Consolas"/>
                <a:cs typeface="Consolas"/>
                <a:sym typeface="Consolas"/>
              </a:rPr>
              <a:t>             /* Argument list too long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8</a:t>
            </a:r>
            <a:r>
              <a:rPr lang="en" sz="1200">
                <a:solidFill>
                  <a:schemeClr val="dk1"/>
                </a:solidFill>
                <a:latin typeface="Consolas"/>
                <a:ea typeface="Consolas"/>
                <a:cs typeface="Consolas"/>
                <a:sym typeface="Consolas"/>
              </a:rPr>
              <a:t>             /* Exec format error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9</a:t>
            </a:r>
            <a:r>
              <a:rPr lang="en" sz="1200">
                <a:solidFill>
                  <a:schemeClr val="dk1"/>
                </a:solidFill>
                <a:latin typeface="Consolas"/>
                <a:ea typeface="Consolas"/>
                <a:cs typeface="Consolas"/>
                <a:sym typeface="Consolas"/>
              </a:rPr>
              <a:t>             /* Bad file number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10</a:t>
            </a:r>
            <a:r>
              <a:rPr lang="en" sz="1200">
                <a:solidFill>
                  <a:schemeClr val="dk1"/>
                </a:solidFill>
                <a:latin typeface="Consolas"/>
                <a:ea typeface="Consolas"/>
                <a:cs typeface="Consolas"/>
                <a:sym typeface="Consolas"/>
              </a:rPr>
              <a:t>            /* No child processes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11</a:t>
            </a:r>
            <a:r>
              <a:rPr lang="en" sz="1200">
                <a:solidFill>
                  <a:schemeClr val="dk1"/>
                </a:solidFill>
                <a:latin typeface="Consolas"/>
                <a:ea typeface="Consolas"/>
                <a:cs typeface="Consolas"/>
                <a:sym typeface="Consolas"/>
              </a:rPr>
              <a:t>            /* Try again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12</a:t>
            </a:r>
            <a:r>
              <a:rPr lang="en" sz="1200">
                <a:solidFill>
                  <a:schemeClr val="dk1"/>
                </a:solidFill>
                <a:latin typeface="Consolas"/>
                <a:ea typeface="Consolas"/>
                <a:cs typeface="Consolas"/>
                <a:sym typeface="Consolas"/>
              </a:rPr>
              <a:t>            /* Out of memory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13</a:t>
            </a:r>
            <a:r>
              <a:rPr lang="en" sz="1200">
                <a:solidFill>
                  <a:schemeClr val="dk1"/>
                </a:solidFill>
                <a:latin typeface="Consolas"/>
                <a:ea typeface="Consolas"/>
                <a:cs typeface="Consolas"/>
                <a:sym typeface="Consolas"/>
              </a:rPr>
              <a:t>            /* Permission denied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97"/>
          <p:cNvSpPr txBox="1"/>
          <p:nvPr/>
        </p:nvSpPr>
        <p:spPr>
          <a:xfrm>
            <a:off x="762000" y="152400"/>
            <a:ext cx="7778700" cy="4550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350">
                <a:solidFill>
                  <a:srgbClr val="AF00DB"/>
                </a:solidFill>
                <a:highlight>
                  <a:srgbClr val="FFFFFF"/>
                </a:highlight>
                <a:latin typeface="Consolas"/>
                <a:ea typeface="Consolas"/>
                <a:cs typeface="Consolas"/>
                <a:sym typeface="Consolas"/>
              </a:rPr>
              <a:t>#include</a:t>
            </a:r>
            <a:r>
              <a:rPr b="1" lang="en" sz="1350">
                <a:solidFill>
                  <a:srgbClr val="0000FF"/>
                </a:solidFill>
                <a:highlight>
                  <a:srgbClr val="FFFFFF"/>
                </a:highlight>
                <a:latin typeface="Consolas"/>
                <a:ea typeface="Consolas"/>
                <a:cs typeface="Consolas"/>
                <a:sym typeface="Consolas"/>
              </a:rPr>
              <a:t> </a:t>
            </a:r>
            <a:r>
              <a:rPr b="1" lang="en" sz="1350">
                <a:solidFill>
                  <a:srgbClr val="A31515"/>
                </a:solidFill>
                <a:highlight>
                  <a:srgbClr val="FFFFFF"/>
                </a:highlight>
                <a:latin typeface="Consolas"/>
                <a:ea typeface="Consolas"/>
                <a:cs typeface="Consolas"/>
                <a:sym typeface="Consolas"/>
              </a:rPr>
              <a:t>&lt;errno.h&gt;</a:t>
            </a:r>
            <a:endParaRPr b="1" sz="1350">
              <a:solidFill>
                <a:srgbClr val="A31515"/>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rgbClr val="AF00DB"/>
                </a:solidFill>
                <a:highlight>
                  <a:srgbClr val="FFFFFF"/>
                </a:highlight>
                <a:latin typeface="Consolas"/>
                <a:ea typeface="Consolas"/>
                <a:cs typeface="Consolas"/>
                <a:sym typeface="Consolas"/>
              </a:rPr>
              <a:t>#include</a:t>
            </a:r>
            <a:r>
              <a:rPr b="1" lang="en" sz="1350">
                <a:solidFill>
                  <a:srgbClr val="0000FF"/>
                </a:solidFill>
                <a:highlight>
                  <a:srgbClr val="FFFFFF"/>
                </a:highlight>
                <a:latin typeface="Consolas"/>
                <a:ea typeface="Consolas"/>
                <a:cs typeface="Consolas"/>
                <a:sym typeface="Consolas"/>
              </a:rPr>
              <a:t> </a:t>
            </a:r>
            <a:r>
              <a:rPr b="1" lang="en" sz="1350">
                <a:solidFill>
                  <a:srgbClr val="A31515"/>
                </a:solidFill>
                <a:highlight>
                  <a:srgbClr val="FFFFFF"/>
                </a:highlight>
                <a:latin typeface="Consolas"/>
                <a:ea typeface="Consolas"/>
                <a:cs typeface="Consolas"/>
                <a:sym typeface="Consolas"/>
              </a:rPr>
              <a:t>&lt;stdio.h&gt;</a:t>
            </a:r>
            <a:endParaRPr b="1" sz="1350">
              <a:solidFill>
                <a:srgbClr val="A31515"/>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rgbClr val="AF00DB"/>
                </a:solidFill>
                <a:highlight>
                  <a:srgbClr val="FFFFFF"/>
                </a:highlight>
                <a:latin typeface="Consolas"/>
                <a:ea typeface="Consolas"/>
                <a:cs typeface="Consolas"/>
                <a:sym typeface="Consolas"/>
              </a:rPr>
              <a:t>#include</a:t>
            </a:r>
            <a:r>
              <a:rPr b="1" lang="en" sz="1350">
                <a:solidFill>
                  <a:srgbClr val="0000FF"/>
                </a:solidFill>
                <a:highlight>
                  <a:srgbClr val="FFFFFF"/>
                </a:highlight>
                <a:latin typeface="Consolas"/>
                <a:ea typeface="Consolas"/>
                <a:cs typeface="Consolas"/>
                <a:sym typeface="Consolas"/>
              </a:rPr>
              <a:t> </a:t>
            </a:r>
            <a:r>
              <a:rPr b="1" lang="en" sz="1350">
                <a:solidFill>
                  <a:srgbClr val="A31515"/>
                </a:solidFill>
                <a:highlight>
                  <a:srgbClr val="FFFFFF"/>
                </a:highlight>
                <a:latin typeface="Consolas"/>
                <a:ea typeface="Consolas"/>
                <a:cs typeface="Consolas"/>
                <a:sym typeface="Consolas"/>
              </a:rPr>
              <a:t>&lt;string.h&gt;</a:t>
            </a:r>
            <a:endParaRPr b="1" sz="1350">
              <a:solidFill>
                <a:srgbClr val="A31515"/>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rgbClr val="0000FF"/>
                </a:solidFill>
                <a:highlight>
                  <a:srgbClr val="FFFFFF"/>
                </a:highlight>
                <a:latin typeface="Consolas"/>
                <a:ea typeface="Consolas"/>
                <a:cs typeface="Consolas"/>
                <a:sym typeface="Consolas"/>
              </a:rPr>
              <a:t>int</a:t>
            </a:r>
            <a:r>
              <a:rPr b="1" lang="en" sz="1350">
                <a:solidFill>
                  <a:schemeClr val="dk1"/>
                </a:solidFill>
                <a:highlight>
                  <a:srgbClr val="FFFFFF"/>
                </a:highlight>
                <a:latin typeface="Consolas"/>
                <a:ea typeface="Consolas"/>
                <a:cs typeface="Consolas"/>
                <a:sym typeface="Consolas"/>
              </a:rPr>
              <a:t> </a:t>
            </a:r>
            <a:r>
              <a:rPr b="1" lang="en" sz="1350">
                <a:solidFill>
                  <a:srgbClr val="795E26"/>
                </a:solidFill>
                <a:highlight>
                  <a:srgbClr val="FFFFFF"/>
                </a:highlight>
                <a:latin typeface="Consolas"/>
                <a:ea typeface="Consolas"/>
                <a:cs typeface="Consolas"/>
                <a:sym typeface="Consolas"/>
              </a:rPr>
              <a:t>main</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267F99"/>
                </a:solidFill>
                <a:highlight>
                  <a:srgbClr val="FFFFFF"/>
                </a:highlight>
                <a:latin typeface="Consolas"/>
                <a:ea typeface="Consolas"/>
                <a:cs typeface="Consolas"/>
                <a:sym typeface="Consolas"/>
              </a:rPr>
              <a:t>FILE</a:t>
            </a:r>
            <a:r>
              <a:rPr b="1" lang="en" sz="1350">
                <a:solidFill>
                  <a:schemeClr val="dk1"/>
                </a:solidFill>
                <a:highlight>
                  <a:srgbClr val="FFFFFF"/>
                </a:highlight>
                <a:latin typeface="Consolas"/>
                <a:ea typeface="Consolas"/>
                <a:cs typeface="Consolas"/>
                <a:sym typeface="Consolas"/>
              </a:rPr>
              <a:t> *</a:t>
            </a:r>
            <a:r>
              <a:rPr b="1" lang="en" sz="1350">
                <a:solidFill>
                  <a:srgbClr val="001080"/>
                </a:solidFill>
                <a:highlight>
                  <a:srgbClr val="FFFFFF"/>
                </a:highlight>
                <a:latin typeface="Consolas"/>
                <a:ea typeface="Consolas"/>
                <a:cs typeface="Consolas"/>
                <a:sym typeface="Consolas"/>
              </a:rPr>
              <a:t>f</a:t>
            </a:r>
            <a:r>
              <a:rPr b="1" lang="en" sz="1350">
                <a:solidFill>
                  <a:schemeClr val="dk1"/>
                </a:solidFill>
                <a:highlight>
                  <a:srgbClr val="FFFFFF"/>
                </a:highlight>
                <a:latin typeface="Consolas"/>
                <a:ea typeface="Consolas"/>
                <a:cs typeface="Consolas"/>
                <a:sym typeface="Consolas"/>
              </a:rPr>
              <a:t> = </a:t>
            </a:r>
            <a:r>
              <a:rPr b="1" lang="en" sz="1350">
                <a:solidFill>
                  <a:srgbClr val="795E26"/>
                </a:solidFill>
                <a:highlight>
                  <a:srgbClr val="FFFFFF"/>
                </a:highlight>
                <a:latin typeface="Consolas"/>
                <a:ea typeface="Consolas"/>
                <a:cs typeface="Consolas"/>
                <a:sym typeface="Consolas"/>
              </a:rPr>
              <a:t>fopen</a:t>
            </a:r>
            <a:r>
              <a:rPr b="1" lang="en" sz="1350">
                <a:solidFill>
                  <a:schemeClr val="dk1"/>
                </a:solidFill>
                <a:highlight>
                  <a:srgbClr val="FFFFFF"/>
                </a:highlight>
                <a:latin typeface="Consolas"/>
                <a:ea typeface="Consolas"/>
                <a:cs typeface="Consolas"/>
                <a:sym typeface="Consolas"/>
              </a:rPr>
              <a:t>(</a:t>
            </a:r>
            <a:r>
              <a:rPr b="1" lang="en" sz="1350">
                <a:solidFill>
                  <a:srgbClr val="A31515"/>
                </a:solidFill>
                <a:highlight>
                  <a:srgbClr val="FFFFFF"/>
                </a:highlight>
                <a:latin typeface="Consolas"/>
                <a:ea typeface="Consolas"/>
                <a:cs typeface="Consolas"/>
                <a:sym typeface="Consolas"/>
              </a:rPr>
              <a:t>"/does/not/exist.txt"</a:t>
            </a:r>
            <a:r>
              <a:rPr b="1" lang="en" sz="1350">
                <a:solidFill>
                  <a:schemeClr val="dk1"/>
                </a:solidFill>
                <a:highlight>
                  <a:srgbClr val="FFFFFF"/>
                </a:highlight>
                <a:latin typeface="Consolas"/>
                <a:ea typeface="Consolas"/>
                <a:cs typeface="Consolas"/>
                <a:sym typeface="Consolas"/>
              </a:rPr>
              <a:t>, </a:t>
            </a:r>
            <a:r>
              <a:rPr b="1" lang="en" sz="1350">
                <a:solidFill>
                  <a:srgbClr val="A31515"/>
                </a:solidFill>
                <a:highlight>
                  <a:srgbClr val="FFFFFF"/>
                </a:highlight>
                <a:latin typeface="Consolas"/>
                <a:ea typeface="Consolas"/>
                <a:cs typeface="Consolas"/>
                <a:sym typeface="Consolas"/>
              </a:rPr>
              <a:t>"r"</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AF00DB"/>
                </a:solidFill>
                <a:highlight>
                  <a:srgbClr val="FFFFFF"/>
                </a:highlight>
                <a:latin typeface="Consolas"/>
                <a:ea typeface="Consolas"/>
                <a:cs typeface="Consolas"/>
                <a:sym typeface="Consolas"/>
              </a:rPr>
              <a:t>if</a:t>
            </a: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NULL</a:t>
            </a:r>
            <a:r>
              <a:rPr b="1" lang="en" sz="1350">
                <a:solidFill>
                  <a:schemeClr val="dk1"/>
                </a:solidFill>
                <a:highlight>
                  <a:srgbClr val="FFFFFF"/>
                </a:highlight>
                <a:latin typeface="Consolas"/>
                <a:ea typeface="Consolas"/>
                <a:cs typeface="Consolas"/>
                <a:sym typeface="Consolas"/>
              </a:rPr>
              <a:t> == </a:t>
            </a:r>
            <a:r>
              <a:rPr b="1" lang="en" sz="1350">
                <a:solidFill>
                  <a:srgbClr val="001080"/>
                </a:solidFill>
                <a:highlight>
                  <a:srgbClr val="FFFFFF"/>
                </a:highlight>
                <a:latin typeface="Consolas"/>
                <a:ea typeface="Consolas"/>
                <a:cs typeface="Consolas"/>
                <a:sym typeface="Consolas"/>
              </a:rPr>
              <a:t>f</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795E26"/>
                </a:solidFill>
                <a:highlight>
                  <a:srgbClr val="FFFFFF"/>
                </a:highlight>
                <a:latin typeface="Consolas"/>
                <a:ea typeface="Consolas"/>
                <a:cs typeface="Consolas"/>
                <a:sym typeface="Consolas"/>
              </a:rPr>
              <a:t>fprintf</a:t>
            </a:r>
            <a:r>
              <a:rPr b="1" lang="en" sz="1350">
                <a:solidFill>
                  <a:schemeClr val="dk1"/>
                </a:solidFill>
                <a:highlight>
                  <a:srgbClr val="FFFFFF"/>
                </a:highlight>
                <a:latin typeface="Consolas"/>
                <a:ea typeface="Consolas"/>
                <a:cs typeface="Consolas"/>
                <a:sym typeface="Consolas"/>
              </a:rPr>
              <a:t>(</a:t>
            </a:r>
            <a:r>
              <a:rPr b="1" lang="en" sz="1350">
                <a:solidFill>
                  <a:srgbClr val="0000FF"/>
                </a:solidFill>
                <a:highlight>
                  <a:srgbClr val="FFFFFF"/>
                </a:highlight>
                <a:latin typeface="Consolas"/>
                <a:ea typeface="Consolas"/>
                <a:cs typeface="Consolas"/>
                <a:sym typeface="Consolas"/>
              </a:rPr>
              <a:t>stderr</a:t>
            </a:r>
            <a:r>
              <a:rPr b="1" lang="en" sz="1350">
                <a:solidFill>
                  <a:schemeClr val="dk1"/>
                </a:solidFill>
                <a:highlight>
                  <a:srgbClr val="FFFFFF"/>
                </a:highlight>
                <a:latin typeface="Consolas"/>
                <a:ea typeface="Consolas"/>
                <a:cs typeface="Consolas"/>
                <a:sym typeface="Consolas"/>
              </a:rPr>
              <a:t>, </a:t>
            </a:r>
            <a:r>
              <a:rPr b="1" lang="en" sz="1350">
                <a:solidFill>
                  <a:srgbClr val="A31515"/>
                </a:solidFill>
                <a:highlight>
                  <a:srgbClr val="FFFFFF"/>
                </a:highlight>
                <a:latin typeface="Consolas"/>
                <a:ea typeface="Consolas"/>
                <a:cs typeface="Consolas"/>
                <a:sym typeface="Consolas"/>
              </a:rPr>
              <a:t>"Errno is </a:t>
            </a:r>
            <a:r>
              <a:rPr b="1" lang="en" sz="1350">
                <a:solidFill>
                  <a:srgbClr val="001080"/>
                </a:solidFill>
                <a:highlight>
                  <a:srgbClr val="FFFFFF"/>
                </a:highlight>
                <a:latin typeface="Consolas"/>
                <a:ea typeface="Consolas"/>
                <a:cs typeface="Consolas"/>
                <a:sym typeface="Consolas"/>
              </a:rPr>
              <a:t>%d</a:t>
            </a:r>
            <a:r>
              <a:rPr b="1" lang="en" sz="1350">
                <a:solidFill>
                  <a:srgbClr val="EE0000"/>
                </a:solidFill>
                <a:highlight>
                  <a:srgbClr val="FFFFFF"/>
                </a:highlight>
                <a:latin typeface="Consolas"/>
                <a:ea typeface="Consolas"/>
                <a:cs typeface="Consolas"/>
                <a:sym typeface="Consolas"/>
              </a:rPr>
              <a:t>\n</a:t>
            </a:r>
            <a:r>
              <a:rPr b="1" lang="en" sz="1350">
                <a:solidFill>
                  <a:srgbClr val="A31515"/>
                </a:solidFill>
                <a:highlight>
                  <a:srgbClr val="FFFFFF"/>
                </a:highlight>
                <a:latin typeface="Consolas"/>
                <a:ea typeface="Consolas"/>
                <a:cs typeface="Consolas"/>
                <a:sym typeface="Consolas"/>
              </a:rPr>
              <a:t>"</a:t>
            </a: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errno</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795E26"/>
                </a:solidFill>
                <a:highlight>
                  <a:srgbClr val="FFFFFF"/>
                </a:highlight>
                <a:latin typeface="Consolas"/>
                <a:ea typeface="Consolas"/>
                <a:cs typeface="Consolas"/>
                <a:sym typeface="Consolas"/>
              </a:rPr>
              <a:t>fprintf</a:t>
            </a:r>
            <a:r>
              <a:rPr b="1" lang="en" sz="1350">
                <a:solidFill>
                  <a:schemeClr val="dk1"/>
                </a:solidFill>
                <a:highlight>
                  <a:srgbClr val="FFFFFF"/>
                </a:highlight>
                <a:latin typeface="Consolas"/>
                <a:ea typeface="Consolas"/>
                <a:cs typeface="Consolas"/>
                <a:sym typeface="Consolas"/>
              </a:rPr>
              <a:t>(</a:t>
            </a:r>
            <a:r>
              <a:rPr b="1" lang="en" sz="1350">
                <a:solidFill>
                  <a:srgbClr val="0000FF"/>
                </a:solidFill>
                <a:highlight>
                  <a:srgbClr val="FFFFFF"/>
                </a:highlight>
                <a:latin typeface="Consolas"/>
                <a:ea typeface="Consolas"/>
                <a:cs typeface="Consolas"/>
                <a:sym typeface="Consolas"/>
              </a:rPr>
              <a:t>stderr</a:t>
            </a:r>
            <a:r>
              <a:rPr b="1" lang="en" sz="1350">
                <a:solidFill>
                  <a:schemeClr val="dk1"/>
                </a:solidFill>
                <a:highlight>
                  <a:srgbClr val="FFFFFF"/>
                </a:highlight>
                <a:latin typeface="Consolas"/>
                <a:ea typeface="Consolas"/>
                <a:cs typeface="Consolas"/>
                <a:sym typeface="Consolas"/>
              </a:rPr>
              <a:t>, </a:t>
            </a:r>
            <a:r>
              <a:rPr b="1" lang="en" sz="1350">
                <a:solidFill>
                  <a:srgbClr val="A31515"/>
                </a:solidFill>
                <a:highlight>
                  <a:srgbClr val="FFFFFF"/>
                </a:highlight>
                <a:latin typeface="Consolas"/>
                <a:ea typeface="Consolas"/>
                <a:cs typeface="Consolas"/>
                <a:sym typeface="Consolas"/>
              </a:rPr>
              <a:t>"Description is </a:t>
            </a:r>
            <a:r>
              <a:rPr b="1" lang="en" sz="1350">
                <a:solidFill>
                  <a:srgbClr val="001080"/>
                </a:solidFill>
                <a:highlight>
                  <a:srgbClr val="FFFFFF"/>
                </a:highlight>
                <a:latin typeface="Consolas"/>
                <a:ea typeface="Consolas"/>
                <a:cs typeface="Consolas"/>
                <a:sym typeface="Consolas"/>
              </a:rPr>
              <a:t>%s</a:t>
            </a:r>
            <a:r>
              <a:rPr b="1" lang="en" sz="1350">
                <a:solidFill>
                  <a:srgbClr val="EE0000"/>
                </a:solidFill>
                <a:highlight>
                  <a:srgbClr val="FFFFFF"/>
                </a:highlight>
                <a:latin typeface="Consolas"/>
                <a:ea typeface="Consolas"/>
                <a:cs typeface="Consolas"/>
                <a:sym typeface="Consolas"/>
              </a:rPr>
              <a:t>\n</a:t>
            </a:r>
            <a:r>
              <a:rPr b="1" lang="en" sz="1350">
                <a:solidFill>
                  <a:srgbClr val="A31515"/>
                </a:solidFill>
                <a:highlight>
                  <a:srgbClr val="FFFFFF"/>
                </a:highlight>
                <a:latin typeface="Consolas"/>
                <a:ea typeface="Consolas"/>
                <a:cs typeface="Consolas"/>
                <a:sym typeface="Consolas"/>
              </a:rPr>
              <a:t>"</a:t>
            </a:r>
            <a:r>
              <a:rPr b="1" lang="en" sz="1350">
                <a:solidFill>
                  <a:schemeClr val="dk1"/>
                </a:solidFill>
                <a:highlight>
                  <a:srgbClr val="FFFFFF"/>
                </a:highlight>
                <a:latin typeface="Consolas"/>
                <a:ea typeface="Consolas"/>
                <a:cs typeface="Consolas"/>
                <a:sym typeface="Consolas"/>
              </a:rPr>
              <a:t>, </a:t>
            </a:r>
            <a:r>
              <a:rPr b="1" lang="en" sz="1350">
                <a:solidFill>
                  <a:srgbClr val="795E26"/>
                </a:solidFill>
                <a:highlight>
                  <a:srgbClr val="FFFFFF"/>
                </a:highlight>
                <a:latin typeface="Consolas"/>
                <a:ea typeface="Consolas"/>
                <a:cs typeface="Consolas"/>
                <a:sym typeface="Consolas"/>
              </a:rPr>
              <a:t>strerror</a:t>
            </a:r>
            <a:r>
              <a:rPr b="1" lang="en" sz="1350">
                <a:solidFill>
                  <a:schemeClr val="dk1"/>
                </a:solidFill>
                <a:highlight>
                  <a:srgbClr val="FFFFFF"/>
                </a:highlight>
                <a:latin typeface="Consolas"/>
                <a:ea typeface="Consolas"/>
                <a:cs typeface="Consolas"/>
                <a:sym typeface="Consolas"/>
              </a:rPr>
              <a:t>(</a:t>
            </a:r>
            <a:r>
              <a:rPr b="1" lang="en" sz="1350">
                <a:solidFill>
                  <a:srgbClr val="0000FF"/>
                </a:solidFill>
                <a:highlight>
                  <a:srgbClr val="FFFFFF"/>
                </a:highlight>
                <a:latin typeface="Consolas"/>
                <a:ea typeface="Consolas"/>
                <a:cs typeface="Consolas"/>
                <a:sym typeface="Consolas"/>
              </a:rPr>
              <a:t>errno</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795E26"/>
                </a:solidFill>
                <a:highlight>
                  <a:srgbClr val="FFFFFF"/>
                </a:highlight>
                <a:latin typeface="Consolas"/>
                <a:ea typeface="Consolas"/>
                <a:cs typeface="Consolas"/>
                <a:sym typeface="Consolas"/>
              </a:rPr>
              <a:t>perror</a:t>
            </a:r>
            <a:r>
              <a:rPr b="1" lang="en" sz="1350">
                <a:solidFill>
                  <a:schemeClr val="dk1"/>
                </a:solidFill>
                <a:highlight>
                  <a:srgbClr val="FFFFFF"/>
                </a:highlight>
                <a:latin typeface="Consolas"/>
                <a:ea typeface="Consolas"/>
                <a:cs typeface="Consolas"/>
                <a:sym typeface="Consolas"/>
              </a:rPr>
              <a:t>(</a:t>
            </a:r>
            <a:r>
              <a:rPr b="1" lang="en" sz="1350">
                <a:solidFill>
                  <a:srgbClr val="A31515"/>
                </a:solidFill>
                <a:highlight>
                  <a:srgbClr val="FFFFFF"/>
                </a:highlight>
                <a:latin typeface="Consolas"/>
                <a:ea typeface="Consolas"/>
                <a:cs typeface="Consolas"/>
                <a:sym typeface="Consolas"/>
              </a:rPr>
              <a:t>"Description is "</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98"/>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Common Bugs in C Programs</a:t>
            </a:r>
            <a:endParaRPr/>
          </a:p>
        </p:txBody>
      </p:sp>
      <p:sp>
        <p:nvSpPr>
          <p:cNvPr id="690" name="Google Shape;690;p98"/>
          <p:cNvSpPr txBox="1"/>
          <p:nvPr>
            <p:ph idx="1" type="body"/>
          </p:nvPr>
        </p:nvSpPr>
        <p:spPr>
          <a:xfrm>
            <a:off x="926375" y="3169775"/>
            <a:ext cx="4864800" cy="19443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int</a:t>
            </a:r>
            <a:r>
              <a:rPr b="1" lang="en" sz="1250">
                <a:solidFill>
                  <a:schemeClr val="dk1"/>
                </a:solidFill>
                <a:highlight>
                  <a:srgbClr val="FFFFFF"/>
                </a:highlight>
              </a:rPr>
              <a:t> *p = </a:t>
            </a:r>
            <a:r>
              <a:rPr b="1" lang="en" sz="1250">
                <a:solidFill>
                  <a:srgbClr val="74531F"/>
                </a:solidFill>
                <a:highlight>
                  <a:srgbClr val="FFFFFF"/>
                </a:highlight>
              </a:rPr>
              <a:t>malloc</a:t>
            </a:r>
            <a:r>
              <a:rPr b="1" lang="en" sz="1250">
                <a:solidFill>
                  <a:schemeClr val="dk1"/>
                </a:solidFill>
                <a:highlight>
                  <a:srgbClr val="FFFFFF"/>
                </a:highlight>
              </a:rPr>
              <a:t>(</a:t>
            </a:r>
            <a:r>
              <a:rPr b="1" lang="en" sz="1250">
                <a:solidFill>
                  <a:srgbClr val="0000FF"/>
                </a:solidFill>
                <a:highlight>
                  <a:srgbClr val="FFFFFF"/>
                </a:highlight>
              </a:rPr>
              <a:t>sizeof</a:t>
            </a:r>
            <a:r>
              <a:rPr b="1" lang="en" sz="1250">
                <a:solidFill>
                  <a:schemeClr val="dk1"/>
                </a:solidFill>
                <a:highlight>
                  <a:srgbClr val="FFFFFF"/>
                </a:highlight>
              </a:rPr>
              <a:t>(</a:t>
            </a:r>
            <a:r>
              <a:rPr b="1" lang="en" sz="1250">
                <a:solidFill>
                  <a:srgbClr val="0000FF"/>
                </a:solidFill>
                <a:highlight>
                  <a:srgbClr val="FFFFFF"/>
                </a:highlight>
              </a:rPr>
              <a:t>int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74531F"/>
                </a:solidFill>
                <a:highlight>
                  <a:srgbClr val="FFFFFF"/>
                </a:highlight>
              </a:rPr>
              <a:t>free</a:t>
            </a:r>
            <a:r>
              <a:rPr b="1" lang="en" sz="1250">
                <a:solidFill>
                  <a:schemeClr val="dk1"/>
                </a:solidFill>
                <a:highlight>
                  <a:srgbClr val="FFFFFF"/>
                </a:highlight>
              </a:rPr>
              <a:t>(</a:t>
            </a:r>
            <a:r>
              <a:rPr b="1" lang="en" sz="1250">
                <a:solidFill>
                  <a:srgbClr val="808080"/>
                </a:solidFill>
                <a:highlight>
                  <a:srgbClr val="FFFFFF"/>
                </a:highlight>
              </a:rPr>
              <a:t>p</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*p = </a:t>
            </a:r>
            <a:r>
              <a:rPr b="1" lang="en" sz="1250">
                <a:solidFill>
                  <a:srgbClr val="098658"/>
                </a:solidFill>
                <a:highlight>
                  <a:srgbClr val="FFFFFF"/>
                </a:highlight>
              </a:rPr>
              <a:t>123</a:t>
            </a:r>
            <a:r>
              <a:rPr b="1" lang="en" sz="1250">
                <a:solidFill>
                  <a:schemeClr val="dk1"/>
                </a:solidFill>
                <a:highlight>
                  <a:srgbClr val="FFFFFF"/>
                </a:highlight>
              </a:rPr>
              <a:t>; </a:t>
            </a:r>
            <a:r>
              <a:rPr b="1" lang="en" sz="1250">
                <a:solidFill>
                  <a:srgbClr val="008000"/>
                </a:solidFill>
                <a:highlight>
                  <a:srgbClr val="FFFFFF"/>
                </a:highlight>
              </a:rPr>
              <a:t>/* Oops! - Dangling pointer!</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8000"/>
                </a:solidFill>
                <a:highlight>
                  <a:srgbClr val="FFFFFF"/>
                </a:highlight>
              </a:rPr>
              <a:t>Writing to memory we don’t own anymore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74531F"/>
                </a:solidFill>
                <a:highlight>
                  <a:srgbClr val="FFFFFF"/>
                </a:highlight>
              </a:rPr>
              <a:t>free</a:t>
            </a:r>
            <a:r>
              <a:rPr b="1" lang="en" sz="1250">
                <a:solidFill>
                  <a:schemeClr val="dk1"/>
                </a:solidFill>
                <a:highlight>
                  <a:srgbClr val="FFFFFF"/>
                </a:highlight>
              </a:rPr>
              <a:t>(</a:t>
            </a:r>
            <a:r>
              <a:rPr b="1" lang="en" sz="1250">
                <a:solidFill>
                  <a:srgbClr val="808080"/>
                </a:solidFill>
                <a:highlight>
                  <a:srgbClr val="FFFFFF"/>
                </a:highlight>
              </a:rPr>
              <a:t>p</a:t>
            </a:r>
            <a:r>
              <a:rPr b="1" lang="en" sz="1250">
                <a:solidFill>
                  <a:schemeClr val="dk1"/>
                </a:solidFill>
                <a:highlight>
                  <a:srgbClr val="FFFFFF"/>
                </a:highlight>
              </a:rPr>
              <a:t>);  </a:t>
            </a:r>
            <a:r>
              <a:rPr b="1" lang="en" sz="1250">
                <a:solidFill>
                  <a:srgbClr val="008000"/>
                </a:solidFill>
                <a:highlight>
                  <a:srgbClr val="FFFFFF"/>
                </a:highlight>
              </a:rPr>
              <a:t>/* Oops! - Double free! */</a:t>
            </a:r>
            <a:endParaRPr b="1" sz="1250">
              <a:solidFill>
                <a:srgbClr val="008000"/>
              </a:solidFill>
              <a:highlight>
                <a:srgbClr val="FFFFFF"/>
              </a:highlight>
            </a:endParaRPr>
          </a:p>
          <a:p>
            <a:pPr indent="0" lvl="0" marL="0" rtl="0" algn="l">
              <a:spcBef>
                <a:spcPts val="0"/>
              </a:spcBef>
              <a:spcAft>
                <a:spcPts val="0"/>
              </a:spcAft>
              <a:buNone/>
            </a:pPr>
            <a:r>
              <a:t/>
            </a:r>
            <a:endParaRPr b="1" sz="1250">
              <a:solidFill>
                <a:srgbClr val="0000FF"/>
              </a:solidFill>
              <a:highlight>
                <a:srgbClr val="FFFFFF"/>
              </a:highlight>
            </a:endParaRPr>
          </a:p>
        </p:txBody>
      </p:sp>
      <p:sp>
        <p:nvSpPr>
          <p:cNvPr id="691" name="Google Shape;691;p98"/>
          <p:cNvSpPr txBox="1"/>
          <p:nvPr/>
        </p:nvSpPr>
        <p:spPr>
          <a:xfrm>
            <a:off x="50775" y="989925"/>
            <a:ext cx="4764900" cy="1682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250">
                <a:solidFill>
                  <a:srgbClr val="0000FF"/>
                </a:solidFill>
                <a:highlight>
                  <a:srgbClr val="FFFFFF"/>
                </a:highlight>
                <a:latin typeface="Consolas"/>
                <a:ea typeface="Consolas"/>
                <a:cs typeface="Consolas"/>
                <a:sym typeface="Consolas"/>
              </a:rPr>
              <a:t>void</a:t>
            </a: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mystrcpy</a:t>
            </a:r>
            <a:r>
              <a:rPr b="1" lang="en" sz="1250">
                <a:solidFill>
                  <a:schemeClr val="dk1"/>
                </a:solidFill>
                <a:highlight>
                  <a:srgbClr val="FFFFFF"/>
                </a:highlight>
                <a:latin typeface="Consolas"/>
                <a:ea typeface="Consolas"/>
                <a:cs typeface="Consolas"/>
                <a:sym typeface="Consolas"/>
              </a:rPr>
              <a:t>(</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dest</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src</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void means no return value</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8F08C4"/>
                </a:solidFill>
                <a:highlight>
                  <a:srgbClr val="FFFFFF"/>
                </a:highlight>
                <a:latin typeface="Consolas"/>
                <a:ea typeface="Consolas"/>
                <a:cs typeface="Consolas"/>
                <a:sym typeface="Consolas"/>
              </a:rPr>
              <a:t>while</a:t>
            </a: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src</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dest</a:t>
            </a:r>
            <a:r>
              <a:rPr b="1" lang="en" sz="1250">
                <a:solidFill>
                  <a:schemeClr val="dk1"/>
                </a:solidFill>
                <a:highlight>
                  <a:srgbClr val="FFFFFF"/>
                </a:highlight>
                <a:latin typeface="Consolas"/>
                <a:ea typeface="Consolas"/>
                <a:cs typeface="Consolas"/>
                <a:sym typeface="Consolas"/>
              </a:rPr>
              <a:t> = </a:t>
            </a:r>
            <a:r>
              <a:rPr b="1" lang="en" sz="1250">
                <a:solidFill>
                  <a:srgbClr val="808080"/>
                </a:solidFill>
                <a:highlight>
                  <a:srgbClr val="FFFFFF"/>
                </a:highlight>
                <a:latin typeface="Consolas"/>
                <a:ea typeface="Consolas"/>
                <a:cs typeface="Consolas"/>
                <a:sym typeface="Consolas"/>
              </a:rPr>
              <a:t>src</a:t>
            </a: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src</a:t>
            </a: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dest</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a:t>
            </a:r>
            <a:endParaRPr b="1">
              <a:solidFill>
                <a:schemeClr val="dk1"/>
              </a:solidFill>
              <a:latin typeface="Consolas"/>
              <a:ea typeface="Consolas"/>
              <a:cs typeface="Consolas"/>
              <a:sym typeface="Consolas"/>
            </a:endParaRPr>
          </a:p>
        </p:txBody>
      </p:sp>
      <p:sp>
        <p:nvSpPr>
          <p:cNvPr id="692" name="Google Shape;692;p98"/>
          <p:cNvSpPr txBox="1"/>
          <p:nvPr/>
        </p:nvSpPr>
        <p:spPr>
          <a:xfrm>
            <a:off x="76200" y="2528075"/>
            <a:ext cx="5075100" cy="638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250">
                <a:solidFill>
                  <a:srgbClr val="8F08C4"/>
                </a:solidFill>
                <a:highlight>
                  <a:srgbClr val="FFFFFF"/>
                </a:highlight>
                <a:latin typeface="Consolas"/>
                <a:ea typeface="Consolas"/>
                <a:cs typeface="Consolas"/>
                <a:sym typeface="Consolas"/>
              </a:rPr>
              <a:t>while</a:t>
            </a:r>
            <a:r>
              <a:rPr b="1" lang="en" sz="1250">
                <a:solidFill>
                  <a:schemeClr val="dk1"/>
                </a:solidFill>
                <a:highlight>
                  <a:srgbClr val="FFFFFF"/>
                </a:highlight>
                <a:latin typeface="Consolas"/>
                <a:ea typeface="Consolas"/>
                <a:cs typeface="Consolas"/>
                <a:sym typeface="Consolas"/>
              </a:rPr>
              <a:t>( (*dest++ = *src++ )) {};</a:t>
            </a:r>
            <a:r>
              <a:rPr b="1" lang="en" sz="1250">
                <a:solidFill>
                  <a:srgbClr val="008000"/>
                </a:solidFill>
                <a:highlight>
                  <a:srgbClr val="FFFFFF"/>
                </a:highlight>
                <a:latin typeface="Consolas"/>
                <a:ea typeface="Consolas"/>
                <a:cs typeface="Consolas"/>
                <a:sym typeface="Consolas"/>
              </a:rPr>
              <a:t>/*bad coding practice!*/</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rgbClr val="008000"/>
                </a:solidFill>
                <a:highlight>
                  <a:srgbClr val="FFFFFF"/>
                </a:highlight>
                <a:latin typeface="Consolas"/>
                <a:ea typeface="Consolas"/>
                <a:cs typeface="Consolas"/>
                <a:sym typeface="Consolas"/>
              </a:rPr>
              <a:t>/***************************************/</a:t>
            </a:r>
            <a:endParaRPr b="1">
              <a:solidFill>
                <a:schemeClr val="dk1"/>
              </a:solidFill>
              <a:latin typeface="Consolas"/>
              <a:ea typeface="Consolas"/>
              <a:cs typeface="Consolas"/>
              <a:sym typeface="Consolas"/>
            </a:endParaRPr>
          </a:p>
        </p:txBody>
      </p:sp>
      <p:sp>
        <p:nvSpPr>
          <p:cNvPr id="693" name="Google Shape;693;p98"/>
          <p:cNvSpPr txBox="1"/>
          <p:nvPr/>
        </p:nvSpPr>
        <p:spPr>
          <a:xfrm>
            <a:off x="4790925" y="1096125"/>
            <a:ext cx="4092300" cy="581700"/>
          </a:xfrm>
          <a:prstGeom prst="rect">
            <a:avLst/>
          </a:prstGeom>
          <a:solidFill>
            <a:srgbClr val="00FF00"/>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Consolas"/>
                <a:ea typeface="Consolas"/>
                <a:cs typeface="Consolas"/>
                <a:sym typeface="Consolas"/>
              </a:rPr>
              <a:t>while( *src ) {*dest = *src; src ++; dest++; }</a:t>
            </a:r>
            <a:endParaRPr sz="12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latin typeface="Consolas"/>
                <a:ea typeface="Consolas"/>
                <a:cs typeface="Consolas"/>
                <a:sym typeface="Consolas"/>
              </a:rPr>
              <a:t>*dest = *src;</a:t>
            </a:r>
            <a:endParaRPr/>
          </a:p>
        </p:txBody>
      </p:sp>
      <p:sp>
        <p:nvSpPr>
          <p:cNvPr id="694" name="Google Shape;694;p98"/>
          <p:cNvSpPr txBox="1"/>
          <p:nvPr/>
        </p:nvSpPr>
        <p:spPr>
          <a:xfrm>
            <a:off x="5945850" y="4181775"/>
            <a:ext cx="3000000" cy="369300"/>
          </a:xfrm>
          <a:prstGeom prst="rect">
            <a:avLst/>
          </a:prstGeom>
          <a:solidFill>
            <a:srgbClr val="00FF00"/>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Consolas"/>
                <a:ea typeface="Consolas"/>
                <a:cs typeface="Consolas"/>
                <a:sym typeface="Consolas"/>
              </a:rPr>
              <a:t>p = NULL; // No dangling pointers</a:t>
            </a:r>
            <a:endParaRPr sz="1200">
              <a:solidFill>
                <a:schemeClr val="dk1"/>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99"/>
          <p:cNvSpPr txBox="1"/>
          <p:nvPr/>
        </p:nvSpPr>
        <p:spPr>
          <a:xfrm>
            <a:off x="952075" y="1176675"/>
            <a:ext cx="7122900" cy="2225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450">
                <a:solidFill>
                  <a:srgbClr val="008000"/>
                </a:solidFill>
                <a:highlight>
                  <a:srgbClr val="FFFFFF"/>
                </a:highlight>
                <a:latin typeface="Consolas"/>
                <a:ea typeface="Consolas"/>
                <a:cs typeface="Consolas"/>
                <a:sym typeface="Consolas"/>
              </a:rPr>
              <a:t>/*returning automatic variables*/</a:t>
            </a:r>
            <a:endParaRPr b="1" sz="14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rgbClr val="0000FF"/>
                </a:solidFill>
                <a:highlight>
                  <a:srgbClr val="FFFFFF"/>
                </a:highlight>
                <a:latin typeface="Consolas"/>
                <a:ea typeface="Consolas"/>
                <a:cs typeface="Consolas"/>
                <a:sym typeface="Consolas"/>
              </a:rPr>
              <a:t>int</a:t>
            </a:r>
            <a:r>
              <a:rPr b="1" lang="en" sz="1450">
                <a:solidFill>
                  <a:schemeClr val="dk1"/>
                </a:solidFill>
                <a:highlight>
                  <a:srgbClr val="FFFFFF"/>
                </a:highlight>
                <a:latin typeface="Consolas"/>
                <a:ea typeface="Consolas"/>
                <a:cs typeface="Consolas"/>
                <a:sym typeface="Consolas"/>
              </a:rPr>
              <a:t> *</a:t>
            </a:r>
            <a:r>
              <a:rPr b="1" lang="en" sz="1450">
                <a:solidFill>
                  <a:srgbClr val="74531F"/>
                </a:solidFill>
                <a:highlight>
                  <a:srgbClr val="FFFFFF"/>
                </a:highlight>
                <a:latin typeface="Consolas"/>
                <a:ea typeface="Consolas"/>
                <a:cs typeface="Consolas"/>
                <a:sym typeface="Consolas"/>
              </a:rPr>
              <a:t>f</a:t>
            </a:r>
            <a:r>
              <a:rPr b="1" lang="en" sz="1450">
                <a:solidFill>
                  <a:schemeClr val="dk1"/>
                </a:solidFill>
                <a:highlight>
                  <a:srgbClr val="FFFFFF"/>
                </a:highlight>
                <a:latin typeface="Consolas"/>
                <a:ea typeface="Consolas"/>
                <a:cs typeface="Consolas"/>
                <a:sym typeface="Consolas"/>
              </a:rPr>
              <a:t>(){</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chemeClr val="dk1"/>
                </a:solidFill>
                <a:highlight>
                  <a:srgbClr val="FFFFFF"/>
                </a:highlight>
                <a:latin typeface="Consolas"/>
                <a:ea typeface="Consolas"/>
                <a:cs typeface="Consolas"/>
                <a:sym typeface="Consolas"/>
              </a:rPr>
              <a:t>   </a:t>
            </a:r>
            <a:r>
              <a:rPr b="1" lang="en" sz="1450">
                <a:solidFill>
                  <a:srgbClr val="0000FF"/>
                </a:solidFill>
                <a:highlight>
                  <a:srgbClr val="FFFFFF"/>
                </a:highlight>
                <a:latin typeface="Consolas"/>
                <a:ea typeface="Consolas"/>
                <a:cs typeface="Consolas"/>
                <a:sym typeface="Consolas"/>
              </a:rPr>
              <a:t>int</a:t>
            </a:r>
            <a:r>
              <a:rPr b="1" lang="en" sz="1450">
                <a:solidFill>
                  <a:schemeClr val="dk1"/>
                </a:solidFill>
                <a:highlight>
                  <a:srgbClr val="FFFFFF"/>
                </a:highlight>
                <a:latin typeface="Consolas"/>
                <a:ea typeface="Consolas"/>
                <a:cs typeface="Consolas"/>
                <a:sym typeface="Consolas"/>
              </a:rPr>
              <a:t> result = </a:t>
            </a:r>
            <a:r>
              <a:rPr b="1" lang="en" sz="1450">
                <a:solidFill>
                  <a:srgbClr val="098658"/>
                </a:solidFill>
                <a:highlight>
                  <a:srgbClr val="FFFFFF"/>
                </a:highlight>
                <a:latin typeface="Consolas"/>
                <a:ea typeface="Consolas"/>
                <a:cs typeface="Consolas"/>
                <a:sym typeface="Consolas"/>
              </a:rPr>
              <a:t>42</a:t>
            </a:r>
            <a:r>
              <a:rPr b="1" lang="en" sz="1450">
                <a:solidFill>
                  <a:schemeClr val="dk1"/>
                </a:solidFill>
                <a:highlight>
                  <a:srgbClr val="FFFFFF"/>
                </a:highlight>
                <a:latin typeface="Consolas"/>
                <a:ea typeface="Consolas"/>
                <a:cs typeface="Consolas"/>
                <a:sym typeface="Consolas"/>
              </a:rPr>
              <a:t>;</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chemeClr val="dk1"/>
                </a:solidFill>
                <a:highlight>
                  <a:srgbClr val="FFFFFF"/>
                </a:highlight>
                <a:latin typeface="Consolas"/>
                <a:ea typeface="Consolas"/>
                <a:cs typeface="Consolas"/>
                <a:sym typeface="Consolas"/>
              </a:rPr>
              <a:t>   </a:t>
            </a:r>
            <a:r>
              <a:rPr b="1" lang="en" sz="1450">
                <a:solidFill>
                  <a:srgbClr val="0000FF"/>
                </a:solidFill>
                <a:highlight>
                  <a:srgbClr val="FFFFFF"/>
                </a:highlight>
                <a:latin typeface="Consolas"/>
                <a:ea typeface="Consolas"/>
                <a:cs typeface="Consolas"/>
                <a:sym typeface="Consolas"/>
              </a:rPr>
              <a:t>static</a:t>
            </a:r>
            <a:r>
              <a:rPr b="1" lang="en" sz="1450">
                <a:solidFill>
                  <a:schemeClr val="dk1"/>
                </a:solidFill>
                <a:highlight>
                  <a:srgbClr val="FFFFFF"/>
                </a:highlight>
                <a:latin typeface="Consolas"/>
                <a:ea typeface="Consolas"/>
                <a:cs typeface="Consolas"/>
                <a:sym typeface="Consolas"/>
              </a:rPr>
              <a:t> </a:t>
            </a:r>
            <a:r>
              <a:rPr b="1" lang="en" sz="1450">
                <a:solidFill>
                  <a:srgbClr val="0000FF"/>
                </a:solidFill>
                <a:highlight>
                  <a:srgbClr val="FFFFFF"/>
                </a:highlight>
                <a:latin typeface="Consolas"/>
                <a:ea typeface="Consolas"/>
                <a:cs typeface="Consolas"/>
                <a:sym typeface="Consolas"/>
              </a:rPr>
              <a:t>int</a:t>
            </a:r>
            <a:r>
              <a:rPr b="1" lang="en" sz="1450">
                <a:solidFill>
                  <a:schemeClr val="dk1"/>
                </a:solidFill>
                <a:highlight>
                  <a:srgbClr val="FFFFFF"/>
                </a:highlight>
                <a:latin typeface="Consolas"/>
                <a:ea typeface="Consolas"/>
                <a:cs typeface="Consolas"/>
                <a:sym typeface="Consolas"/>
              </a:rPr>
              <a:t> imok;</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chemeClr val="dk1"/>
                </a:solidFill>
                <a:highlight>
                  <a:srgbClr val="FFFFFF"/>
                </a:highlight>
                <a:latin typeface="Consolas"/>
                <a:ea typeface="Consolas"/>
                <a:cs typeface="Consolas"/>
                <a:sym typeface="Consolas"/>
              </a:rPr>
              <a:t>   </a:t>
            </a:r>
            <a:r>
              <a:rPr b="1" lang="en" sz="1450">
                <a:solidFill>
                  <a:srgbClr val="8F08C4"/>
                </a:solidFill>
                <a:highlight>
                  <a:srgbClr val="FFFFFF"/>
                </a:highlight>
                <a:latin typeface="Consolas"/>
                <a:ea typeface="Consolas"/>
                <a:cs typeface="Consolas"/>
                <a:sym typeface="Consolas"/>
              </a:rPr>
              <a:t>return</a:t>
            </a:r>
            <a:r>
              <a:rPr b="1" lang="en" sz="1450">
                <a:solidFill>
                  <a:schemeClr val="dk1"/>
                </a:solidFill>
                <a:highlight>
                  <a:srgbClr val="FFFFFF"/>
                </a:highlight>
                <a:latin typeface="Consolas"/>
                <a:ea typeface="Consolas"/>
                <a:cs typeface="Consolas"/>
                <a:sym typeface="Consolas"/>
              </a:rPr>
              <a:t> &amp;imok;   </a:t>
            </a:r>
            <a:r>
              <a:rPr b="1" lang="en" sz="1450">
                <a:solidFill>
                  <a:srgbClr val="008000"/>
                </a:solidFill>
                <a:highlight>
                  <a:srgbClr val="FFFFFF"/>
                </a:highlight>
                <a:latin typeface="Consolas"/>
                <a:ea typeface="Consolas"/>
                <a:cs typeface="Consolas"/>
                <a:sym typeface="Consolas"/>
              </a:rPr>
              <a:t>/* OK - static variables are not on the stack */</a:t>
            </a:r>
            <a:endParaRPr b="1" sz="14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chemeClr val="dk1"/>
                </a:solidFill>
                <a:highlight>
                  <a:srgbClr val="FFFFFF"/>
                </a:highlight>
                <a:latin typeface="Consolas"/>
                <a:ea typeface="Consolas"/>
                <a:cs typeface="Consolas"/>
                <a:sym typeface="Consolas"/>
              </a:rPr>
              <a:t>   </a:t>
            </a:r>
            <a:r>
              <a:rPr b="1" lang="en" sz="1450">
                <a:solidFill>
                  <a:srgbClr val="8F08C4"/>
                </a:solidFill>
                <a:highlight>
                  <a:srgbClr val="FFFFFF"/>
                </a:highlight>
                <a:latin typeface="Consolas"/>
                <a:ea typeface="Consolas"/>
                <a:cs typeface="Consolas"/>
                <a:sym typeface="Consolas"/>
              </a:rPr>
              <a:t>return</a:t>
            </a:r>
            <a:r>
              <a:rPr b="1" lang="en" sz="1450">
                <a:solidFill>
                  <a:schemeClr val="dk1"/>
                </a:solidFill>
                <a:highlight>
                  <a:srgbClr val="FFFFFF"/>
                </a:highlight>
                <a:latin typeface="Consolas"/>
                <a:ea typeface="Consolas"/>
                <a:cs typeface="Consolas"/>
                <a:sym typeface="Consolas"/>
              </a:rPr>
              <a:t> &amp;result; </a:t>
            </a:r>
            <a:r>
              <a:rPr b="1" lang="en" sz="1450">
                <a:solidFill>
                  <a:srgbClr val="008000"/>
                </a:solidFill>
                <a:highlight>
                  <a:srgbClr val="FFFFFF"/>
                </a:highlight>
                <a:latin typeface="Consolas"/>
                <a:ea typeface="Consolas"/>
                <a:cs typeface="Consolas"/>
                <a:sym typeface="Consolas"/>
              </a:rPr>
              <a:t>/* Not OK*/</a:t>
            </a:r>
            <a:endParaRPr b="1" sz="14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chemeClr val="dk1"/>
                </a:solidFill>
                <a:highlight>
                  <a:srgbClr val="FFFFFF"/>
                </a:highlight>
                <a:latin typeface="Consolas"/>
                <a:ea typeface="Consolas"/>
                <a:cs typeface="Consolas"/>
                <a:sym typeface="Consolas"/>
              </a:rPr>
              <a:t>}</a:t>
            </a:r>
            <a:endParaRPr b="1" sz="1600">
              <a:solidFill>
                <a:srgbClr val="E21F1F"/>
              </a:solidFill>
              <a:latin typeface="Consolas"/>
              <a:ea typeface="Consolas"/>
              <a:cs typeface="Consolas"/>
              <a:sym typeface="Consolas"/>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00"/>
          <p:cNvSpPr txBox="1"/>
          <p:nvPr/>
        </p:nvSpPr>
        <p:spPr>
          <a:xfrm>
            <a:off x="902775" y="384950"/>
            <a:ext cx="6402600" cy="2248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450">
                <a:solidFill>
                  <a:srgbClr val="008000"/>
                </a:solidFill>
                <a:highlight>
                  <a:srgbClr val="FFFFFF"/>
                </a:highlight>
                <a:latin typeface="Consolas"/>
                <a:ea typeface="Consolas"/>
                <a:cs typeface="Consolas"/>
                <a:sym typeface="Consolas"/>
              </a:rPr>
              <a:t>/*in sufficient memory*/</a:t>
            </a:r>
            <a:endParaRPr b="1" sz="14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rgbClr val="0000FF"/>
                </a:solidFill>
                <a:highlight>
                  <a:srgbClr val="FFFFFF"/>
                </a:highlight>
                <a:latin typeface="Consolas"/>
                <a:ea typeface="Consolas"/>
                <a:cs typeface="Consolas"/>
                <a:sym typeface="Consolas"/>
              </a:rPr>
              <a:t>struct</a:t>
            </a:r>
            <a:r>
              <a:rPr b="1" lang="en" sz="1450">
                <a:solidFill>
                  <a:schemeClr val="dk1"/>
                </a:solidFill>
                <a:highlight>
                  <a:srgbClr val="FFFFFF"/>
                </a:highlight>
                <a:latin typeface="Consolas"/>
                <a:ea typeface="Consolas"/>
                <a:cs typeface="Consolas"/>
                <a:sym typeface="Consolas"/>
              </a:rPr>
              <a:t> User {</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chemeClr val="dk1"/>
                </a:solidFill>
                <a:highlight>
                  <a:srgbClr val="FFFFFF"/>
                </a:highlight>
                <a:latin typeface="Consolas"/>
                <a:ea typeface="Consolas"/>
                <a:cs typeface="Consolas"/>
                <a:sym typeface="Consolas"/>
              </a:rPr>
              <a:t>   </a:t>
            </a:r>
            <a:r>
              <a:rPr b="1" lang="en" sz="1450">
                <a:solidFill>
                  <a:srgbClr val="0000FF"/>
                </a:solidFill>
                <a:highlight>
                  <a:srgbClr val="FFFFFF"/>
                </a:highlight>
                <a:latin typeface="Consolas"/>
                <a:ea typeface="Consolas"/>
                <a:cs typeface="Consolas"/>
                <a:sym typeface="Consolas"/>
              </a:rPr>
              <a:t>char</a:t>
            </a:r>
            <a:r>
              <a:rPr b="1" lang="en" sz="1450">
                <a:solidFill>
                  <a:schemeClr val="dk1"/>
                </a:solidFill>
                <a:highlight>
                  <a:srgbClr val="FFFFFF"/>
                </a:highlight>
                <a:latin typeface="Consolas"/>
                <a:ea typeface="Consolas"/>
                <a:cs typeface="Consolas"/>
                <a:sym typeface="Consolas"/>
              </a:rPr>
              <a:t> </a:t>
            </a:r>
            <a:r>
              <a:rPr b="1" lang="en" sz="1450">
                <a:solidFill>
                  <a:srgbClr val="1F377F"/>
                </a:solidFill>
                <a:highlight>
                  <a:srgbClr val="FFFFFF"/>
                </a:highlight>
                <a:latin typeface="Consolas"/>
                <a:ea typeface="Consolas"/>
                <a:cs typeface="Consolas"/>
                <a:sym typeface="Consolas"/>
              </a:rPr>
              <a:t>name</a:t>
            </a:r>
            <a:r>
              <a:rPr b="1" lang="en" sz="1450">
                <a:solidFill>
                  <a:schemeClr val="dk1"/>
                </a:solidFill>
                <a:highlight>
                  <a:srgbClr val="FFFFFF"/>
                </a:highlight>
                <a:latin typeface="Consolas"/>
                <a:ea typeface="Consolas"/>
                <a:cs typeface="Consolas"/>
                <a:sym typeface="Consolas"/>
              </a:rPr>
              <a:t>[</a:t>
            </a:r>
            <a:r>
              <a:rPr b="1" lang="en" sz="1450">
                <a:solidFill>
                  <a:srgbClr val="098658"/>
                </a:solidFill>
                <a:highlight>
                  <a:srgbClr val="FFFFFF"/>
                </a:highlight>
                <a:latin typeface="Consolas"/>
                <a:ea typeface="Consolas"/>
                <a:cs typeface="Consolas"/>
                <a:sym typeface="Consolas"/>
              </a:rPr>
              <a:t>100</a:t>
            </a:r>
            <a:r>
              <a:rPr b="1" lang="en" sz="1450">
                <a:solidFill>
                  <a:schemeClr val="dk1"/>
                </a:solidFill>
                <a:highlight>
                  <a:srgbClr val="FFFFFF"/>
                </a:highlight>
                <a:latin typeface="Consolas"/>
                <a:ea typeface="Consolas"/>
                <a:cs typeface="Consolas"/>
                <a:sym typeface="Consolas"/>
              </a:rPr>
              <a:t>];</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chemeClr val="dk1"/>
                </a:solidFill>
                <a:highlight>
                  <a:srgbClr val="FFFFFF"/>
                </a:highlight>
                <a:latin typeface="Consolas"/>
                <a:ea typeface="Consolas"/>
                <a:cs typeface="Consolas"/>
                <a:sym typeface="Consolas"/>
              </a:rPr>
              <a:t>};</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rgbClr val="0000FF"/>
                </a:solidFill>
                <a:highlight>
                  <a:srgbClr val="FFFFFF"/>
                </a:highlight>
                <a:latin typeface="Consolas"/>
                <a:ea typeface="Consolas"/>
                <a:cs typeface="Consolas"/>
                <a:sym typeface="Consolas"/>
              </a:rPr>
              <a:t>typedef</a:t>
            </a:r>
            <a:r>
              <a:rPr b="1" lang="en" sz="1450">
                <a:solidFill>
                  <a:schemeClr val="dk1"/>
                </a:solidFill>
                <a:highlight>
                  <a:srgbClr val="FFFFFF"/>
                </a:highlight>
                <a:latin typeface="Consolas"/>
                <a:ea typeface="Consolas"/>
                <a:cs typeface="Consolas"/>
                <a:sym typeface="Consolas"/>
              </a:rPr>
              <a:t> </a:t>
            </a:r>
            <a:r>
              <a:rPr b="1" lang="en" sz="1450">
                <a:solidFill>
                  <a:srgbClr val="0000FF"/>
                </a:solidFill>
                <a:highlight>
                  <a:srgbClr val="FFFFFF"/>
                </a:highlight>
                <a:latin typeface="Consolas"/>
                <a:ea typeface="Consolas"/>
                <a:cs typeface="Consolas"/>
                <a:sym typeface="Consolas"/>
              </a:rPr>
              <a:t>struct</a:t>
            </a:r>
            <a:r>
              <a:rPr b="1" lang="en" sz="1450">
                <a:solidFill>
                  <a:schemeClr val="dk1"/>
                </a:solidFill>
                <a:highlight>
                  <a:srgbClr val="FFFFFF"/>
                </a:highlight>
                <a:latin typeface="Consolas"/>
                <a:ea typeface="Consolas"/>
                <a:cs typeface="Consolas"/>
                <a:sym typeface="Consolas"/>
              </a:rPr>
              <a:t> </a:t>
            </a:r>
            <a:r>
              <a:rPr b="1" lang="en" sz="1450">
                <a:solidFill>
                  <a:srgbClr val="2B91AF"/>
                </a:solidFill>
                <a:highlight>
                  <a:srgbClr val="FFFFFF"/>
                </a:highlight>
                <a:latin typeface="Consolas"/>
                <a:ea typeface="Consolas"/>
                <a:cs typeface="Consolas"/>
                <a:sym typeface="Consolas"/>
              </a:rPr>
              <a:t>User</a:t>
            </a:r>
            <a:r>
              <a:rPr b="1" lang="en" sz="1450">
                <a:solidFill>
                  <a:schemeClr val="dk1"/>
                </a:solidFill>
                <a:highlight>
                  <a:srgbClr val="FFFFFF"/>
                </a:highlight>
                <a:latin typeface="Consolas"/>
                <a:ea typeface="Consolas"/>
                <a:cs typeface="Consolas"/>
                <a:sym typeface="Consolas"/>
              </a:rPr>
              <a:t> </a:t>
            </a:r>
            <a:r>
              <a:rPr b="1" lang="en" sz="1450">
                <a:solidFill>
                  <a:srgbClr val="2B91AF"/>
                </a:solidFill>
                <a:highlight>
                  <a:srgbClr val="FFFFFF"/>
                </a:highlight>
                <a:latin typeface="Consolas"/>
                <a:ea typeface="Consolas"/>
                <a:cs typeface="Consolas"/>
                <a:sym typeface="Consolas"/>
              </a:rPr>
              <a:t>user_t</a:t>
            </a:r>
            <a:r>
              <a:rPr b="1" lang="en" sz="1450">
                <a:solidFill>
                  <a:schemeClr val="dk1"/>
                </a:solidFill>
                <a:highlight>
                  <a:srgbClr val="FFFFFF"/>
                </a:highlight>
                <a:latin typeface="Consolas"/>
                <a:ea typeface="Consolas"/>
                <a:cs typeface="Consolas"/>
                <a:sym typeface="Consolas"/>
              </a:rPr>
              <a:t>;</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rgbClr val="2B91AF"/>
                </a:solidFill>
                <a:highlight>
                  <a:srgbClr val="FFFFFF"/>
                </a:highlight>
                <a:latin typeface="Consolas"/>
                <a:ea typeface="Consolas"/>
                <a:cs typeface="Consolas"/>
                <a:sym typeface="Consolas"/>
              </a:rPr>
              <a:t>user_t</a:t>
            </a:r>
            <a:r>
              <a:rPr b="1" lang="en" sz="1450">
                <a:solidFill>
                  <a:schemeClr val="dk1"/>
                </a:solidFill>
                <a:highlight>
                  <a:srgbClr val="FFFFFF"/>
                </a:highlight>
                <a:latin typeface="Consolas"/>
                <a:ea typeface="Consolas"/>
                <a:cs typeface="Consolas"/>
                <a:sym typeface="Consolas"/>
              </a:rPr>
              <a:t> *user = (</a:t>
            </a:r>
            <a:r>
              <a:rPr b="1" lang="en" sz="1450">
                <a:solidFill>
                  <a:srgbClr val="2B91AF"/>
                </a:solidFill>
                <a:highlight>
                  <a:srgbClr val="FFFFFF"/>
                </a:highlight>
                <a:latin typeface="Consolas"/>
                <a:ea typeface="Consolas"/>
                <a:cs typeface="Consolas"/>
                <a:sym typeface="Consolas"/>
              </a:rPr>
              <a:t>user_t</a:t>
            </a:r>
            <a:r>
              <a:rPr b="1" lang="en" sz="1450">
                <a:solidFill>
                  <a:schemeClr val="dk1"/>
                </a:solidFill>
                <a:highlight>
                  <a:srgbClr val="FFFFFF"/>
                </a:highlight>
                <a:latin typeface="Consolas"/>
                <a:ea typeface="Consolas"/>
                <a:cs typeface="Consolas"/>
                <a:sym typeface="Consolas"/>
              </a:rPr>
              <a:t> *)</a:t>
            </a:r>
            <a:r>
              <a:rPr b="1" lang="en" sz="1450">
                <a:solidFill>
                  <a:srgbClr val="74531F"/>
                </a:solidFill>
                <a:highlight>
                  <a:srgbClr val="FFFFFF"/>
                </a:highlight>
                <a:latin typeface="Consolas"/>
                <a:ea typeface="Consolas"/>
                <a:cs typeface="Consolas"/>
                <a:sym typeface="Consolas"/>
              </a:rPr>
              <a:t>malloc</a:t>
            </a:r>
            <a:r>
              <a:rPr b="1" lang="en" sz="1450">
                <a:solidFill>
                  <a:schemeClr val="dk1"/>
                </a:solidFill>
                <a:highlight>
                  <a:srgbClr val="FFFFFF"/>
                </a:highlight>
                <a:latin typeface="Consolas"/>
                <a:ea typeface="Consolas"/>
                <a:cs typeface="Consolas"/>
                <a:sym typeface="Consolas"/>
              </a:rPr>
              <a:t>(</a:t>
            </a:r>
            <a:r>
              <a:rPr b="1" lang="en" sz="1450">
                <a:solidFill>
                  <a:srgbClr val="0000FF"/>
                </a:solidFill>
                <a:highlight>
                  <a:srgbClr val="FFFFFF"/>
                </a:highlight>
                <a:latin typeface="Consolas"/>
                <a:ea typeface="Consolas"/>
                <a:cs typeface="Consolas"/>
                <a:sym typeface="Consolas"/>
              </a:rPr>
              <a:t>sizeof</a:t>
            </a:r>
            <a:r>
              <a:rPr b="1" lang="en" sz="1450">
                <a:solidFill>
                  <a:schemeClr val="dk1"/>
                </a:solidFill>
                <a:highlight>
                  <a:srgbClr val="FFFFFF"/>
                </a:highlight>
                <a:latin typeface="Consolas"/>
                <a:ea typeface="Consolas"/>
                <a:cs typeface="Consolas"/>
                <a:sym typeface="Consolas"/>
              </a:rPr>
              <a:t>(user));</a:t>
            </a:r>
            <a:endParaRPr b="1" sz="14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t/>
            </a:r>
            <a:endParaRPr b="1" sz="1600">
              <a:solidFill>
                <a:schemeClr val="dk1"/>
              </a:solidFill>
              <a:latin typeface="Consolas"/>
              <a:ea typeface="Consolas"/>
              <a:cs typeface="Consolas"/>
              <a:sym typeface="Consolas"/>
            </a:endParaRPr>
          </a:p>
        </p:txBody>
      </p:sp>
      <p:sp>
        <p:nvSpPr>
          <p:cNvPr id="705" name="Google Shape;705;p100"/>
          <p:cNvSpPr txBox="1"/>
          <p:nvPr/>
        </p:nvSpPr>
        <p:spPr>
          <a:xfrm>
            <a:off x="445625" y="2954000"/>
            <a:ext cx="7636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highlight>
                  <a:srgbClr val="FFFFFF"/>
                </a:highlight>
                <a:latin typeface="Roboto"/>
                <a:ea typeface="Roboto"/>
                <a:cs typeface="Roboto"/>
                <a:sym typeface="Roboto"/>
              </a:rPr>
              <a:t>In the above example, we needed to allocate enough bytes for the struct. Instead, we allocated enough bytes to hold a pointer.</a:t>
            </a:r>
            <a:endParaRPr/>
          </a:p>
        </p:txBody>
      </p:sp>
      <p:sp>
        <p:nvSpPr>
          <p:cNvPr id="706" name="Google Shape;706;p100"/>
          <p:cNvSpPr txBox="1"/>
          <p:nvPr/>
        </p:nvSpPr>
        <p:spPr>
          <a:xfrm>
            <a:off x="1603375" y="3785300"/>
            <a:ext cx="7294200" cy="1339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450">
                <a:solidFill>
                  <a:srgbClr val="008000"/>
                </a:solidFill>
                <a:highlight>
                  <a:srgbClr val="FFFFFF"/>
                </a:highlight>
                <a:latin typeface="Consolas"/>
                <a:ea typeface="Consolas"/>
                <a:cs typeface="Consolas"/>
                <a:sym typeface="Consolas"/>
              </a:rPr>
              <a:t>/*the correct code*/</a:t>
            </a:r>
            <a:endParaRPr b="1" sz="14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rgbClr val="2B91AF"/>
                </a:solidFill>
                <a:highlight>
                  <a:srgbClr val="FFFFFF"/>
                </a:highlight>
                <a:latin typeface="Consolas"/>
                <a:ea typeface="Consolas"/>
                <a:cs typeface="Consolas"/>
                <a:sym typeface="Consolas"/>
              </a:rPr>
              <a:t>user_t</a:t>
            </a:r>
            <a:r>
              <a:rPr b="1" lang="en" sz="1450">
                <a:solidFill>
                  <a:schemeClr val="dk1"/>
                </a:solidFill>
                <a:highlight>
                  <a:srgbClr val="FFFFFF"/>
                </a:highlight>
                <a:latin typeface="Consolas"/>
                <a:ea typeface="Consolas"/>
                <a:cs typeface="Consolas"/>
                <a:sym typeface="Consolas"/>
              </a:rPr>
              <a:t> *user = (</a:t>
            </a:r>
            <a:r>
              <a:rPr b="1" lang="en" sz="1450">
                <a:solidFill>
                  <a:srgbClr val="2B91AF"/>
                </a:solidFill>
                <a:highlight>
                  <a:srgbClr val="FFFFFF"/>
                </a:highlight>
                <a:latin typeface="Consolas"/>
                <a:ea typeface="Consolas"/>
                <a:cs typeface="Consolas"/>
                <a:sym typeface="Consolas"/>
              </a:rPr>
              <a:t>user_t</a:t>
            </a:r>
            <a:r>
              <a:rPr b="1" lang="en" sz="1450">
                <a:solidFill>
                  <a:schemeClr val="dk1"/>
                </a:solidFill>
                <a:highlight>
                  <a:srgbClr val="FFFFFF"/>
                </a:highlight>
                <a:latin typeface="Consolas"/>
                <a:ea typeface="Consolas"/>
                <a:cs typeface="Consolas"/>
                <a:sym typeface="Consolas"/>
              </a:rPr>
              <a:t> *)</a:t>
            </a:r>
            <a:r>
              <a:rPr b="1" lang="en" sz="1450">
                <a:solidFill>
                  <a:srgbClr val="74531F"/>
                </a:solidFill>
                <a:highlight>
                  <a:srgbClr val="FFFFFF"/>
                </a:highlight>
                <a:latin typeface="Consolas"/>
                <a:ea typeface="Consolas"/>
                <a:cs typeface="Consolas"/>
                <a:sym typeface="Consolas"/>
              </a:rPr>
              <a:t>malloc</a:t>
            </a:r>
            <a:r>
              <a:rPr b="1" lang="en" sz="1450">
                <a:solidFill>
                  <a:schemeClr val="dk1"/>
                </a:solidFill>
                <a:highlight>
                  <a:srgbClr val="FFFFFF"/>
                </a:highlight>
                <a:latin typeface="Consolas"/>
                <a:ea typeface="Consolas"/>
                <a:cs typeface="Consolas"/>
                <a:sym typeface="Consolas"/>
              </a:rPr>
              <a:t>(</a:t>
            </a:r>
            <a:r>
              <a:rPr b="1" lang="en" sz="1450">
                <a:solidFill>
                  <a:srgbClr val="0000FF"/>
                </a:solidFill>
                <a:highlight>
                  <a:srgbClr val="FFFFFF"/>
                </a:highlight>
                <a:latin typeface="Consolas"/>
                <a:ea typeface="Consolas"/>
                <a:cs typeface="Consolas"/>
                <a:sym typeface="Consolas"/>
              </a:rPr>
              <a:t>sizeof</a:t>
            </a:r>
            <a:r>
              <a:rPr b="1" lang="en" sz="1450">
                <a:solidFill>
                  <a:schemeClr val="dk1"/>
                </a:solidFill>
                <a:highlight>
                  <a:srgbClr val="FFFFFF"/>
                </a:highlight>
                <a:latin typeface="Consolas"/>
                <a:ea typeface="Consolas"/>
                <a:cs typeface="Consolas"/>
                <a:sym typeface="Consolas"/>
              </a:rPr>
              <a:t>(</a:t>
            </a:r>
            <a:r>
              <a:rPr b="1" lang="en" sz="1450">
                <a:solidFill>
                  <a:srgbClr val="2B91AF"/>
                </a:solidFill>
                <a:highlight>
                  <a:schemeClr val="lt1"/>
                </a:highlight>
                <a:latin typeface="Consolas"/>
                <a:ea typeface="Consolas"/>
                <a:cs typeface="Consolas"/>
                <a:sym typeface="Consolas"/>
              </a:rPr>
              <a:t>user_t</a:t>
            </a:r>
            <a:r>
              <a:rPr b="1" lang="en" sz="1450">
                <a:solidFill>
                  <a:schemeClr val="dk1"/>
                </a:solidFill>
                <a:highlight>
                  <a:srgbClr val="FFFFFF"/>
                </a:highlight>
                <a:latin typeface="Consolas"/>
                <a:ea typeface="Consolas"/>
                <a:cs typeface="Consolas"/>
                <a:sym typeface="Consolas"/>
              </a:rPr>
              <a:t>));</a:t>
            </a:r>
            <a:endParaRPr b="1" sz="14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t/>
            </a:r>
            <a:endParaRPr b="1" sz="1600">
              <a:solidFill>
                <a:schemeClr val="dk1"/>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01"/>
          <p:cNvSpPr txBox="1"/>
          <p:nvPr>
            <p:ph idx="2" type="body"/>
          </p:nvPr>
        </p:nvSpPr>
        <p:spPr>
          <a:xfrm>
            <a:off x="352200" y="1308475"/>
            <a:ext cx="8595600" cy="33981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450">
                <a:solidFill>
                  <a:srgbClr val="008000"/>
                </a:solidFill>
                <a:highlight>
                  <a:srgbClr val="FFFFFF"/>
                </a:highlight>
              </a:rPr>
              <a:t>/*buffer overflow/underflow*/</a:t>
            </a:r>
            <a:endParaRPr b="1" sz="14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rgbClr val="808080"/>
                </a:solidFill>
                <a:highlight>
                  <a:srgbClr val="FFFFFF"/>
                </a:highlight>
              </a:rPr>
              <a:t>#define</a:t>
            </a:r>
            <a:r>
              <a:rPr b="1" lang="en" sz="1450">
                <a:solidFill>
                  <a:schemeClr val="dk1"/>
                </a:solidFill>
                <a:highlight>
                  <a:srgbClr val="FFFFFF"/>
                </a:highlight>
              </a:rPr>
              <a:t> </a:t>
            </a:r>
            <a:r>
              <a:rPr b="1" lang="en" sz="1450">
                <a:solidFill>
                  <a:srgbClr val="8A1BFF"/>
                </a:solidFill>
                <a:highlight>
                  <a:srgbClr val="FFFFFF"/>
                </a:highlight>
              </a:rPr>
              <a:t>N</a:t>
            </a:r>
            <a:r>
              <a:rPr b="1" lang="en" sz="1450">
                <a:solidFill>
                  <a:schemeClr val="dk1"/>
                </a:solidFill>
                <a:highlight>
                  <a:srgbClr val="FFFFFF"/>
                </a:highlight>
              </a:rPr>
              <a:t> (</a:t>
            </a:r>
            <a:r>
              <a:rPr b="1" lang="en" sz="1450">
                <a:solidFill>
                  <a:srgbClr val="098658"/>
                </a:solidFill>
                <a:highlight>
                  <a:srgbClr val="FFFFFF"/>
                </a:highlight>
              </a:rPr>
              <a:t>10</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rgbClr val="0000FF"/>
                </a:solidFill>
                <a:highlight>
                  <a:srgbClr val="FFFFFF"/>
                </a:highlight>
              </a:rPr>
              <a:t>int</a:t>
            </a:r>
            <a:r>
              <a:rPr b="1" lang="en" sz="1450">
                <a:solidFill>
                  <a:schemeClr val="dk1"/>
                </a:solidFill>
                <a:highlight>
                  <a:srgbClr val="FFFFFF"/>
                </a:highlight>
              </a:rPr>
              <a:t> i = </a:t>
            </a:r>
            <a:r>
              <a:rPr b="1" lang="en" sz="1450">
                <a:solidFill>
                  <a:srgbClr val="8A1BFF"/>
                </a:solidFill>
                <a:highlight>
                  <a:srgbClr val="FFFFFF"/>
                </a:highlight>
              </a:rPr>
              <a:t>N</a:t>
            </a:r>
            <a:r>
              <a:rPr b="1" lang="en" sz="1450">
                <a:solidFill>
                  <a:schemeClr val="dk1"/>
                </a:solidFill>
                <a:highlight>
                  <a:srgbClr val="FFFFFF"/>
                </a:highlight>
              </a:rPr>
              <a:t>, </a:t>
            </a:r>
            <a:r>
              <a:rPr b="1" lang="en" sz="1450">
                <a:solidFill>
                  <a:srgbClr val="1F377F"/>
                </a:solidFill>
                <a:highlight>
                  <a:srgbClr val="FFFFFF"/>
                </a:highlight>
              </a:rPr>
              <a:t>array</a:t>
            </a:r>
            <a:r>
              <a:rPr b="1" lang="en" sz="1450">
                <a:solidFill>
                  <a:schemeClr val="dk1"/>
                </a:solidFill>
                <a:highlight>
                  <a:srgbClr val="FFFFFF"/>
                </a:highlight>
              </a:rPr>
              <a:t>[</a:t>
            </a:r>
            <a:r>
              <a:rPr b="1" lang="en" sz="1450">
                <a:solidFill>
                  <a:srgbClr val="8A1BFF"/>
                </a:solidFill>
                <a:highlight>
                  <a:srgbClr val="FFFFFF"/>
                </a:highlight>
              </a:rPr>
              <a:t>N</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rgbClr val="8F08C4"/>
                </a:solidFill>
                <a:highlight>
                  <a:srgbClr val="FFFFFF"/>
                </a:highlight>
              </a:rPr>
              <a:t>for</a:t>
            </a:r>
            <a:r>
              <a:rPr b="1" lang="en" sz="1450">
                <a:solidFill>
                  <a:schemeClr val="dk1"/>
                </a:solidFill>
                <a:highlight>
                  <a:srgbClr val="FFFFFF"/>
                </a:highlight>
              </a:rPr>
              <a:t>( ; i &gt;= </a:t>
            </a:r>
            <a:r>
              <a:rPr b="1" lang="en" sz="1450">
                <a:solidFill>
                  <a:srgbClr val="098658"/>
                </a:solidFill>
                <a:highlight>
                  <a:srgbClr val="FFFFFF"/>
                </a:highlight>
              </a:rPr>
              <a:t>0</a:t>
            </a:r>
            <a:r>
              <a:rPr b="1" lang="en" sz="1450">
                <a:solidFill>
                  <a:schemeClr val="dk1"/>
                </a:solidFill>
                <a:highlight>
                  <a:srgbClr val="FFFFFF"/>
                </a:highlight>
              </a:rPr>
              <a:t>; i--) </a:t>
            </a:r>
            <a:r>
              <a:rPr b="1" lang="en" sz="1450">
                <a:solidFill>
                  <a:srgbClr val="1F377F"/>
                </a:solidFill>
                <a:highlight>
                  <a:srgbClr val="FFFFFF"/>
                </a:highlight>
              </a:rPr>
              <a:t>array</a:t>
            </a:r>
            <a:r>
              <a:rPr b="1" lang="en" sz="1450">
                <a:solidFill>
                  <a:schemeClr val="dk1"/>
                </a:solidFill>
                <a:highlight>
                  <a:srgbClr val="FFFFFF"/>
                </a:highlight>
              </a:rPr>
              <a:t>[i] = i;</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rgbClr val="74531F"/>
                </a:solidFill>
                <a:highlight>
                  <a:srgbClr val="F4CCCC"/>
                </a:highlight>
              </a:rPr>
              <a:t>gets</a:t>
            </a:r>
            <a:r>
              <a:rPr b="1" lang="en" sz="1450">
                <a:solidFill>
                  <a:schemeClr val="dk1"/>
                </a:solidFill>
                <a:highlight>
                  <a:srgbClr val="F4CCCC"/>
                </a:highlight>
              </a:rPr>
              <a:t>(</a:t>
            </a:r>
            <a:r>
              <a:rPr b="1" lang="en" sz="1450">
                <a:solidFill>
                  <a:srgbClr val="808080"/>
                </a:solidFill>
                <a:highlight>
                  <a:srgbClr val="F4CCCC"/>
                </a:highlight>
              </a:rPr>
              <a:t>array</a:t>
            </a:r>
            <a:r>
              <a:rPr b="1" lang="en" sz="1450">
                <a:solidFill>
                  <a:schemeClr val="dk1"/>
                </a:solidFill>
                <a:highlight>
                  <a:srgbClr val="F4CCCC"/>
                </a:highlight>
              </a:rPr>
              <a:t>); </a:t>
            </a:r>
            <a:r>
              <a:rPr b="1" lang="en" sz="1450">
                <a:solidFill>
                  <a:srgbClr val="008000"/>
                </a:solidFill>
                <a:highlight>
                  <a:srgbClr val="F4CCCC"/>
                </a:highlight>
              </a:rPr>
              <a:t>/*WRONG!: Let’s hope the input is shorter than my array!*/</a:t>
            </a:r>
            <a:endParaRPr b="1" sz="1450">
              <a:solidFill>
                <a:srgbClr val="008000"/>
              </a:solidFill>
              <a:highlight>
                <a:srgbClr val="F4CCCC"/>
              </a:highlight>
            </a:endParaRPr>
          </a:p>
          <a:p>
            <a:pPr indent="0" lvl="0" marL="0" rtl="0" algn="l">
              <a:lnSpc>
                <a:spcPct val="135714"/>
              </a:lnSpc>
              <a:spcBef>
                <a:spcPts val="0"/>
              </a:spcBef>
              <a:spcAft>
                <a:spcPts val="0"/>
              </a:spcAft>
              <a:buClr>
                <a:schemeClr val="dk1"/>
              </a:buClr>
              <a:buSzPts val="1100"/>
              <a:buFont typeface="Arial"/>
              <a:buNone/>
            </a:pPr>
            <a:r>
              <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rgbClr val="008000"/>
                </a:solidFill>
                <a:highlight>
                  <a:schemeClr val="accent6"/>
                </a:highlight>
              </a:rPr>
              <a:t>/*Do NOT use gets, very unsafe!!!*/</a:t>
            </a:r>
            <a:endParaRPr b="1" sz="1450">
              <a:solidFill>
                <a:srgbClr val="008000"/>
              </a:solidFill>
              <a:highlight>
                <a:schemeClr val="accent6"/>
              </a:highlight>
            </a:endParaRPr>
          </a:p>
          <a:p>
            <a:pPr indent="0" lvl="0" marL="0" rtl="0" algn="l">
              <a:lnSpc>
                <a:spcPct val="135714"/>
              </a:lnSpc>
              <a:spcBef>
                <a:spcPts val="0"/>
              </a:spcBef>
              <a:spcAft>
                <a:spcPts val="0"/>
              </a:spcAft>
              <a:buNone/>
            </a:pPr>
            <a:r>
              <a:rPr b="1" lang="en" sz="1450">
                <a:solidFill>
                  <a:srgbClr val="008000"/>
                </a:solidFill>
                <a:highlight>
                  <a:schemeClr val="accent6"/>
                </a:highlight>
              </a:rPr>
              <a:t>/*alternative fgets*/</a:t>
            </a:r>
            <a:endParaRPr b="1" sz="1600">
              <a:solidFill>
                <a:srgbClr val="6AA84F"/>
              </a:solidFill>
              <a:highlight>
                <a:schemeClr val="accent6"/>
              </a:highlight>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102"/>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02"/>
          <p:cNvSpPr txBox="1"/>
          <p:nvPr>
            <p:ph idx="1" type="body"/>
          </p:nvPr>
        </p:nvSpPr>
        <p:spPr>
          <a:xfrm>
            <a:off x="372775" y="1208350"/>
            <a:ext cx="84153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008000"/>
                </a:solidFill>
                <a:highlight>
                  <a:srgbClr val="FFFFFF"/>
                </a:highlight>
              </a:rPr>
              <a:t>/*Strings require strlen(s)+1 bytes*/</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8000"/>
                </a:solidFill>
                <a:highlight>
                  <a:srgbClr val="FFFFFF"/>
                </a:highlight>
              </a:rPr>
              <a:t>/* returns a copy of ’input’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char</a:t>
            </a:r>
            <a:r>
              <a:rPr b="1" lang="en" sz="1250">
                <a:solidFill>
                  <a:schemeClr val="dk1"/>
                </a:solidFill>
                <a:highlight>
                  <a:srgbClr val="FFFFFF"/>
                </a:highlight>
              </a:rPr>
              <a:t> *</a:t>
            </a:r>
            <a:r>
              <a:rPr b="1" lang="en" sz="1250">
                <a:solidFill>
                  <a:srgbClr val="74531F"/>
                </a:solidFill>
                <a:highlight>
                  <a:srgbClr val="FFFFFF"/>
                </a:highlight>
              </a:rPr>
              <a:t>strdup</a:t>
            </a:r>
            <a:r>
              <a:rPr b="1" lang="en" sz="1250">
                <a:solidFill>
                  <a:schemeClr val="dk1"/>
                </a:solidFill>
                <a:highlight>
                  <a:srgbClr val="FFFFFF"/>
                </a:highlight>
              </a:rPr>
              <a:t>(</a:t>
            </a:r>
            <a:r>
              <a:rPr b="1" lang="en" sz="1250">
                <a:solidFill>
                  <a:srgbClr val="0000FF"/>
                </a:solidFill>
                <a:highlight>
                  <a:srgbClr val="FFFFFF"/>
                </a:highlight>
              </a:rPr>
              <a:t>const</a:t>
            </a: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a:t>
            </a:r>
            <a:r>
              <a:rPr b="1" lang="en" sz="1250">
                <a:solidFill>
                  <a:srgbClr val="808080"/>
                </a:solidFill>
                <a:highlight>
                  <a:srgbClr val="FFFFFF"/>
                </a:highlight>
              </a:rPr>
              <a:t>input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*copy;</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copy = </a:t>
            </a:r>
            <a:r>
              <a:rPr b="1" lang="en" sz="1250">
                <a:solidFill>
                  <a:srgbClr val="74531F"/>
                </a:solidFill>
                <a:highlight>
                  <a:srgbClr val="FFFFFF"/>
                </a:highlight>
              </a:rPr>
              <a:t>malloc</a:t>
            </a:r>
            <a:r>
              <a:rPr b="1" lang="en" sz="1250">
                <a:solidFill>
                  <a:schemeClr val="dk1"/>
                </a:solidFill>
                <a:highlight>
                  <a:srgbClr val="FFFFFF"/>
                </a:highlight>
              </a:rPr>
              <a:t>(</a:t>
            </a:r>
            <a:r>
              <a:rPr b="1" lang="en" sz="1250">
                <a:solidFill>
                  <a:srgbClr val="0000FF"/>
                </a:solidFill>
                <a:highlight>
                  <a:srgbClr val="FFFFFF"/>
                </a:highlight>
              </a:rPr>
              <a:t>sizeof</a:t>
            </a:r>
            <a:r>
              <a:rPr b="1" lang="en" sz="1250">
                <a:solidFill>
                  <a:schemeClr val="dk1"/>
                </a:solidFill>
                <a:highlight>
                  <a:srgbClr val="FFFFFF"/>
                </a:highlight>
              </a:rPr>
              <a:t>(</a:t>
            </a:r>
            <a:r>
              <a:rPr b="1" lang="en" sz="1250">
                <a:solidFill>
                  <a:srgbClr val="0000FF"/>
                </a:solidFill>
                <a:highlight>
                  <a:srgbClr val="FFFFFF"/>
                </a:highlight>
              </a:rPr>
              <a:t>char</a:t>
            </a:r>
            <a:r>
              <a:rPr b="1" lang="en" sz="1250">
                <a:solidFill>
                  <a:schemeClr val="dk1"/>
                </a:solidFill>
                <a:highlight>
                  <a:srgbClr val="FFFFFF"/>
                </a:highlight>
              </a:rPr>
              <a:t> *)); </a:t>
            </a:r>
            <a:r>
              <a:rPr b="1" lang="en" sz="1250">
                <a:solidFill>
                  <a:srgbClr val="008000"/>
                </a:solidFill>
                <a:highlight>
                  <a:srgbClr val="FFFFFF"/>
                </a:highlight>
              </a:rPr>
              <a:t>/* nope! this allocates space for</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8000"/>
                </a:solidFill>
                <a:highlight>
                  <a:srgbClr val="FFFFFF"/>
                </a:highlight>
              </a:rPr>
              <a:t>    a pointer, not a string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copy = </a:t>
            </a:r>
            <a:r>
              <a:rPr b="1" lang="en" sz="1250">
                <a:solidFill>
                  <a:srgbClr val="74531F"/>
                </a:solidFill>
                <a:highlight>
                  <a:srgbClr val="FFFFFF"/>
                </a:highlight>
              </a:rPr>
              <a:t>malloc</a:t>
            </a:r>
            <a:r>
              <a:rPr b="1" lang="en" sz="1250">
                <a:solidFill>
                  <a:schemeClr val="dk1"/>
                </a:solidFill>
                <a:highlight>
                  <a:srgbClr val="FFFFFF"/>
                </a:highlight>
              </a:rPr>
              <a:t>(</a:t>
            </a:r>
            <a:r>
              <a:rPr b="1" lang="en" sz="1250">
                <a:solidFill>
                  <a:srgbClr val="74531F"/>
                </a:solidFill>
                <a:highlight>
                  <a:srgbClr val="FFFFFF"/>
                </a:highlight>
              </a:rPr>
              <a:t>strlen</a:t>
            </a:r>
            <a:r>
              <a:rPr b="1" lang="en" sz="1250">
                <a:solidFill>
                  <a:schemeClr val="dk1"/>
                </a:solidFill>
                <a:highlight>
                  <a:srgbClr val="FFFFFF"/>
                </a:highlight>
              </a:rPr>
              <a:t>(input)); </a:t>
            </a:r>
            <a:r>
              <a:rPr b="1" lang="en" sz="1250">
                <a:solidFill>
                  <a:srgbClr val="008000"/>
                </a:solidFill>
                <a:highlight>
                  <a:srgbClr val="FFFFFF"/>
                </a:highlight>
              </a:rPr>
              <a:t>/* Almost...but what about the</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8000"/>
                </a:solidFill>
                <a:highlight>
                  <a:srgbClr val="FFFFFF"/>
                </a:highlight>
              </a:rPr>
              <a:t>   null terminator?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copy = </a:t>
            </a:r>
            <a:r>
              <a:rPr b="1" lang="en" sz="1250">
                <a:solidFill>
                  <a:srgbClr val="74531F"/>
                </a:solidFill>
                <a:highlight>
                  <a:srgbClr val="FFFFFF"/>
                </a:highlight>
              </a:rPr>
              <a:t>malloc</a:t>
            </a:r>
            <a:r>
              <a:rPr b="1" lang="en" sz="1250">
                <a:solidFill>
                  <a:schemeClr val="dk1"/>
                </a:solidFill>
                <a:highlight>
                  <a:srgbClr val="FFFFFF"/>
                </a:highlight>
              </a:rPr>
              <a:t>(</a:t>
            </a:r>
            <a:r>
              <a:rPr b="1" lang="en" sz="1250">
                <a:solidFill>
                  <a:srgbClr val="74531F"/>
                </a:solidFill>
                <a:highlight>
                  <a:srgbClr val="FFFFFF"/>
                </a:highlight>
              </a:rPr>
              <a:t>strlen</a:t>
            </a:r>
            <a:r>
              <a:rPr b="1" lang="en" sz="1250">
                <a:solidFill>
                  <a:schemeClr val="dk1"/>
                </a:solidFill>
                <a:highlight>
                  <a:srgbClr val="FFFFFF"/>
                </a:highlight>
              </a:rPr>
              <a:t>(input) + </a:t>
            </a:r>
            <a:r>
              <a:rPr b="1" lang="en" sz="1250">
                <a:solidFill>
                  <a:srgbClr val="098658"/>
                </a:solidFill>
                <a:highlight>
                  <a:srgbClr val="FFFFFF"/>
                </a:highlight>
              </a:rPr>
              <a:t>1</a:t>
            </a:r>
            <a:r>
              <a:rPr b="1" lang="en" sz="1250">
                <a:solidFill>
                  <a:schemeClr val="dk1"/>
                </a:solidFill>
                <a:highlight>
                  <a:srgbClr val="FFFFFF"/>
                </a:highlight>
              </a:rPr>
              <a:t>); </a:t>
            </a:r>
            <a:r>
              <a:rPr b="1" lang="en" sz="1250">
                <a:solidFill>
                  <a:srgbClr val="008000"/>
                </a:solidFill>
                <a:highlight>
                  <a:srgbClr val="FFFFFF"/>
                </a:highlight>
              </a:rPr>
              <a:t>/* That’s right.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strcpy</a:t>
            </a:r>
            <a:r>
              <a:rPr b="1" lang="en" sz="1250">
                <a:solidFill>
                  <a:schemeClr val="dk1"/>
                </a:solidFill>
                <a:highlight>
                  <a:srgbClr val="FFFFFF"/>
                </a:highlight>
              </a:rPr>
              <a:t>(copy, input);              </a:t>
            </a:r>
            <a:r>
              <a:rPr b="1" lang="en" sz="1250">
                <a:solidFill>
                  <a:srgbClr val="008000"/>
                </a:solidFill>
                <a:highlight>
                  <a:srgbClr val="FFFFFF"/>
                </a:highlight>
              </a:rPr>
              <a:t>/* strcpy will provide the null terminator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8F08C4"/>
                </a:solidFill>
                <a:highlight>
                  <a:srgbClr val="FFFFFF"/>
                </a:highlight>
              </a:rPr>
              <a:t>return</a:t>
            </a:r>
            <a:r>
              <a:rPr b="1" lang="en" sz="1250">
                <a:solidFill>
                  <a:schemeClr val="dk1"/>
                </a:solidFill>
                <a:highlight>
                  <a:srgbClr val="FFFFFF"/>
                </a:highlight>
              </a:rPr>
              <a:t> copy;</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t/>
            </a:r>
            <a:endParaRPr b="1" sz="1400"/>
          </a:p>
          <a:p>
            <a:pPr indent="0" lvl="0" marL="0" rtl="0" algn="l">
              <a:spcBef>
                <a:spcPts val="0"/>
              </a:spcBef>
              <a:spcAft>
                <a:spcPts val="0"/>
              </a:spcAft>
              <a:buNone/>
            </a:pPr>
            <a:r>
              <a:t/>
            </a:r>
            <a:endParaRPr b="1"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103"/>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03"/>
          <p:cNvSpPr txBox="1"/>
          <p:nvPr>
            <p:ph idx="2" type="body"/>
          </p:nvPr>
        </p:nvSpPr>
        <p:spPr>
          <a:xfrm>
            <a:off x="1344675" y="1189325"/>
            <a:ext cx="64854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350">
                <a:solidFill>
                  <a:srgbClr val="008000"/>
                </a:solidFill>
                <a:highlight>
                  <a:srgbClr val="FFFFFF"/>
                </a:highlight>
              </a:rPr>
              <a:t>/*Using uninitialized variables*/</a:t>
            </a:r>
            <a:endParaRPr b="1"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rgbClr val="0000FF"/>
                </a:solidFill>
                <a:highlight>
                  <a:srgbClr val="FFFFFF"/>
                </a:highlight>
              </a:rPr>
              <a:t>int</a:t>
            </a:r>
            <a:r>
              <a:rPr b="1" lang="en" sz="1350">
                <a:solidFill>
                  <a:schemeClr val="dk1"/>
                </a:solidFill>
                <a:highlight>
                  <a:srgbClr val="FFFFFF"/>
                </a:highlight>
              </a:rPr>
              <a:t> </a:t>
            </a:r>
            <a:r>
              <a:rPr b="1" lang="en" sz="1350">
                <a:solidFill>
                  <a:srgbClr val="74531F"/>
                </a:solidFill>
                <a:highlight>
                  <a:srgbClr val="FFFFFF"/>
                </a:highlight>
              </a:rPr>
              <a:t>myfunction</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int</a:t>
            </a:r>
            <a:r>
              <a:rPr b="1" lang="en" sz="1350">
                <a:solidFill>
                  <a:schemeClr val="dk1"/>
                </a:solidFill>
                <a:highlight>
                  <a:srgbClr val="FFFFFF"/>
                </a:highlight>
              </a:rPr>
              <a:t> x;</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int</a:t>
            </a:r>
            <a:r>
              <a:rPr b="1" lang="en" sz="1350">
                <a:solidFill>
                  <a:schemeClr val="dk1"/>
                </a:solidFill>
                <a:highlight>
                  <a:srgbClr val="FFFFFF"/>
                </a:highlight>
              </a:rPr>
              <a:t> y = x + </a:t>
            </a:r>
            <a:r>
              <a:rPr b="1" lang="en" sz="1350">
                <a:solidFill>
                  <a:srgbClr val="098658"/>
                </a:solidFill>
                <a:highlight>
                  <a:srgbClr val="FFFFFF"/>
                </a:highlight>
              </a:rPr>
              <a:t>2</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rgbClr val="008000"/>
                </a:solidFill>
                <a:highlight>
                  <a:srgbClr val="FFFFFF"/>
                </a:highlight>
              </a:rPr>
              <a:t>/*Assuming Uninitialized memory will be zeroed:</a:t>
            </a:r>
            <a:endParaRPr b="1"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rgbClr val="008000"/>
                </a:solidFill>
                <a:highlight>
                  <a:srgbClr val="FFFFFF"/>
                </a:highlight>
              </a:rPr>
              <a:t>Automatic (temporary variables) and heap allocations may contain random bytes or garbage.*/</a:t>
            </a:r>
            <a:endParaRPr b="1"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rgbClr val="0000FF"/>
                </a:solidFill>
                <a:highlight>
                  <a:srgbClr val="FFFFFF"/>
                </a:highlight>
              </a:rPr>
              <a:t>void</a:t>
            </a:r>
            <a:r>
              <a:rPr b="1" lang="en" sz="1350">
                <a:solidFill>
                  <a:schemeClr val="dk1"/>
                </a:solidFill>
                <a:highlight>
                  <a:srgbClr val="FFFFFF"/>
                </a:highlight>
              </a:rPr>
              <a:t> </a:t>
            </a:r>
            <a:r>
              <a:rPr b="1" lang="en" sz="1350">
                <a:solidFill>
                  <a:srgbClr val="74531F"/>
                </a:solidFill>
                <a:highlight>
                  <a:srgbClr val="FFFFFF"/>
                </a:highlight>
              </a:rPr>
              <a:t>myfunct</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char</a:t>
            </a:r>
            <a:r>
              <a:rPr b="1" lang="en" sz="1350">
                <a:solidFill>
                  <a:schemeClr val="dk1"/>
                </a:solidFill>
                <a:highlight>
                  <a:srgbClr val="FFFFFF"/>
                </a:highlight>
              </a:rPr>
              <a:t> </a:t>
            </a:r>
            <a:r>
              <a:rPr b="1" lang="en" sz="1350">
                <a:solidFill>
                  <a:srgbClr val="1F377F"/>
                </a:solidFill>
                <a:highlight>
                  <a:srgbClr val="FFFFFF"/>
                </a:highlight>
              </a:rPr>
              <a:t>array</a:t>
            </a:r>
            <a:r>
              <a:rPr b="1" lang="en" sz="1350">
                <a:solidFill>
                  <a:schemeClr val="dk1"/>
                </a:solidFill>
                <a:highlight>
                  <a:srgbClr val="FFFFFF"/>
                </a:highlight>
              </a:rPr>
              <a:t>[</a:t>
            </a:r>
            <a:r>
              <a:rPr b="1" lang="en" sz="1350">
                <a:solidFill>
                  <a:srgbClr val="098658"/>
                </a:solidFill>
                <a:highlight>
                  <a:srgbClr val="FFFFFF"/>
                </a:highlight>
              </a:rPr>
              <a:t>10</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char</a:t>
            </a:r>
            <a:r>
              <a:rPr b="1" lang="en" sz="1350">
                <a:solidFill>
                  <a:schemeClr val="dk1"/>
                </a:solidFill>
                <a:highlight>
                  <a:srgbClr val="FFFFFF"/>
                </a:highlight>
              </a:rPr>
              <a:t> *p = </a:t>
            </a:r>
            <a:r>
              <a:rPr b="1" lang="en" sz="1350">
                <a:solidFill>
                  <a:srgbClr val="74531F"/>
                </a:solidFill>
                <a:highlight>
                  <a:srgbClr val="FFFFFF"/>
                </a:highlight>
              </a:rPr>
              <a:t>malloc</a:t>
            </a:r>
            <a:r>
              <a:rPr b="1" lang="en" sz="1350">
                <a:solidFill>
                  <a:schemeClr val="dk1"/>
                </a:solidFill>
                <a:highlight>
                  <a:srgbClr val="FFFFFF"/>
                </a:highlight>
              </a:rPr>
              <a:t>(</a:t>
            </a:r>
            <a:r>
              <a:rPr b="1" lang="en" sz="1350">
                <a:solidFill>
                  <a:srgbClr val="098658"/>
                </a:solidFill>
                <a:highlight>
                  <a:srgbClr val="FFFFFF"/>
                </a:highlight>
              </a:rPr>
              <a:t>10</a:t>
            </a:r>
            <a:r>
              <a:rPr b="1" lang="en" sz="1350">
                <a:solidFill>
                  <a:schemeClr val="dk1"/>
                </a:solidFill>
                <a:highlight>
                  <a:srgbClr val="FFFFFF"/>
                </a:highlight>
              </a:rPr>
              <a:t>);</a:t>
            </a:r>
            <a:endParaRPr b="1" sz="1500"/>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04"/>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04"/>
          <p:cNvSpPr txBox="1"/>
          <p:nvPr>
            <p:ph idx="1" type="body"/>
          </p:nvPr>
        </p:nvSpPr>
        <p:spPr>
          <a:xfrm>
            <a:off x="119825" y="1208350"/>
            <a:ext cx="46800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350">
                <a:solidFill>
                  <a:srgbClr val="008000"/>
                </a:solidFill>
                <a:highlight>
                  <a:srgbClr val="FFFFFF"/>
                </a:highlight>
              </a:rPr>
              <a:t>/*Equality vs equal*/</a:t>
            </a:r>
            <a:endParaRPr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rgbClr val="0000FF"/>
                </a:solidFill>
                <a:highlight>
                  <a:srgbClr val="FFFFFF"/>
                </a:highlight>
              </a:rPr>
              <a:t>int</a:t>
            </a:r>
            <a:r>
              <a:rPr lang="en" sz="1350">
                <a:solidFill>
                  <a:schemeClr val="dk1"/>
                </a:solidFill>
                <a:highlight>
                  <a:srgbClr val="FFFFFF"/>
                </a:highlight>
              </a:rPr>
              <a:t> p1, p2;</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chemeClr val="dk1"/>
                </a:solidFill>
                <a:highlight>
                  <a:srgbClr val="FFFFFF"/>
                </a:highlight>
              </a:rPr>
              <a:t>p1 = p2 = </a:t>
            </a:r>
            <a:r>
              <a:rPr lang="en" sz="1350">
                <a:solidFill>
                  <a:srgbClr val="098658"/>
                </a:solidFill>
                <a:highlight>
                  <a:srgbClr val="FFFFFF"/>
                </a:highlight>
              </a:rPr>
              <a:t>0</a:t>
            </a:r>
            <a:r>
              <a:rPr lang="en" sz="1350">
                <a:solidFill>
                  <a:schemeClr val="dk1"/>
                </a:solidFill>
                <a:highlight>
                  <a:srgbClr val="FFFFFF"/>
                </a:highlight>
              </a:rPr>
              <a:t>;</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rgbClr val="0000FF"/>
                </a:solidFill>
                <a:highlight>
                  <a:srgbClr val="FFFFFF"/>
                </a:highlight>
              </a:rPr>
              <a:t>int</a:t>
            </a:r>
            <a:r>
              <a:rPr lang="en" sz="1350">
                <a:solidFill>
                  <a:schemeClr val="dk1"/>
                </a:solidFill>
                <a:highlight>
                  <a:srgbClr val="FFFFFF"/>
                </a:highlight>
              </a:rPr>
              <a:t> answer = </a:t>
            </a:r>
            <a:r>
              <a:rPr lang="en" sz="1350">
                <a:solidFill>
                  <a:srgbClr val="098658"/>
                </a:solidFill>
                <a:highlight>
                  <a:srgbClr val="FFFFFF"/>
                </a:highlight>
              </a:rPr>
              <a:t>3</a:t>
            </a:r>
            <a:r>
              <a:rPr lang="en" sz="1350">
                <a:solidFill>
                  <a:schemeClr val="dk1"/>
                </a:solidFill>
                <a:highlight>
                  <a:srgbClr val="FFFFFF"/>
                </a:highlight>
              </a:rPr>
              <a:t>; </a:t>
            </a:r>
            <a:r>
              <a:rPr lang="en" sz="1350">
                <a:solidFill>
                  <a:srgbClr val="008000"/>
                </a:solidFill>
                <a:highlight>
                  <a:srgbClr val="FFFFFF"/>
                </a:highlight>
              </a:rPr>
              <a:t>// Will print out the answer.</a:t>
            </a:r>
            <a:endParaRPr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rgbClr val="8F08C4"/>
                </a:solidFill>
                <a:highlight>
                  <a:srgbClr val="FFFFFF"/>
                </a:highlight>
              </a:rPr>
              <a:t>if</a:t>
            </a:r>
            <a:r>
              <a:rPr lang="en" sz="1350">
                <a:solidFill>
                  <a:schemeClr val="dk1"/>
                </a:solidFill>
                <a:highlight>
                  <a:srgbClr val="FFFFFF"/>
                </a:highlight>
              </a:rPr>
              <a:t> (answer = </a:t>
            </a:r>
            <a:r>
              <a:rPr lang="en" sz="1350">
                <a:solidFill>
                  <a:srgbClr val="098658"/>
                </a:solidFill>
                <a:highlight>
                  <a:srgbClr val="FFFFFF"/>
                </a:highlight>
              </a:rPr>
              <a:t>42</a:t>
            </a:r>
            <a:r>
              <a:rPr lang="en" sz="1350">
                <a:solidFill>
                  <a:schemeClr val="dk1"/>
                </a:solidFill>
                <a:highlight>
                  <a:srgbClr val="FFFFFF"/>
                </a:highlight>
              </a:rPr>
              <a:t>){</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chemeClr val="dk1"/>
                </a:solidFill>
                <a:highlight>
                  <a:srgbClr val="FFFFFF"/>
                </a:highlight>
              </a:rPr>
              <a:t>   </a:t>
            </a:r>
            <a:r>
              <a:rPr lang="en" sz="1350">
                <a:solidFill>
                  <a:srgbClr val="74531F"/>
                </a:solidFill>
                <a:highlight>
                  <a:srgbClr val="FFFFFF"/>
                </a:highlight>
              </a:rPr>
              <a:t>printf</a:t>
            </a:r>
            <a:r>
              <a:rPr lang="en" sz="1350">
                <a:solidFill>
                  <a:schemeClr val="dk1"/>
                </a:solidFill>
                <a:highlight>
                  <a:srgbClr val="FFFFFF"/>
                </a:highlight>
              </a:rPr>
              <a:t>(</a:t>
            </a:r>
            <a:r>
              <a:rPr lang="en" sz="1350">
                <a:solidFill>
                  <a:srgbClr val="E21F1F"/>
                </a:solidFill>
                <a:highlight>
                  <a:srgbClr val="FFFFFF"/>
                </a:highlight>
              </a:rPr>
              <a:t>"</a:t>
            </a:r>
            <a:r>
              <a:rPr lang="en" sz="1350">
                <a:solidFill>
                  <a:srgbClr val="A31515"/>
                </a:solidFill>
                <a:highlight>
                  <a:srgbClr val="FFFFFF"/>
                </a:highlight>
              </a:rPr>
              <a:t>The answer is </a:t>
            </a:r>
            <a:r>
              <a:rPr lang="en" sz="1350">
                <a:solidFill>
                  <a:srgbClr val="1F377F"/>
                </a:solidFill>
                <a:highlight>
                  <a:srgbClr val="FFFFFF"/>
                </a:highlight>
              </a:rPr>
              <a:t>%d</a:t>
            </a:r>
            <a:r>
              <a:rPr lang="en" sz="1350">
                <a:solidFill>
                  <a:srgbClr val="E21F1F"/>
                </a:solidFill>
                <a:highlight>
                  <a:srgbClr val="FFFFFF"/>
                </a:highlight>
              </a:rPr>
              <a:t>"</a:t>
            </a:r>
            <a:r>
              <a:rPr lang="en" sz="1350">
                <a:solidFill>
                  <a:schemeClr val="dk1"/>
                </a:solidFill>
                <a:highlight>
                  <a:srgbClr val="FFFFFF"/>
                </a:highlight>
              </a:rPr>
              <a:t>, answer);</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chemeClr val="dk1"/>
                </a:solidFill>
                <a:highlight>
                  <a:srgbClr val="FFFFFF"/>
                </a:highlight>
              </a:rPr>
              <a:t>}</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rgbClr val="8F08C4"/>
                </a:solidFill>
                <a:highlight>
                  <a:srgbClr val="FFFFFF"/>
                </a:highlight>
              </a:rPr>
              <a:t>if</a:t>
            </a:r>
            <a:r>
              <a:rPr lang="en" sz="1350">
                <a:solidFill>
                  <a:schemeClr val="dk1"/>
                </a:solidFill>
                <a:highlight>
                  <a:srgbClr val="FFFFFF"/>
                </a:highlight>
              </a:rPr>
              <a:t> (</a:t>
            </a:r>
            <a:r>
              <a:rPr lang="en" sz="1350">
                <a:solidFill>
                  <a:srgbClr val="098658"/>
                </a:solidFill>
                <a:highlight>
                  <a:srgbClr val="FFFFFF"/>
                </a:highlight>
              </a:rPr>
              <a:t>42</a:t>
            </a:r>
            <a:r>
              <a:rPr lang="en" sz="1350">
                <a:solidFill>
                  <a:schemeClr val="dk1"/>
                </a:solidFill>
                <a:highlight>
                  <a:srgbClr val="FFFFFF"/>
                </a:highlight>
              </a:rPr>
              <a:t> = answer){ </a:t>
            </a:r>
            <a:r>
              <a:rPr lang="en" sz="1350">
                <a:solidFill>
                  <a:srgbClr val="008000"/>
                </a:solidFill>
                <a:highlight>
                  <a:srgbClr val="FFFFFF"/>
                </a:highlight>
              </a:rPr>
              <a:t>/*compiler  will catch the error*/</a:t>
            </a:r>
            <a:endParaRPr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chemeClr val="dk1"/>
                </a:solidFill>
                <a:highlight>
                  <a:srgbClr val="FFFFFF"/>
                </a:highlight>
              </a:rPr>
              <a:t>   </a:t>
            </a:r>
            <a:r>
              <a:rPr lang="en" sz="1350">
                <a:solidFill>
                  <a:srgbClr val="74531F"/>
                </a:solidFill>
                <a:highlight>
                  <a:srgbClr val="FFFFFF"/>
                </a:highlight>
              </a:rPr>
              <a:t>printf</a:t>
            </a:r>
            <a:r>
              <a:rPr lang="en" sz="1350">
                <a:solidFill>
                  <a:schemeClr val="dk1"/>
                </a:solidFill>
                <a:highlight>
                  <a:srgbClr val="FFFFFF"/>
                </a:highlight>
              </a:rPr>
              <a:t>(</a:t>
            </a:r>
            <a:r>
              <a:rPr lang="en" sz="1350">
                <a:solidFill>
                  <a:srgbClr val="E21F1F"/>
                </a:solidFill>
                <a:highlight>
                  <a:srgbClr val="FFFFFF"/>
                </a:highlight>
              </a:rPr>
              <a:t>"</a:t>
            </a:r>
            <a:r>
              <a:rPr lang="en" sz="1350">
                <a:solidFill>
                  <a:srgbClr val="A31515"/>
                </a:solidFill>
                <a:highlight>
                  <a:srgbClr val="FFFFFF"/>
                </a:highlight>
              </a:rPr>
              <a:t>The answer is </a:t>
            </a:r>
            <a:r>
              <a:rPr lang="en" sz="1350">
                <a:solidFill>
                  <a:srgbClr val="1F377F"/>
                </a:solidFill>
                <a:highlight>
                  <a:srgbClr val="FFFFFF"/>
                </a:highlight>
              </a:rPr>
              <a:t>%d</a:t>
            </a:r>
            <a:r>
              <a:rPr lang="en" sz="1350">
                <a:solidFill>
                  <a:srgbClr val="E21F1F"/>
                </a:solidFill>
                <a:highlight>
                  <a:srgbClr val="FFFFFF"/>
                </a:highlight>
              </a:rPr>
              <a:t>"</a:t>
            </a:r>
            <a:r>
              <a:rPr lang="en" sz="1350">
                <a:solidFill>
                  <a:schemeClr val="dk1"/>
                </a:solidFill>
                <a:highlight>
                  <a:srgbClr val="FFFFFF"/>
                </a:highlight>
              </a:rPr>
              <a:t>, answer);</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chemeClr val="dk1"/>
                </a:solidFill>
                <a:highlight>
                  <a:srgbClr val="FFFFFF"/>
                </a:highlight>
              </a:rPr>
              <a:t>}</a:t>
            </a:r>
            <a:endParaRPr sz="1350">
              <a:solidFill>
                <a:schemeClr val="dk1"/>
              </a:solidFill>
              <a:highlight>
                <a:srgbClr val="FFFFFF"/>
              </a:highlight>
            </a:endParaRPr>
          </a:p>
          <a:p>
            <a:pPr indent="0" lvl="0" marL="0" rtl="0" algn="l">
              <a:spcBef>
                <a:spcPts val="0"/>
              </a:spcBef>
              <a:spcAft>
                <a:spcPts val="0"/>
              </a:spcAft>
              <a:buNone/>
            </a:pPr>
            <a:r>
              <a:t/>
            </a:r>
            <a:endParaRPr sz="1500"/>
          </a:p>
        </p:txBody>
      </p:sp>
      <p:sp>
        <p:nvSpPr>
          <p:cNvPr id="730" name="Google Shape;730;p104"/>
          <p:cNvSpPr txBox="1"/>
          <p:nvPr>
            <p:ph idx="2" type="body"/>
          </p:nvPr>
        </p:nvSpPr>
        <p:spPr>
          <a:xfrm>
            <a:off x="4868575" y="1208350"/>
            <a:ext cx="4222200" cy="36075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450">
                <a:solidFill>
                  <a:srgbClr val="008000"/>
                </a:solidFill>
                <a:highlight>
                  <a:srgbClr val="FFFFFF"/>
                </a:highlight>
              </a:rPr>
              <a:t>/*Extra Semicolons*/</a:t>
            </a:r>
            <a:endParaRPr sz="14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450">
                <a:solidFill>
                  <a:srgbClr val="8F08C4"/>
                </a:solidFill>
                <a:highlight>
                  <a:srgbClr val="FFFFFF"/>
                </a:highlight>
              </a:rPr>
              <a:t>for</a:t>
            </a:r>
            <a:r>
              <a:rPr lang="en" sz="1450">
                <a:solidFill>
                  <a:schemeClr val="dk1"/>
                </a:solidFill>
                <a:highlight>
                  <a:srgbClr val="FFFFFF"/>
                </a:highlight>
              </a:rPr>
              <a:t> (</a:t>
            </a:r>
            <a:r>
              <a:rPr lang="en" sz="1450">
                <a:solidFill>
                  <a:srgbClr val="0000FF"/>
                </a:solidFill>
                <a:highlight>
                  <a:srgbClr val="FFFFFF"/>
                </a:highlight>
              </a:rPr>
              <a:t>int</a:t>
            </a:r>
            <a:r>
              <a:rPr lang="en" sz="1450">
                <a:solidFill>
                  <a:schemeClr val="dk1"/>
                </a:solidFill>
                <a:highlight>
                  <a:srgbClr val="FFFFFF"/>
                </a:highlight>
              </a:rPr>
              <a:t> i = </a:t>
            </a:r>
            <a:r>
              <a:rPr lang="en" sz="1450">
                <a:solidFill>
                  <a:srgbClr val="098658"/>
                </a:solidFill>
                <a:highlight>
                  <a:srgbClr val="FFFFFF"/>
                </a:highlight>
              </a:rPr>
              <a:t>0</a:t>
            </a:r>
            <a:r>
              <a:rPr lang="en" sz="1450">
                <a:solidFill>
                  <a:schemeClr val="dk1"/>
                </a:solidFill>
                <a:highlight>
                  <a:srgbClr val="FFFFFF"/>
                </a:highlight>
              </a:rPr>
              <a:t>; i &lt; </a:t>
            </a:r>
            <a:r>
              <a:rPr lang="en" sz="1450">
                <a:solidFill>
                  <a:srgbClr val="098658"/>
                </a:solidFill>
                <a:highlight>
                  <a:srgbClr val="FFFFFF"/>
                </a:highlight>
              </a:rPr>
              <a:t>5</a:t>
            </a:r>
            <a:r>
              <a:rPr lang="en" sz="1450">
                <a:solidFill>
                  <a:schemeClr val="dk1"/>
                </a:solidFill>
                <a:highlight>
                  <a:srgbClr val="FFFFFF"/>
                </a:highlight>
              </a:rPr>
              <a:t>; i++)</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450">
                <a:solidFill>
                  <a:schemeClr val="dk1"/>
                </a:solidFill>
                <a:highlight>
                  <a:srgbClr val="FFFFFF"/>
                </a:highlight>
              </a:rPr>
              <a:t>   </a:t>
            </a:r>
            <a:r>
              <a:rPr lang="en" sz="1450">
                <a:solidFill>
                  <a:srgbClr val="74531F"/>
                </a:solidFill>
                <a:highlight>
                  <a:srgbClr val="FFFFFF"/>
                </a:highlight>
              </a:rPr>
              <a:t>printf</a:t>
            </a:r>
            <a:r>
              <a:rPr lang="en" sz="1450">
                <a:solidFill>
                  <a:schemeClr val="dk1"/>
                </a:solidFill>
                <a:highlight>
                  <a:srgbClr val="FFFFFF"/>
                </a:highlight>
              </a:rPr>
              <a:t>(</a:t>
            </a:r>
            <a:r>
              <a:rPr lang="en" sz="1450">
                <a:solidFill>
                  <a:srgbClr val="E21F1F"/>
                </a:solidFill>
                <a:highlight>
                  <a:srgbClr val="FFFFFF"/>
                </a:highlight>
              </a:rPr>
              <a:t>"</a:t>
            </a:r>
            <a:r>
              <a:rPr lang="en" sz="1450">
                <a:solidFill>
                  <a:srgbClr val="A31515"/>
                </a:solidFill>
                <a:highlight>
                  <a:srgbClr val="FFFFFF"/>
                </a:highlight>
              </a:rPr>
              <a:t>Printed once</a:t>
            </a:r>
            <a:r>
              <a:rPr lang="en" sz="1450">
                <a:solidFill>
                  <a:srgbClr val="E21F1F"/>
                </a:solidFill>
                <a:highlight>
                  <a:srgbClr val="FFFFFF"/>
                </a:highlight>
              </a:rPr>
              <a:t>"</a:t>
            </a:r>
            <a:r>
              <a:rPr lang="en" sz="1450">
                <a:solidFill>
                  <a:schemeClr val="dk1"/>
                </a:solidFill>
                <a:highlight>
                  <a:srgbClr val="FFFFFF"/>
                </a:highlight>
              </a:rPr>
              <a:t>);</a:t>
            </a:r>
            <a:endParaRPr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450">
                <a:solidFill>
                  <a:srgbClr val="8F08C4"/>
                </a:solidFill>
                <a:highlight>
                  <a:srgbClr val="FFFFFF"/>
                </a:highlight>
              </a:rPr>
              <a:t>while</a:t>
            </a:r>
            <a:r>
              <a:rPr lang="en" sz="1450">
                <a:solidFill>
                  <a:schemeClr val="dk1"/>
                </a:solidFill>
                <a:highlight>
                  <a:srgbClr val="FFFFFF"/>
                </a:highlight>
              </a:rPr>
              <a:t> (x &lt; </a:t>
            </a:r>
            <a:r>
              <a:rPr lang="en" sz="1450">
                <a:solidFill>
                  <a:srgbClr val="098658"/>
                </a:solidFill>
                <a:highlight>
                  <a:srgbClr val="FFFFFF"/>
                </a:highlight>
              </a:rPr>
              <a:t>10</a:t>
            </a:r>
            <a:r>
              <a:rPr lang="en" sz="1450">
                <a:solidFill>
                  <a:schemeClr val="dk1"/>
                </a:solidFill>
                <a:highlight>
                  <a:srgbClr val="FFFFFF"/>
                </a:highlight>
              </a:rPr>
              <a:t>)</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450">
                <a:solidFill>
                  <a:schemeClr val="dk1"/>
                </a:solidFill>
                <a:highlight>
                  <a:srgbClr val="FFFFFF"/>
                </a:highlight>
              </a:rPr>
              <a:t>x++; </a:t>
            </a:r>
            <a:r>
              <a:rPr lang="en" sz="1450">
                <a:solidFill>
                  <a:srgbClr val="008000"/>
                </a:solidFill>
                <a:highlight>
                  <a:srgbClr val="FFFFFF"/>
                </a:highlight>
              </a:rPr>
              <a:t>// X is never incremented</a:t>
            </a:r>
            <a:endParaRPr sz="14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sz="1450">
              <a:solidFill>
                <a:schemeClr val="dk1"/>
              </a:solidFill>
              <a:highlight>
                <a:srgbClr val="FFFFFF"/>
              </a:highlight>
            </a:endParaRPr>
          </a:p>
          <a:p>
            <a:pPr indent="0" lvl="0" marL="0" rtl="0" algn="l">
              <a:spcBef>
                <a:spcPts val="0"/>
              </a:spcBef>
              <a:spcAft>
                <a:spcPts val="0"/>
              </a:spcAft>
              <a:buNone/>
            </a:pPr>
            <a:r>
              <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0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a debugger</a:t>
            </a:r>
            <a:endParaRPr/>
          </a:p>
        </p:txBody>
      </p:sp>
      <p:sp>
        <p:nvSpPr>
          <p:cNvPr id="736" name="Google Shape;736;p10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GDB is short for the GNU Debugger.</a:t>
            </a:r>
            <a:endParaRPr/>
          </a:p>
          <a:p>
            <a:pPr indent="0" lvl="0" marL="0" rtl="0" algn="l">
              <a:spcBef>
                <a:spcPts val="1600"/>
              </a:spcBef>
              <a:spcAft>
                <a:spcPts val="0"/>
              </a:spcAft>
              <a:buNone/>
            </a:pPr>
            <a:r>
              <a:rPr lang="en"/>
              <a:t>A</a:t>
            </a:r>
            <a:r>
              <a:rPr lang="en"/>
              <a:t> program that helps you track down errors by interactively debugging</a:t>
            </a:r>
            <a:endParaRPr/>
          </a:p>
          <a:p>
            <a:pPr indent="0" lvl="0" marL="0" rtl="0" algn="l">
              <a:spcBef>
                <a:spcPts val="1600"/>
              </a:spcBef>
              <a:spcAft>
                <a:spcPts val="0"/>
              </a:spcAft>
              <a:buNone/>
            </a:pPr>
            <a:r>
              <a:rPr lang="en"/>
              <a:t>them.</a:t>
            </a:r>
            <a:endParaRPr/>
          </a:p>
          <a:p>
            <a:pPr indent="0" lvl="0" marL="0" rtl="0" algn="l">
              <a:spcBef>
                <a:spcPts val="1600"/>
              </a:spcBef>
              <a:spcAft>
                <a:spcPts val="0"/>
              </a:spcAft>
              <a:buNone/>
            </a:pPr>
            <a:r>
              <a:rPr lang="en"/>
              <a:t> It can start and stop your program, look around, and put in ad hoc constraints and checks. </a:t>
            </a:r>
            <a:endParaRPr/>
          </a:p>
          <a:p>
            <a:pPr indent="0" lvl="0" marL="0" rtl="0" algn="l">
              <a:spcBef>
                <a:spcPts val="1600"/>
              </a:spcBef>
              <a:spcAft>
                <a:spcPts val="0"/>
              </a:spcAft>
              <a:buNone/>
            </a:pPr>
            <a:r>
              <a:rPr lang="en"/>
              <a:t>-g option add debugging information to your program</a:t>
            </a:r>
            <a:endParaRPr/>
          </a:p>
          <a:p>
            <a:pPr indent="0" lvl="0" marL="0" rtl="0" algn="l">
              <a:spcBef>
                <a:spcPts val="1600"/>
              </a:spcBef>
              <a:spcAft>
                <a:spcPts val="1600"/>
              </a:spcAft>
              <a:buNone/>
            </a:pPr>
            <a:r>
              <a:rPr b="1" lang="en">
                <a:latin typeface="Consolas"/>
                <a:ea typeface="Consolas"/>
                <a:cs typeface="Consolas"/>
                <a:sym typeface="Consolas"/>
              </a:rPr>
              <a:t>gcc –g –o hello hello.c</a:t>
            </a:r>
            <a:endParaRPr b="1">
              <a:latin typeface="Consolas"/>
              <a:ea typeface="Consolas"/>
              <a:cs typeface="Consolas"/>
              <a:sym typeface="Consolas"/>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10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 to gdb</a:t>
            </a:r>
            <a:endParaRPr/>
          </a:p>
        </p:txBody>
      </p:sp>
      <p:sp>
        <p:nvSpPr>
          <p:cNvPr id="742" name="Google Shape;742;p10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latin typeface="Consolas"/>
                <a:ea typeface="Consolas"/>
                <a:cs typeface="Consolas"/>
                <a:sym typeface="Consolas"/>
              </a:rPr>
              <a:t>gdb programname</a:t>
            </a:r>
            <a:endParaRPr b="1">
              <a:latin typeface="Consolas"/>
              <a:ea typeface="Consolas"/>
              <a:cs typeface="Consolas"/>
              <a:sym typeface="Consolas"/>
            </a:endParaRPr>
          </a:p>
          <a:p>
            <a:pPr indent="0" lvl="0" marL="0" rtl="0" algn="l">
              <a:spcBef>
                <a:spcPts val="1600"/>
              </a:spcBef>
              <a:spcAft>
                <a:spcPts val="0"/>
              </a:spcAft>
              <a:buClr>
                <a:schemeClr val="dk1"/>
              </a:buClr>
              <a:buSzPts val="1100"/>
              <a:buFont typeface="Arial"/>
              <a:buNone/>
            </a:pPr>
            <a:r>
              <a:rPr lang="en"/>
              <a:t>or</a:t>
            </a:r>
            <a:endParaRPr/>
          </a:p>
          <a:p>
            <a:pPr indent="0" lvl="0" marL="0" rtl="0" algn="l">
              <a:spcBef>
                <a:spcPts val="1600"/>
              </a:spcBef>
              <a:spcAft>
                <a:spcPts val="0"/>
              </a:spcAft>
              <a:buClr>
                <a:schemeClr val="dk1"/>
              </a:buClr>
              <a:buSzPts val="1100"/>
              <a:buFont typeface="Arial"/>
              <a:buNone/>
            </a:pPr>
            <a:r>
              <a:rPr b="1" lang="en">
                <a:latin typeface="Consolas"/>
                <a:ea typeface="Consolas"/>
                <a:cs typeface="Consolas"/>
                <a:sym typeface="Consolas"/>
              </a:rPr>
              <a:t>gdb programname core</a:t>
            </a:r>
            <a:endParaRPr b="1">
              <a:latin typeface="Consolas"/>
              <a:ea typeface="Consolas"/>
              <a:cs typeface="Consolas"/>
              <a:sym typeface="Consolas"/>
            </a:endParaRPr>
          </a:p>
          <a:p>
            <a:pPr indent="0" lvl="0" marL="0" rtl="0" algn="l">
              <a:spcBef>
                <a:spcPts val="1600"/>
              </a:spcBef>
              <a:spcAft>
                <a:spcPts val="1600"/>
              </a:spcAft>
              <a:buNone/>
            </a:pPr>
            <a:r>
              <a:rPr lang="en"/>
              <a:t>to examine the coredump as if the program was running and had just faulted.</a:t>
            </a:r>
            <a:endParaRPr/>
          </a:p>
        </p:txBody>
      </p:sp>
      <p:sp>
        <p:nvSpPr>
          <p:cNvPr id="743" name="Google Shape;743;p10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GDB</a:t>
            </a:r>
            <a:endParaRPr/>
          </a:p>
          <a:p>
            <a:pPr indent="0" lvl="0" marL="0" rtl="0" algn="l">
              <a:spcBef>
                <a:spcPts val="1600"/>
              </a:spcBef>
              <a:spcAft>
                <a:spcPts val="0"/>
              </a:spcAft>
              <a:buNone/>
            </a:pPr>
            <a:r>
              <a:rPr b="1" lang="en"/>
              <a:t>run</a:t>
            </a:r>
            <a:r>
              <a:rPr lang="en"/>
              <a:t> or </a:t>
            </a:r>
            <a:r>
              <a:rPr b="1" lang="en"/>
              <a:t>r: runs the program</a:t>
            </a:r>
            <a:endParaRPr/>
          </a:p>
          <a:p>
            <a:pPr indent="0" lvl="0" marL="0" rtl="0" algn="l">
              <a:spcBef>
                <a:spcPts val="1600"/>
              </a:spcBef>
              <a:spcAft>
                <a:spcPts val="0"/>
              </a:spcAft>
              <a:buNone/>
            </a:pPr>
            <a:r>
              <a:rPr b="1" lang="en"/>
              <a:t>b</a:t>
            </a:r>
            <a:r>
              <a:rPr b="1" lang="en"/>
              <a:t>t: </a:t>
            </a:r>
            <a:r>
              <a:rPr lang="en"/>
              <a:t>backtrace when a segfault occurs</a:t>
            </a:r>
            <a:endParaRPr/>
          </a:p>
          <a:p>
            <a:pPr indent="0" lvl="0" marL="0" rtl="0" algn="l">
              <a:spcBef>
                <a:spcPts val="1600"/>
              </a:spcBef>
              <a:spcAft>
                <a:spcPts val="0"/>
              </a:spcAft>
              <a:buNone/>
            </a:pPr>
            <a:r>
              <a:rPr b="1" lang="en"/>
              <a:t>p</a:t>
            </a:r>
            <a:r>
              <a:rPr b="1" lang="en"/>
              <a:t>: </a:t>
            </a:r>
            <a:r>
              <a:rPr lang="en"/>
              <a:t>print the value of a variable</a:t>
            </a:r>
            <a:endParaRPr/>
          </a:p>
          <a:p>
            <a:pPr indent="0" lvl="0" marL="0" rtl="0" algn="l">
              <a:spcBef>
                <a:spcPts val="1600"/>
              </a:spcBef>
              <a:spcAft>
                <a:spcPts val="1600"/>
              </a:spcAft>
              <a:buNone/>
            </a:pPr>
            <a:r>
              <a:rPr lang="en"/>
              <a:t>Google gdb cheat sheet to get a list of commands in gdb</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107"/>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Setting breakpoints programmatically</a:t>
            </a:r>
            <a:endParaRPr/>
          </a:p>
        </p:txBody>
      </p:sp>
      <p:sp>
        <p:nvSpPr>
          <p:cNvPr id="749" name="Google Shape;749;p107"/>
          <p:cNvSpPr txBox="1"/>
          <p:nvPr>
            <p:ph idx="1" type="body"/>
          </p:nvPr>
        </p:nvSpPr>
        <p:spPr>
          <a:xfrm>
            <a:off x="372775" y="1208350"/>
            <a:ext cx="4222200" cy="360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int main() {</a:t>
            </a:r>
            <a:endParaRPr/>
          </a:p>
          <a:p>
            <a:pPr indent="0" lvl="0" marL="457200" rtl="0" algn="l">
              <a:spcBef>
                <a:spcPts val="0"/>
              </a:spcBef>
              <a:spcAft>
                <a:spcPts val="0"/>
              </a:spcAft>
              <a:buClr>
                <a:schemeClr val="dk1"/>
              </a:buClr>
              <a:buSzPts val="1100"/>
              <a:buFont typeface="Arial"/>
              <a:buNone/>
            </a:pPr>
            <a:r>
              <a:rPr lang="en"/>
              <a:t>int val = 1;</a:t>
            </a:r>
            <a:endParaRPr/>
          </a:p>
          <a:p>
            <a:pPr indent="0" lvl="0" marL="457200" rtl="0" algn="l">
              <a:spcBef>
                <a:spcPts val="0"/>
              </a:spcBef>
              <a:spcAft>
                <a:spcPts val="0"/>
              </a:spcAft>
              <a:buClr>
                <a:schemeClr val="dk1"/>
              </a:buClr>
              <a:buSzPts val="1100"/>
              <a:buFont typeface="Arial"/>
              <a:buNone/>
            </a:pPr>
            <a:r>
              <a:rPr lang="en"/>
              <a:t>val = 42;</a:t>
            </a:r>
            <a:endParaRPr/>
          </a:p>
          <a:p>
            <a:pPr indent="0" lvl="0" marL="457200" rtl="0" algn="l">
              <a:spcBef>
                <a:spcPts val="0"/>
              </a:spcBef>
              <a:spcAft>
                <a:spcPts val="0"/>
              </a:spcAft>
              <a:buClr>
                <a:schemeClr val="dk1"/>
              </a:buClr>
              <a:buSzPts val="1100"/>
              <a:buFont typeface="Arial"/>
              <a:buNone/>
            </a:pPr>
            <a:r>
              <a:rPr lang="en"/>
              <a:t>asm("int $3"); /*</a:t>
            </a:r>
            <a:r>
              <a:rPr lang="en"/>
              <a:t> generates interrupt</a:t>
            </a:r>
            <a:r>
              <a:rPr lang="en"/>
              <a:t>*/</a:t>
            </a:r>
            <a:endParaRPr/>
          </a:p>
          <a:p>
            <a:pPr indent="0" lvl="0" marL="457200" rtl="0" algn="l">
              <a:spcBef>
                <a:spcPts val="0"/>
              </a:spcBef>
              <a:spcAft>
                <a:spcPts val="0"/>
              </a:spcAft>
              <a:buClr>
                <a:schemeClr val="dk1"/>
              </a:buClr>
              <a:buSzPts val="1100"/>
              <a:buFont typeface="Arial"/>
              <a:buNone/>
            </a:pPr>
            <a:r>
              <a:rPr lang="en"/>
              <a:t>val = 7;</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None/>
            </a:pPr>
            <a:r>
              <a:t/>
            </a:r>
            <a:endParaRPr/>
          </a:p>
        </p:txBody>
      </p:sp>
      <p:sp>
        <p:nvSpPr>
          <p:cNvPr id="750" name="Google Shape;750;p107"/>
          <p:cNvSpPr txBox="1"/>
          <p:nvPr>
            <p:ph idx="2" type="body"/>
          </p:nvPr>
        </p:nvSpPr>
        <p:spPr>
          <a:xfrm>
            <a:off x="4868575" y="1208350"/>
            <a:ext cx="4222200" cy="360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gcc main.c </a:t>
            </a:r>
            <a:r>
              <a:rPr lang="en">
                <a:solidFill>
                  <a:srgbClr val="A31515"/>
                </a:solidFill>
                <a:highlight>
                  <a:srgbClr val="FFFF00"/>
                </a:highlight>
              </a:rPr>
              <a:t>-g </a:t>
            </a:r>
            <a:r>
              <a:rPr lang="en"/>
              <a:t>-o main</a:t>
            </a:r>
            <a:endParaRPr/>
          </a:p>
          <a:p>
            <a:pPr indent="0" lvl="0" marL="0" rtl="0" algn="l">
              <a:spcBef>
                <a:spcPts val="0"/>
              </a:spcBef>
              <a:spcAft>
                <a:spcPts val="0"/>
              </a:spcAft>
              <a:buClr>
                <a:schemeClr val="dk1"/>
              </a:buClr>
              <a:buSzPts val="1100"/>
              <a:buFont typeface="Arial"/>
              <a:buNone/>
            </a:pPr>
            <a:r>
              <a:rPr lang="en"/>
              <a:t>$ gdb --args ./main</a:t>
            </a:r>
            <a:endParaRPr/>
          </a:p>
          <a:p>
            <a:pPr indent="0" lvl="0" marL="0" rtl="0" algn="l">
              <a:spcBef>
                <a:spcPts val="0"/>
              </a:spcBef>
              <a:spcAft>
                <a:spcPts val="0"/>
              </a:spcAft>
              <a:buClr>
                <a:schemeClr val="dk1"/>
              </a:buClr>
              <a:buSzPts val="1100"/>
              <a:buFont typeface="Arial"/>
              <a:buNone/>
            </a:pPr>
            <a:r>
              <a:rPr lang="en"/>
              <a:t>(gdb) r</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rPr lang="en"/>
              <a:t>Program received signal SIGTRAP, Trace/breakpoint trap.</a:t>
            </a:r>
            <a:endParaRPr/>
          </a:p>
          <a:p>
            <a:pPr indent="0" lvl="0" marL="0" rtl="0" algn="l">
              <a:spcBef>
                <a:spcPts val="0"/>
              </a:spcBef>
              <a:spcAft>
                <a:spcPts val="0"/>
              </a:spcAft>
              <a:buClr>
                <a:schemeClr val="dk1"/>
              </a:buClr>
              <a:buSzPts val="1100"/>
              <a:buFont typeface="Arial"/>
              <a:buNone/>
            </a:pPr>
            <a:r>
              <a:rPr lang="en"/>
              <a:t>main () at main.c:6</a:t>
            </a:r>
            <a:endParaRPr/>
          </a:p>
          <a:p>
            <a:pPr indent="0" lvl="0" marL="0" rtl="0" algn="l">
              <a:spcBef>
                <a:spcPts val="0"/>
              </a:spcBef>
              <a:spcAft>
                <a:spcPts val="0"/>
              </a:spcAft>
              <a:buClr>
                <a:schemeClr val="dk1"/>
              </a:buClr>
              <a:buSzPts val="1100"/>
              <a:buFont typeface="Arial"/>
              <a:buNone/>
            </a:pPr>
            <a:r>
              <a:rPr lang="en"/>
              <a:t>6</a:t>
            </a:r>
            <a:endParaRPr/>
          </a:p>
          <a:p>
            <a:pPr indent="0" lvl="0" marL="0" rtl="0" algn="l">
              <a:spcBef>
                <a:spcPts val="0"/>
              </a:spcBef>
              <a:spcAft>
                <a:spcPts val="0"/>
              </a:spcAft>
              <a:buClr>
                <a:schemeClr val="dk1"/>
              </a:buClr>
              <a:buSzPts val="1100"/>
              <a:buFont typeface="Arial"/>
              <a:buNone/>
            </a:pPr>
            <a:r>
              <a:rPr lang="en"/>
              <a:t>val = 7;</a:t>
            </a:r>
            <a:endParaRPr/>
          </a:p>
          <a:p>
            <a:pPr indent="0" lvl="0" marL="0" rtl="0" algn="l">
              <a:spcBef>
                <a:spcPts val="0"/>
              </a:spcBef>
              <a:spcAft>
                <a:spcPts val="0"/>
              </a:spcAft>
              <a:buClr>
                <a:schemeClr val="dk1"/>
              </a:buClr>
              <a:buSzPts val="1100"/>
              <a:buFont typeface="Arial"/>
              <a:buNone/>
            </a:pPr>
            <a:r>
              <a:rPr lang="en"/>
              <a:t>(gdb) p val</a:t>
            </a:r>
            <a:endParaRPr/>
          </a:p>
          <a:p>
            <a:pPr indent="0" lvl="0" marL="0" rtl="0" algn="l">
              <a:spcBef>
                <a:spcPts val="0"/>
              </a:spcBef>
              <a:spcAft>
                <a:spcPts val="0"/>
              </a:spcAft>
              <a:buClr>
                <a:schemeClr val="dk1"/>
              </a:buClr>
              <a:buSzPts val="1100"/>
              <a:buFont typeface="Arial"/>
              <a:buNone/>
            </a:pPr>
            <a:r>
              <a:rPr lang="en"/>
              <a:t>$1 = 42</a:t>
            </a:r>
            <a:endParaRPr/>
          </a:p>
          <a:p>
            <a:pPr indent="0" lvl="0" marL="0" rtl="0" algn="l">
              <a:spcBef>
                <a:spcPts val="0"/>
              </a:spcBef>
              <a:spcAft>
                <a:spcPts val="0"/>
              </a:spcAft>
              <a:buNone/>
            </a:pPr>
            <a:r>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0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t>gdb progname</a:t>
            </a:r>
            <a:endParaRPr b="1"/>
          </a:p>
          <a:p>
            <a:pPr indent="0" lvl="0" marL="0" rtl="0" algn="l">
              <a:spcBef>
                <a:spcPts val="0"/>
              </a:spcBef>
              <a:spcAft>
                <a:spcPts val="0"/>
              </a:spcAft>
              <a:buClr>
                <a:schemeClr val="dk1"/>
              </a:buClr>
              <a:buSzPts val="1100"/>
              <a:buFont typeface="Arial"/>
              <a:buNone/>
            </a:pPr>
            <a:r>
              <a:rPr b="1" lang="en"/>
              <a:t>(gdb)</a:t>
            </a:r>
            <a:endParaRPr b="1"/>
          </a:p>
          <a:p>
            <a:pPr indent="0" lvl="0" marL="0" rtl="0" algn="l">
              <a:spcBef>
                <a:spcPts val="0"/>
              </a:spcBef>
              <a:spcAft>
                <a:spcPts val="0"/>
              </a:spcAft>
              <a:buClr>
                <a:schemeClr val="dk1"/>
              </a:buClr>
              <a:buSzPts val="1100"/>
              <a:buFont typeface="Arial"/>
              <a:buNone/>
            </a:pPr>
            <a:r>
              <a:rPr lang="en"/>
              <a:t>Then set a breakpoint in the main function.</a:t>
            </a:r>
            <a:endParaRPr/>
          </a:p>
          <a:p>
            <a:pPr indent="0" lvl="0" marL="0" rtl="0" algn="l">
              <a:spcBef>
                <a:spcPts val="0"/>
              </a:spcBef>
              <a:spcAft>
                <a:spcPts val="0"/>
              </a:spcAft>
              <a:buClr>
                <a:schemeClr val="dk1"/>
              </a:buClr>
              <a:buSzPts val="1100"/>
              <a:buFont typeface="Arial"/>
              <a:buNone/>
            </a:pPr>
            <a:r>
              <a:rPr b="1" lang="en"/>
              <a:t>(gdb) break main</a:t>
            </a:r>
            <a:endParaRPr b="1"/>
          </a:p>
          <a:p>
            <a:pPr indent="0" lvl="0" marL="0" rtl="0" algn="l">
              <a:spcBef>
                <a:spcPts val="0"/>
              </a:spcBef>
              <a:spcAft>
                <a:spcPts val="0"/>
              </a:spcAft>
              <a:buClr>
                <a:schemeClr val="dk1"/>
              </a:buClr>
              <a:buSzPts val="1100"/>
              <a:buFont typeface="Arial"/>
              <a:buNone/>
            </a:pPr>
            <a:r>
              <a:rPr lang="en"/>
              <a:t>A breakpoint is a marker in your program that will make the program stop and return control back to gdb.</a:t>
            </a:r>
            <a:endParaRPr/>
          </a:p>
          <a:p>
            <a:pPr indent="0" lvl="0" marL="0" rtl="0" algn="l">
              <a:spcBef>
                <a:spcPts val="0"/>
              </a:spcBef>
              <a:spcAft>
                <a:spcPts val="0"/>
              </a:spcAft>
              <a:buClr>
                <a:schemeClr val="dk1"/>
              </a:buClr>
              <a:buSzPts val="1100"/>
              <a:buFont typeface="Arial"/>
              <a:buNone/>
            </a:pPr>
            <a:r>
              <a:rPr lang="en"/>
              <a:t>Now run your program.</a:t>
            </a:r>
            <a:endParaRPr/>
          </a:p>
          <a:p>
            <a:pPr indent="0" lvl="0" marL="0" rtl="0" algn="l">
              <a:spcBef>
                <a:spcPts val="0"/>
              </a:spcBef>
              <a:spcAft>
                <a:spcPts val="0"/>
              </a:spcAft>
              <a:buClr>
                <a:schemeClr val="dk1"/>
              </a:buClr>
              <a:buSzPts val="1100"/>
              <a:buFont typeface="Arial"/>
              <a:buNone/>
            </a:pPr>
            <a:r>
              <a:rPr b="1" lang="en"/>
              <a:t>(gdb) run</a:t>
            </a:r>
            <a:endParaRPr b="1"/>
          </a:p>
          <a:p>
            <a:pPr indent="0" lvl="0" marL="0" rtl="0" algn="l">
              <a:spcBef>
                <a:spcPts val="0"/>
              </a:spcBef>
              <a:spcAft>
                <a:spcPts val="0"/>
              </a:spcAft>
              <a:buClr>
                <a:schemeClr val="dk1"/>
              </a:buClr>
              <a:buSzPts val="1100"/>
              <a:buFont typeface="Arial"/>
              <a:buNone/>
            </a:pPr>
            <a:r>
              <a:rPr lang="en"/>
              <a:t>If your program has arguments, you can pass them after run.</a:t>
            </a:r>
            <a:endParaRPr/>
          </a:p>
          <a:p>
            <a:pPr indent="0" lvl="0" marL="0" rtl="0" algn="l">
              <a:spcBef>
                <a:spcPts val="0"/>
              </a:spcBef>
              <a:spcAft>
                <a:spcPts val="0"/>
              </a:spcAft>
              <a:buNone/>
            </a:pPr>
            <a:r>
              <a:t/>
            </a:r>
            <a:endParaRPr/>
          </a:p>
        </p:txBody>
      </p:sp>
      <p:sp>
        <p:nvSpPr>
          <p:cNvPr id="757" name="Google Shape;757;p10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Your program will stop when it reaches “main()”</a:t>
            </a:r>
            <a:endParaRPr/>
          </a:p>
          <a:p>
            <a:pPr indent="0" lvl="0" marL="0" rtl="0" algn="l">
              <a:spcBef>
                <a:spcPts val="0"/>
              </a:spcBef>
              <a:spcAft>
                <a:spcPts val="0"/>
              </a:spcAft>
              <a:buClr>
                <a:schemeClr val="dk1"/>
              </a:buClr>
              <a:buSzPts val="1100"/>
              <a:buFont typeface="Arial"/>
              <a:buNone/>
            </a:pPr>
            <a:r>
              <a:rPr b="1" lang="en"/>
              <a:t>gdb&gt;</a:t>
            </a:r>
            <a:endParaRPr b="1"/>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en"/>
              <a:t>(gdb) step</a:t>
            </a:r>
            <a:endParaRPr b="1"/>
          </a:p>
          <a:p>
            <a:pPr indent="0" lvl="0" marL="0" rtl="0" algn="l">
              <a:spcBef>
                <a:spcPts val="0"/>
              </a:spcBef>
              <a:spcAft>
                <a:spcPts val="0"/>
              </a:spcAft>
              <a:buClr>
                <a:schemeClr val="dk1"/>
              </a:buClr>
              <a:buSzPts val="1100"/>
              <a:buFont typeface="Arial"/>
              <a:buNone/>
            </a:pPr>
            <a:r>
              <a:rPr lang="en"/>
              <a:t>It will run the next line of code and stop. If it is a function call, it will enter into it</a:t>
            </a:r>
            <a:endParaRPr/>
          </a:p>
          <a:p>
            <a:pPr indent="0" lvl="0" marL="0" rtl="0" algn="l">
              <a:spcBef>
                <a:spcPts val="0"/>
              </a:spcBef>
              <a:spcAft>
                <a:spcPts val="0"/>
              </a:spcAft>
              <a:buClr>
                <a:schemeClr val="dk1"/>
              </a:buClr>
              <a:buSzPts val="1100"/>
              <a:buFont typeface="Arial"/>
              <a:buNone/>
            </a:pPr>
            <a:r>
              <a:rPr b="1" lang="en"/>
              <a:t>(gdb) next</a:t>
            </a:r>
            <a:endParaRPr b="1"/>
          </a:p>
          <a:p>
            <a:pPr indent="0" lvl="0" marL="0" rtl="0" algn="l">
              <a:spcBef>
                <a:spcPts val="0"/>
              </a:spcBef>
              <a:spcAft>
                <a:spcPts val="0"/>
              </a:spcAft>
              <a:buClr>
                <a:schemeClr val="dk1"/>
              </a:buClr>
              <a:buSzPts val="1100"/>
              <a:buFont typeface="Arial"/>
              <a:buNone/>
            </a:pPr>
            <a:r>
              <a:rPr lang="en"/>
              <a:t>It will run the next line of code and stop. If it is a function call, it will not enter the function and it will go through it.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0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0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t>(gdb) break functionname</a:t>
            </a:r>
            <a:endParaRPr b="1"/>
          </a:p>
          <a:p>
            <a:pPr indent="0" lvl="0" marL="0" rtl="0" algn="l">
              <a:spcBef>
                <a:spcPts val="0"/>
              </a:spcBef>
              <a:spcAft>
                <a:spcPts val="0"/>
              </a:spcAft>
              <a:buNone/>
            </a:pPr>
            <a:r>
              <a:rPr lang="en"/>
              <a:t>Set a breakpoint in a function </a:t>
            </a:r>
            <a:endParaRPr/>
          </a:p>
          <a:p>
            <a:pPr indent="0" lvl="0" marL="0" rtl="0" algn="l">
              <a:spcBef>
                <a:spcPts val="0"/>
              </a:spcBef>
              <a:spcAft>
                <a:spcPts val="0"/>
              </a:spcAft>
              <a:buClr>
                <a:schemeClr val="dk1"/>
              </a:buClr>
              <a:buSzPts val="1100"/>
              <a:buFont typeface="Arial"/>
              <a:buNone/>
            </a:pPr>
            <a:r>
              <a:rPr b="1" lang="en"/>
              <a:t>(gdb) break 66</a:t>
            </a:r>
            <a:endParaRPr b="1"/>
          </a:p>
          <a:p>
            <a:pPr indent="0" lvl="0" marL="0" rtl="0" algn="l">
              <a:spcBef>
                <a:spcPts val="0"/>
              </a:spcBef>
              <a:spcAft>
                <a:spcPts val="0"/>
              </a:spcAft>
              <a:buClr>
                <a:schemeClr val="dk1"/>
              </a:buClr>
              <a:buSzPts val="1100"/>
              <a:buFont typeface="Arial"/>
              <a:buNone/>
            </a:pPr>
            <a:r>
              <a:rPr lang="en"/>
              <a:t>It will set a break point in line 66 of the current file.</a:t>
            </a:r>
            <a:endParaRPr/>
          </a:p>
          <a:p>
            <a:pPr indent="0" lvl="0" marL="0" rtl="0" algn="l">
              <a:spcBef>
                <a:spcPts val="0"/>
              </a:spcBef>
              <a:spcAft>
                <a:spcPts val="0"/>
              </a:spcAft>
              <a:buClr>
                <a:schemeClr val="dk1"/>
              </a:buClr>
              <a:buSzPts val="1100"/>
              <a:buFont typeface="Arial"/>
              <a:buNone/>
            </a:pPr>
            <a:r>
              <a:rPr b="1" lang="en"/>
              <a:t>(gdb) break filename:linenumber</a:t>
            </a:r>
            <a:endParaRPr b="1"/>
          </a:p>
          <a:p>
            <a:pPr indent="0" lvl="0" marL="0" rtl="0" algn="l">
              <a:spcBef>
                <a:spcPts val="0"/>
              </a:spcBef>
              <a:spcAft>
                <a:spcPts val="0"/>
              </a:spcAft>
              <a:buNone/>
            </a:pPr>
            <a:r>
              <a:rPr lang="en"/>
              <a:t>It will set a break point at a line in a specific file. </a:t>
            </a:r>
            <a:endParaRPr/>
          </a:p>
        </p:txBody>
      </p:sp>
      <p:sp>
        <p:nvSpPr>
          <p:cNvPr id="764" name="Google Shape;764;p10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t>(gdb) print var</a:t>
            </a:r>
            <a:endParaRPr b="1"/>
          </a:p>
          <a:p>
            <a:pPr indent="0" lvl="0" marL="0" rtl="0" algn="l">
              <a:spcBef>
                <a:spcPts val="0"/>
              </a:spcBef>
              <a:spcAft>
                <a:spcPts val="0"/>
              </a:spcAft>
              <a:buClr>
                <a:schemeClr val="dk1"/>
              </a:buClr>
              <a:buSzPts val="1100"/>
              <a:buFont typeface="Arial"/>
              <a:buNone/>
            </a:pPr>
            <a:r>
              <a:rPr lang="en"/>
              <a:t>Prints the value of a variable.</a:t>
            </a:r>
            <a:endParaRPr/>
          </a:p>
          <a:p>
            <a:pPr indent="0" lvl="0" marL="0" rtl="0" algn="l">
              <a:spcBef>
                <a:spcPts val="0"/>
              </a:spcBef>
              <a:spcAft>
                <a:spcPts val="0"/>
              </a:spcAft>
              <a:buClr>
                <a:schemeClr val="dk1"/>
              </a:buClr>
              <a:buSzPts val="1100"/>
              <a:buFont typeface="Arial"/>
              <a:buNone/>
            </a:pPr>
            <a:r>
              <a:rPr lang="en"/>
              <a:t>E.g.</a:t>
            </a:r>
            <a:endParaRPr/>
          </a:p>
          <a:p>
            <a:pPr indent="0" lvl="0" marL="0" rtl="0" algn="l">
              <a:spcBef>
                <a:spcPts val="0"/>
              </a:spcBef>
              <a:spcAft>
                <a:spcPts val="0"/>
              </a:spcAft>
              <a:buClr>
                <a:schemeClr val="dk1"/>
              </a:buClr>
              <a:buSzPts val="1100"/>
              <a:buFont typeface="Arial"/>
              <a:buNone/>
            </a:pPr>
            <a:r>
              <a:rPr b="1" lang="en"/>
              <a:t>(gdb) print i</a:t>
            </a:r>
            <a:endParaRPr b="1"/>
          </a:p>
          <a:p>
            <a:pPr indent="0" lvl="0" marL="0" rtl="0" algn="l">
              <a:spcBef>
                <a:spcPts val="0"/>
              </a:spcBef>
              <a:spcAft>
                <a:spcPts val="0"/>
              </a:spcAft>
              <a:buClr>
                <a:schemeClr val="dk1"/>
              </a:buClr>
              <a:buSzPts val="1100"/>
              <a:buFont typeface="Arial"/>
              <a:buNone/>
            </a:pPr>
            <a:r>
              <a:rPr b="1" lang="en"/>
              <a:t>$1 = 5</a:t>
            </a:r>
            <a:endParaRPr b="1"/>
          </a:p>
          <a:p>
            <a:pPr indent="0" lvl="0" marL="0" rtl="0" algn="l">
              <a:spcBef>
                <a:spcPts val="0"/>
              </a:spcBef>
              <a:spcAft>
                <a:spcPts val="0"/>
              </a:spcAft>
              <a:buClr>
                <a:schemeClr val="dk1"/>
              </a:buClr>
              <a:buSzPts val="1100"/>
              <a:buFont typeface="Arial"/>
              <a:buNone/>
            </a:pPr>
            <a:r>
              <a:rPr b="1" lang="en"/>
              <a:t>(gdb) print s1</a:t>
            </a:r>
            <a:endParaRPr b="1"/>
          </a:p>
          <a:p>
            <a:pPr indent="0" lvl="0" marL="0" rtl="0" algn="l">
              <a:spcBef>
                <a:spcPts val="0"/>
              </a:spcBef>
              <a:spcAft>
                <a:spcPts val="0"/>
              </a:spcAft>
              <a:buClr>
                <a:schemeClr val="dk1"/>
              </a:buClr>
              <a:buSzPts val="1100"/>
              <a:buFont typeface="Arial"/>
              <a:buNone/>
            </a:pPr>
            <a:r>
              <a:rPr b="1" lang="en"/>
              <a:t>$1 = 0x10740 "Hello"</a:t>
            </a:r>
            <a:endParaRPr b="1"/>
          </a:p>
          <a:p>
            <a:pPr indent="0" lvl="0" marL="0" rtl="0" algn="l">
              <a:spcBef>
                <a:spcPts val="0"/>
              </a:spcBef>
              <a:spcAft>
                <a:spcPts val="0"/>
              </a:spcAft>
              <a:buClr>
                <a:schemeClr val="dk1"/>
              </a:buClr>
              <a:buSzPts val="1100"/>
              <a:buFont typeface="Arial"/>
              <a:buNone/>
            </a:pPr>
            <a:r>
              <a:rPr b="1" lang="en"/>
              <a:t>(gdb) print stack[2]</a:t>
            </a:r>
            <a:endParaRPr b="1"/>
          </a:p>
          <a:p>
            <a:pPr indent="0" lvl="0" marL="0" rtl="0" algn="l">
              <a:spcBef>
                <a:spcPts val="0"/>
              </a:spcBef>
              <a:spcAft>
                <a:spcPts val="0"/>
              </a:spcAft>
              <a:buClr>
                <a:schemeClr val="dk1"/>
              </a:buClr>
              <a:buSzPts val="1100"/>
              <a:buFont typeface="Arial"/>
              <a:buNone/>
            </a:pPr>
            <a:r>
              <a:rPr b="1" lang="en"/>
              <a:t>$1 = 56</a:t>
            </a:r>
            <a:endParaRPr b="1"/>
          </a:p>
          <a:p>
            <a:pPr indent="0" lvl="0" marL="0" rtl="0" algn="l">
              <a:spcBef>
                <a:spcPts val="0"/>
              </a:spcBef>
              <a:spcAft>
                <a:spcPts val="0"/>
              </a:spcAft>
              <a:buClr>
                <a:schemeClr val="dk1"/>
              </a:buClr>
              <a:buSzPts val="1100"/>
              <a:buFont typeface="Arial"/>
              <a:buNone/>
            </a:pPr>
            <a:r>
              <a:rPr b="1" lang="en"/>
              <a:t>(gdb) print stack</a:t>
            </a:r>
            <a:endParaRPr b="1"/>
          </a:p>
          <a:p>
            <a:pPr indent="0" lvl="0" marL="0" rtl="0" algn="l">
              <a:spcBef>
                <a:spcPts val="0"/>
              </a:spcBef>
              <a:spcAft>
                <a:spcPts val="0"/>
              </a:spcAft>
              <a:buClr>
                <a:schemeClr val="dk1"/>
              </a:buClr>
              <a:buSzPts val="1100"/>
              <a:buFont typeface="Arial"/>
              <a:buNone/>
            </a:pPr>
            <a:r>
              <a:rPr b="1" lang="en"/>
              <a:t>$2 = {0, 0, 56, 0, 0, 0, 0, 0, 0, 0}</a:t>
            </a:r>
            <a:endParaRPr b="1"/>
          </a:p>
          <a:p>
            <a:pPr indent="0" lvl="0" marL="0" rtl="0" algn="l">
              <a:spcBef>
                <a:spcPts val="0"/>
              </a:spcBef>
              <a:spcAft>
                <a:spcPts val="0"/>
              </a:spcAft>
              <a:buClr>
                <a:schemeClr val="dk1"/>
              </a:buClr>
              <a:buSzPts val="1100"/>
              <a:buFont typeface="Arial"/>
              <a:buNone/>
            </a:pPr>
            <a:r>
              <a:rPr b="1" lang="en"/>
              <a:t>(gdb)</a:t>
            </a:r>
            <a:endParaRPr b="1"/>
          </a:p>
          <a:p>
            <a:pPr indent="0" lvl="0" marL="0" rtl="0" algn="l">
              <a:spcBef>
                <a:spcPts val="0"/>
              </a:spcBef>
              <a:spcAft>
                <a:spcPts val="0"/>
              </a:spcAft>
              <a:buNone/>
            </a:pPr>
            <a:r>
              <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11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Memory leaks (demo with valgrind)</a:t>
            </a:r>
            <a:endParaRPr/>
          </a:p>
        </p:txBody>
      </p:sp>
      <p:sp>
        <p:nvSpPr>
          <p:cNvPr id="770" name="Google Shape;770;p11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valgrind package (eg, in debian sudo apt install valgrind)</a:t>
            </a:r>
            <a:endParaRPr/>
          </a:p>
          <a:p>
            <a:pPr indent="0" lvl="0" marL="0" rtl="0" algn="l">
              <a:spcBef>
                <a:spcPts val="1600"/>
              </a:spcBef>
              <a:spcAft>
                <a:spcPts val="0"/>
              </a:spcAft>
              <a:buNone/>
            </a:pPr>
            <a:r>
              <a:rPr lang="en" u="sng">
                <a:solidFill>
                  <a:schemeClr val="hlink"/>
                </a:solidFill>
                <a:hlinkClick r:id="rId3"/>
              </a:rPr>
              <a:t>https://valgrind.org/docs/manual/quick-start.html</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